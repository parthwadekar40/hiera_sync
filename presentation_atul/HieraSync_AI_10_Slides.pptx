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Good morning. Our project is HieraSync AI — a smart college workflow, task and event management system. In one line: it replaces notices, registers, Excel sheets and WhatsApp chasing with a single role-based web platform that also has an AI assistant. It is a full working system — 20 backend modules, 95 REST endpoints, about 18,650 lines of code, 17 screens and 10 user roles, built on React 19, FastAPI, Firebase and Gemini.</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HieraSync AI is a single web platform for department operations. The backend service is internally called CampusPulse API. Everything a department does — assigning tasks, approving requests, scheduling events, setting goals, storing files and making reports — happens inside one role-based system. The bottom strip shows the core idea: today the flow is notice → WhatsApp → register → phone follow-up → hand-typed report. With HieraSync it becomes login → assign → auto-notify → track → one-click report. Same work, but recorded, automatic and measurable.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problem statement in one line: department work today is invisible, slow and unrecorded. On the left are the eight problems we found. On the right are our eight objectives, and each objective directly answers a problem — one platform for the hierarchy, digital tasks, automated approvals, automatic reminders, AI calendar parsing, an AI assistant, deadline-risk warnings and one-click reports. Every one of these eight objectives is implemented in the code we will show next.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 the literature survey we compared the five things a department could use today. Manual registers are free but leave no record. College ERPs handle admission, fees and exams but not day-to-day work. Corporate tools like Trello and Asana have great boards but charge per user and have no HOD-to-Principal hierarchy. Google Classroom is built for teacher-student, not staff operations. And generic AI chatbots give good language answers but know nothing about our actual tasks. The gap at the bottom is exactly what our project fills: hierarchy workflow + approvals + academic calendar intelligence + a context-aware AI.</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system design — a classic three-tier architecture. Tier 1 is the browser: a React 19 single-page app with 17 screens. Tier 2 is the FastAPI server: 20 routers exposing 95 REST endpoints, plus the JWT check, the role guard, the background scheduler, the document parser and the AI service. Tier 3 is Firebase — Firestore for data, Auth for identity, Storage for files — plus the external Gemini and WhatsApp APIs. Follow the request flow at the bottom: the user clicks, the browser sends a fetch call with a Bearer JWT, FastAPI validates the token and the role, reads or writes Firestore, triggers notifications or AI if needed, and returns JSON that updates the UI. The dark strip lists what applies to every request — JWT, role checks, CORS, the 5-minute scheduler and logging.</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technology stack, layer by layer. Frontend is React 19 with TypeScript and Vite, styled with Tailwind 4; FullCalendar gives us the calendar view, Recharts the graphs, dnd-kit the drag-and-drop task board. Backend is Python FastAPI with Uvicorn and Pydantic — chosen because it is async, fast, and auto-generates Swagger documentation at slash docs, which we use for testing. The database is Firebase Firestore, a NoSQL document database, so there is no SQL server to maintain and it stays on the free tier. Security is Firebase Auth plus our own JWT with bcrypt hashing and a single role-guard dependency. For AI we call Google Gemini 1.5 Flash over REST — and importantly we wrote a local fallback engine, so if the API key is missing the assistant still answers from Firestore data. WhatsApp Cloud API sends reminders, and pypdf, python-docx and openpyxl let us read academic calendars in whatever format the office already has.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are the modules we have actually built — 20 backend routers giving 95 REST endpoints. Read the API column: authentication and employees is 8 endpoints, departments and join requests 10, tasks 6, comments and attachments 7, task requests 4, approvals 5, events 6, the AI institutional calendar 8, goals 8, the AI assistant 4, notifications and WhatsApp 13, reports and analytics 8, and files, search and settings 8. Two modules are our highlights. The Institutional Calendar module lets the office upload the official academic calendar as a PDF, Word or Excel file; our parser extracts the activities and the AI categorises them into eleven types like Examination, Workshop or Holiday, we review it as a draft and then publish it to everyone's calendar. The AI Assistant module sends the user's live tasks, approvals and events to Gemini as context, so its answers are about your real work, not generic advice. The strip at the bottom shows the enumerations defined in our models — ten roles, five task states and four priority levels.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advantages on the left are the practical gains: one login instead of four tools, a permanent time-stamped record, automatic reminders, early risk warnings, one-click reports, role-based privacy, and zero licence cost because the whole stack runs on free tiers. Note the seventh point — even without a Gemini key the assistant still works, because we wrote a local fallback engine. On the right are the application areas — from daily duty allotment and event management to NAAC and NBA documentation, and the same system fits any hierarchical office, not just a college department. The bottom strip shows what each role gains: the Principal gets visibility, the HOD gets control, faculty get clarity, and staff and students get a single channel to raise and track requests.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are our references — the official documentation we used while building each part: FastAPI and Pydantic for the backend, React and Tailwind for the frontend, Firebase Firestore, Authentication and Storage for data, the Google Gemini API for the assistant, the WhatsApp Cloud API for reminders and APScheduler for the background jobs. Reference ten is our own repository, which holds the complete source code of the system.</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conclude. We set out to remove manual, invisible department work, and we have built a working system: 20 modules, 95 endpoints, 17 screens, about 18,650 lines of code. The full flow runs end to end — a faculty member registers, joins a department by code, receives a task, submits it for review, the HOD and Principal approve, and the report is generated. On top of that we added intelligence: a Gemini-powered assistant, a deadline-risk engine and AI parsing of the official academic calendar. Future scope is a mobile app, direct NAAC and NBA export, timetable integration, multi-department rollout and formal testing. Thank you — I am happy to take questions.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B1E3B"/>
        </a:solidFill>
        <a:effectLst/>
      </p:bgPr>
    </p:bg>
    <p:spTree>
      <p:nvGrpSpPr>
        <p:cNvPr id="1" name=""/>
        <p:cNvGrpSpPr/>
        <p:nvPr/>
      </p:nvGrpSpPr>
      <p:grpSpPr/>
      <p:sp>
        <p:nvSpPr>
          <p:cNvPr id="2" name="Oval 1"/>
          <p:cNvSpPr/>
          <p:nvPr/>
        </p:nvSpPr>
        <p:spPr>
          <a:xfrm>
            <a:off x="9509760" y="-2103120"/>
            <a:ext cx="4754880" cy="4754880"/>
          </a:xfrm>
          <a:prstGeom prst="ellipse">
            <a:avLst/>
          </a:prstGeom>
          <a:solidFill>
            <a:srgbClr val="1433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920240" y="4023360"/>
            <a:ext cx="4389120" cy="4389120"/>
          </a:xfrm>
          <a:prstGeom prst="ellipse">
            <a:avLst/>
          </a:prstGeom>
          <a:solidFill>
            <a:srgbClr val="1433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48640" y="457200"/>
            <a:ext cx="1371600" cy="5486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48640" y="713232"/>
            <a:ext cx="6309360" cy="438912"/>
          </a:xfrm>
          <a:prstGeom prst="roundRect">
            <a:avLst/>
          </a:prstGeom>
          <a:noFill/>
          <a:ln w="19050">
            <a:solidFill>
              <a:srgbClr val="06B6D4"/>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27432" bIns="27432"/>
          <a:lstStyle/>
          <a:p>
            <a:pPr algn="l">
              <a:spcBef>
                <a:spcPts val="0"/>
              </a:spcBef>
              <a:spcAft>
                <a:spcPts val="0"/>
              </a:spcAft>
            </a:pPr>
            <a:r>
              <a:rPr sz="1050" b="1" i="0">
                <a:solidFill>
                  <a:srgbClr val="06B6D4"/>
                </a:solidFill>
                <a:latin typeface="Calibri"/>
              </a:rPr>
              <a:t>MAJOR PROJECT  •  SMART CAMPUS AUTOMATION  •  SEMINAR PRESENTATION</a:t>
            </a:r>
          </a:p>
        </p:txBody>
      </p:sp>
      <p:sp>
        <p:nvSpPr>
          <p:cNvPr id="6" name="Rectangle 5"/>
          <p:cNvSpPr/>
          <p:nvPr/>
        </p:nvSpPr>
        <p:spPr>
          <a:xfrm>
            <a:off x="502920" y="1298448"/>
            <a:ext cx="8412480" cy="2286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27432" bIns="27432"/>
          <a:lstStyle/>
          <a:p>
            <a:pPr algn="l">
              <a:spcBef>
                <a:spcPts val="0"/>
              </a:spcBef>
              <a:spcAft>
                <a:spcPts val="200"/>
              </a:spcAft>
            </a:pPr>
            <a:r>
              <a:rPr sz="5400" b="1" i="0">
                <a:solidFill>
                  <a:srgbClr val="FFFFFF"/>
                </a:solidFill>
                <a:latin typeface="Calibri"/>
              </a:rPr>
              <a:t>HieraSync AI</a:t>
            </a:r>
          </a:p>
          <a:p>
            <a:pPr algn="l">
              <a:spcBef>
                <a:spcPts val="0"/>
              </a:spcBef>
              <a:spcAft>
                <a:spcPts val="1000"/>
              </a:spcAft>
            </a:pPr>
            <a:r>
              <a:rPr sz="2000" b="1" i="0">
                <a:solidFill>
                  <a:srgbClr val="06B6D4"/>
                </a:solidFill>
                <a:latin typeface="Calibri"/>
              </a:rPr>
              <a:t>Smart College Workflow, Task &amp; Event Management System</a:t>
            </a:r>
          </a:p>
          <a:p>
            <a:pPr algn="l">
              <a:spcBef>
                <a:spcPts val="0"/>
              </a:spcBef>
              <a:spcAft>
                <a:spcPts val="0"/>
              </a:spcAft>
            </a:pPr>
            <a:r>
              <a:rPr sz="1350" b="0" i="0">
                <a:solidFill>
                  <a:srgbClr val="C7D2FE"/>
                </a:solidFill>
                <a:latin typeface="Calibri"/>
              </a:rPr>
              <a:t>One platform to assign work, approve requests, track progress and
auto-generate reports — with an AI assistant built in.</a:t>
            </a:r>
          </a:p>
        </p:txBody>
      </p:sp>
      <p:sp>
        <p:nvSpPr>
          <p:cNvPr id="7" name="Rounded Rectangle 6"/>
          <p:cNvSpPr/>
          <p:nvPr/>
        </p:nvSpPr>
        <p:spPr>
          <a:xfrm>
            <a:off x="548640" y="3675887"/>
            <a:ext cx="4846320" cy="420624"/>
          </a:xfrm>
          <a:prstGeom prst="roundRect">
            <a:avLst/>
          </a:prstGeom>
          <a:solidFill>
            <a:srgbClr val="143363"/>
          </a:solidFill>
          <a:ln w="12700">
            <a:solidFill>
              <a:srgbClr val="06B6D4"/>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27432" bIns="27432"/>
          <a:lstStyle/>
          <a:p>
            <a:pPr algn="l">
              <a:spcBef>
                <a:spcPts val="0"/>
              </a:spcBef>
              <a:spcAft>
                <a:spcPts val="0"/>
              </a:spcAft>
            </a:pPr>
            <a:r>
              <a:rPr sz="1100" b="1" i="0">
                <a:solidFill>
                  <a:srgbClr val="FFFFFF"/>
                </a:solidFill>
                <a:latin typeface="Calibri"/>
              </a:rPr>
              <a:t>Repository:  github.com/Atulgupta07/Hiera_Sync</a:t>
            </a:r>
          </a:p>
        </p:txBody>
      </p:sp>
      <p:sp>
        <p:nvSpPr>
          <p:cNvPr id="8" name="Rounded Rectangle 7"/>
          <p:cNvSpPr/>
          <p:nvPr/>
        </p:nvSpPr>
        <p:spPr>
          <a:xfrm>
            <a:off x="548640" y="4370832"/>
            <a:ext cx="1755648" cy="841248"/>
          </a:xfrm>
          <a:prstGeom prst="roundRect">
            <a:avLst/>
          </a:prstGeom>
          <a:solidFill>
            <a:srgbClr val="143363"/>
          </a:solidFill>
          <a:ln w="12700">
            <a:solidFill>
              <a:srgbClr val="2A4A8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94360" y="4425696"/>
            <a:ext cx="1664208" cy="7315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spcBef>
                <a:spcPts val="0"/>
              </a:spcBef>
              <a:spcAft>
                <a:spcPts val="0"/>
              </a:spcAft>
            </a:pPr>
            <a:r>
              <a:rPr sz="1900" b="1" i="0">
                <a:solidFill>
                  <a:srgbClr val="F59E0B"/>
                </a:solidFill>
                <a:latin typeface="Calibri"/>
              </a:rPr>
              <a:t>20</a:t>
            </a:r>
          </a:p>
          <a:p>
            <a:pPr algn="ctr">
              <a:spcBef>
                <a:spcPts val="0"/>
              </a:spcBef>
              <a:spcAft>
                <a:spcPts val="0"/>
              </a:spcAft>
            </a:pPr>
            <a:r>
              <a:rPr sz="850" b="0" i="0">
                <a:solidFill>
                  <a:srgbClr val="A5B4FC"/>
                </a:solidFill>
                <a:latin typeface="Calibri"/>
              </a:rPr>
              <a:t>API Modules</a:t>
            </a:r>
          </a:p>
        </p:txBody>
      </p:sp>
      <p:sp>
        <p:nvSpPr>
          <p:cNvPr id="10" name="Rounded Rectangle 9"/>
          <p:cNvSpPr/>
          <p:nvPr/>
        </p:nvSpPr>
        <p:spPr>
          <a:xfrm>
            <a:off x="2404872" y="4370832"/>
            <a:ext cx="1755648" cy="841248"/>
          </a:xfrm>
          <a:prstGeom prst="roundRect">
            <a:avLst/>
          </a:prstGeom>
          <a:solidFill>
            <a:srgbClr val="143363"/>
          </a:solidFill>
          <a:ln w="12700">
            <a:solidFill>
              <a:srgbClr val="2A4A8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2450591" y="4425696"/>
            <a:ext cx="1664208" cy="7315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spcBef>
                <a:spcPts val="0"/>
              </a:spcBef>
              <a:spcAft>
                <a:spcPts val="0"/>
              </a:spcAft>
            </a:pPr>
            <a:r>
              <a:rPr sz="1900" b="1" i="0">
                <a:solidFill>
                  <a:srgbClr val="F59E0B"/>
                </a:solidFill>
                <a:latin typeface="Calibri"/>
              </a:rPr>
              <a:t>95</a:t>
            </a:r>
          </a:p>
          <a:p>
            <a:pPr algn="ctr">
              <a:spcBef>
                <a:spcPts val="0"/>
              </a:spcBef>
              <a:spcAft>
                <a:spcPts val="0"/>
              </a:spcAft>
            </a:pPr>
            <a:r>
              <a:rPr sz="850" b="0" i="0">
                <a:solidFill>
                  <a:srgbClr val="A5B4FC"/>
                </a:solidFill>
                <a:latin typeface="Calibri"/>
              </a:rPr>
              <a:t>REST Endpoints</a:t>
            </a:r>
          </a:p>
        </p:txBody>
      </p:sp>
      <p:sp>
        <p:nvSpPr>
          <p:cNvPr id="12" name="Rounded Rectangle 11"/>
          <p:cNvSpPr/>
          <p:nvPr/>
        </p:nvSpPr>
        <p:spPr>
          <a:xfrm>
            <a:off x="4261104" y="4370832"/>
            <a:ext cx="1755648" cy="841248"/>
          </a:xfrm>
          <a:prstGeom prst="roundRect">
            <a:avLst/>
          </a:prstGeom>
          <a:solidFill>
            <a:srgbClr val="143363"/>
          </a:solidFill>
          <a:ln w="12700">
            <a:solidFill>
              <a:srgbClr val="2A4A8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306824" y="4425696"/>
            <a:ext cx="1664208" cy="7315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spcBef>
                <a:spcPts val="0"/>
              </a:spcBef>
              <a:spcAft>
                <a:spcPts val="0"/>
              </a:spcAft>
            </a:pPr>
            <a:r>
              <a:rPr sz="1900" b="1" i="0">
                <a:solidFill>
                  <a:srgbClr val="F59E0B"/>
                </a:solidFill>
                <a:latin typeface="Calibri"/>
              </a:rPr>
              <a:t>~18,650</a:t>
            </a:r>
          </a:p>
          <a:p>
            <a:pPr algn="ctr">
              <a:spcBef>
                <a:spcPts val="0"/>
              </a:spcBef>
              <a:spcAft>
                <a:spcPts val="0"/>
              </a:spcAft>
            </a:pPr>
            <a:r>
              <a:rPr sz="850" b="0" i="0">
                <a:solidFill>
                  <a:srgbClr val="A5B4FC"/>
                </a:solidFill>
                <a:latin typeface="Calibri"/>
              </a:rPr>
              <a:t>Lines of Code</a:t>
            </a:r>
          </a:p>
        </p:txBody>
      </p:sp>
      <p:sp>
        <p:nvSpPr>
          <p:cNvPr id="14" name="Rounded Rectangle 13"/>
          <p:cNvSpPr/>
          <p:nvPr/>
        </p:nvSpPr>
        <p:spPr>
          <a:xfrm>
            <a:off x="6117336" y="4370832"/>
            <a:ext cx="1755648" cy="841248"/>
          </a:xfrm>
          <a:prstGeom prst="roundRect">
            <a:avLst/>
          </a:prstGeom>
          <a:solidFill>
            <a:srgbClr val="143363"/>
          </a:solidFill>
          <a:ln w="12700">
            <a:solidFill>
              <a:srgbClr val="2A4A8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163055" y="4425696"/>
            <a:ext cx="1664208" cy="7315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spcBef>
                <a:spcPts val="0"/>
              </a:spcBef>
              <a:spcAft>
                <a:spcPts val="0"/>
              </a:spcAft>
            </a:pPr>
            <a:r>
              <a:rPr sz="1900" b="1" i="0">
                <a:solidFill>
                  <a:srgbClr val="F59E0B"/>
                </a:solidFill>
                <a:latin typeface="Calibri"/>
              </a:rPr>
              <a:t>10</a:t>
            </a:r>
          </a:p>
          <a:p>
            <a:pPr algn="ctr">
              <a:spcBef>
                <a:spcPts val="0"/>
              </a:spcBef>
              <a:spcAft>
                <a:spcPts val="0"/>
              </a:spcAft>
            </a:pPr>
            <a:r>
              <a:rPr sz="850" b="0" i="0">
                <a:solidFill>
                  <a:srgbClr val="A5B4FC"/>
                </a:solidFill>
                <a:latin typeface="Calibri"/>
              </a:rPr>
              <a:t>User Roles</a:t>
            </a:r>
          </a:p>
        </p:txBody>
      </p:sp>
      <p:sp>
        <p:nvSpPr>
          <p:cNvPr id="16" name="Rounded Rectangle 15"/>
          <p:cNvSpPr/>
          <p:nvPr/>
        </p:nvSpPr>
        <p:spPr>
          <a:xfrm>
            <a:off x="7973567" y="4370832"/>
            <a:ext cx="1755648" cy="841248"/>
          </a:xfrm>
          <a:prstGeom prst="roundRect">
            <a:avLst/>
          </a:prstGeom>
          <a:solidFill>
            <a:srgbClr val="143363"/>
          </a:solidFill>
          <a:ln w="12700">
            <a:solidFill>
              <a:srgbClr val="2A4A8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019288" y="4425696"/>
            <a:ext cx="1664208" cy="7315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spcBef>
                <a:spcPts val="0"/>
              </a:spcBef>
              <a:spcAft>
                <a:spcPts val="0"/>
              </a:spcAft>
            </a:pPr>
            <a:r>
              <a:rPr sz="1900" b="1" i="0">
                <a:solidFill>
                  <a:srgbClr val="F59E0B"/>
                </a:solidFill>
                <a:latin typeface="Calibri"/>
              </a:rPr>
              <a:t>17</a:t>
            </a:r>
          </a:p>
          <a:p>
            <a:pPr algn="ctr">
              <a:spcBef>
                <a:spcPts val="0"/>
              </a:spcBef>
              <a:spcAft>
                <a:spcPts val="0"/>
              </a:spcAft>
            </a:pPr>
            <a:r>
              <a:rPr sz="850" b="0" i="0">
                <a:solidFill>
                  <a:srgbClr val="A5B4FC"/>
                </a:solidFill>
                <a:latin typeface="Calibri"/>
              </a:rPr>
              <a:t>App Screens</a:t>
            </a:r>
          </a:p>
        </p:txBody>
      </p:sp>
      <p:sp>
        <p:nvSpPr>
          <p:cNvPr id="18" name="Rounded Rectangle 17"/>
          <p:cNvSpPr/>
          <p:nvPr/>
        </p:nvSpPr>
        <p:spPr>
          <a:xfrm>
            <a:off x="9829799" y="4370832"/>
            <a:ext cx="1755648" cy="841248"/>
          </a:xfrm>
          <a:prstGeom prst="roundRect">
            <a:avLst/>
          </a:prstGeom>
          <a:solidFill>
            <a:srgbClr val="143363"/>
          </a:solidFill>
          <a:ln w="12700">
            <a:solidFill>
              <a:srgbClr val="2A4A8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9875519" y="4425696"/>
            <a:ext cx="1664208" cy="7315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spcBef>
                <a:spcPts val="0"/>
              </a:spcBef>
              <a:spcAft>
                <a:spcPts val="0"/>
              </a:spcAft>
            </a:pPr>
            <a:r>
              <a:rPr sz="1900" b="1" i="0">
                <a:solidFill>
                  <a:srgbClr val="F59E0B"/>
                </a:solidFill>
                <a:latin typeface="Calibri"/>
              </a:rPr>
              <a:t>9</a:t>
            </a:r>
          </a:p>
          <a:p>
            <a:pPr algn="ctr">
              <a:spcBef>
                <a:spcPts val="0"/>
              </a:spcBef>
              <a:spcAft>
                <a:spcPts val="0"/>
              </a:spcAft>
            </a:pPr>
            <a:r>
              <a:rPr sz="850" b="0" i="0">
                <a:solidFill>
                  <a:srgbClr val="A5B4FC"/>
                </a:solidFill>
                <a:latin typeface="Calibri"/>
              </a:rPr>
              <a:t>Data Models</a:t>
            </a:r>
          </a:p>
        </p:txBody>
      </p:sp>
      <p:sp>
        <p:nvSpPr>
          <p:cNvPr id="20" name="Rectangle 19"/>
          <p:cNvSpPr/>
          <p:nvPr/>
        </p:nvSpPr>
        <p:spPr>
          <a:xfrm>
            <a:off x="548640" y="5440680"/>
            <a:ext cx="6035040" cy="10058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27432" bIns="27432"/>
          <a:lstStyle/>
          <a:p>
            <a:pPr algn="l">
              <a:spcAft>
                <a:spcPts val="300"/>
              </a:spcAft>
            </a:pPr>
            <a:r>
              <a:rPr sz="1150" b="1">
                <a:solidFill>
                  <a:srgbClr val="06B6D4"/>
                </a:solidFill>
                <a:latin typeface="Calibri"/>
              </a:rPr>
              <a:t>Presented by:  </a:t>
            </a:r>
            <a:r>
              <a:rPr sz="1150" b="0">
                <a:solidFill>
                  <a:srgbClr val="FFFFFF"/>
                </a:solidFill>
                <a:latin typeface="Calibri"/>
              </a:rPr>
              <a:t>Atul Gupta  &amp;  Team</a:t>
            </a:r>
          </a:p>
          <a:p>
            <a:pPr algn="l">
              <a:spcAft>
                <a:spcPts val="300"/>
              </a:spcAft>
            </a:pPr>
            <a:r>
              <a:rPr sz="1150" b="1">
                <a:solidFill>
                  <a:srgbClr val="06B6D4"/>
                </a:solidFill>
                <a:latin typeface="Calibri"/>
              </a:rPr>
              <a:t>Guide:  </a:t>
            </a:r>
            <a:r>
              <a:rPr sz="1150" b="0">
                <a:solidFill>
                  <a:srgbClr val="FFFFFF"/>
                </a:solidFill>
                <a:latin typeface="Calibri"/>
              </a:rPr>
              <a:t>Prof. ______________</a:t>
            </a:r>
          </a:p>
          <a:p>
            <a:pPr algn="l">
              <a:spcAft>
                <a:spcPts val="0"/>
              </a:spcAft>
            </a:pPr>
            <a:r>
              <a:rPr sz="1150" b="1">
                <a:solidFill>
                  <a:srgbClr val="06B6D4"/>
                </a:solidFill>
                <a:latin typeface="Calibri"/>
              </a:rPr>
              <a:t>Department:  </a:t>
            </a:r>
            <a:r>
              <a:rPr sz="1150" b="0">
                <a:solidFill>
                  <a:srgbClr val="FFFFFF"/>
                </a:solidFill>
                <a:latin typeface="Calibri"/>
              </a:rPr>
              <a:t>Computer Science &amp; Engineering (AI &amp; ML)</a:t>
            </a:r>
          </a:p>
        </p:txBody>
      </p:sp>
      <p:sp>
        <p:nvSpPr>
          <p:cNvPr id="21" name="Rectangle 20"/>
          <p:cNvSpPr/>
          <p:nvPr/>
        </p:nvSpPr>
        <p:spPr>
          <a:xfrm>
            <a:off x="7315200" y="5806440"/>
            <a:ext cx="4434840" cy="5486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27432" bIns="27432"/>
          <a:lstStyle/>
          <a:p>
            <a:pPr algn="r">
              <a:spcBef>
                <a:spcPts val="0"/>
              </a:spcBef>
              <a:spcAft>
                <a:spcPts val="0"/>
              </a:spcAft>
            </a:pPr>
            <a:r>
              <a:rPr sz="1100" b="1" i="0">
                <a:solidFill>
                  <a:srgbClr val="F59E0B"/>
                </a:solidFill>
                <a:latin typeface="Calibri"/>
              </a:rPr>
              <a:t>React 19  •  FastAPI  •  Firebase  •  Google Gemini</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3F6FC"/>
        </a:solidFill>
        <a:effectLst/>
      </p:bgPr>
    </p:bg>
    <p:spTree>
      <p:nvGrpSpPr>
        <p:cNvPr id="1" name=""/>
        <p:cNvGrpSpPr/>
        <p:nvPr/>
      </p:nvGrpSpPr>
      <p:grpSpPr/>
      <p:sp>
        <p:nvSpPr>
          <p:cNvPr id="2" name="Rectangle 1"/>
          <p:cNvSpPr/>
          <p:nvPr/>
        </p:nvSpPr>
        <p:spPr>
          <a:xfrm>
            <a:off x="0" y="0"/>
            <a:ext cx="12191695" cy="1078992"/>
          </a:xfrm>
          <a:prstGeom prst="rect">
            <a:avLst/>
          </a:prstGeom>
          <a:solidFill>
            <a:srgbClr val="0B1E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78992"/>
            <a:ext cx="12191695" cy="411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411480" y="91440"/>
            <a:ext cx="10058400" cy="9144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27432" bIns="27432"/>
          <a:lstStyle/>
          <a:p>
            <a:pPr algn="l">
              <a:spcBef>
                <a:spcPts val="0"/>
              </a:spcBef>
              <a:spcAft>
                <a:spcPts val="100"/>
              </a:spcAft>
            </a:pPr>
            <a:r>
              <a:rPr sz="1050" b="1" i="0">
                <a:solidFill>
                  <a:srgbClr val="06B6D4"/>
                </a:solidFill>
                <a:latin typeface="Calibri"/>
              </a:rPr>
              <a:t>SLIDE 2</a:t>
            </a:r>
          </a:p>
          <a:p>
            <a:pPr algn="l">
              <a:spcBef>
                <a:spcPts val="0"/>
              </a:spcBef>
              <a:spcAft>
                <a:spcPts val="0"/>
              </a:spcAft>
            </a:pPr>
            <a:r>
              <a:rPr sz="2500" b="1" i="0">
                <a:solidFill>
                  <a:srgbClr val="FFFFFF"/>
                </a:solidFill>
                <a:latin typeface="Calibri"/>
              </a:rPr>
              <a:t>Introduction</a:t>
            </a:r>
          </a:p>
        </p:txBody>
      </p:sp>
      <p:sp>
        <p:nvSpPr>
          <p:cNvPr id="5" name="Rounded Rectangle 4"/>
          <p:cNvSpPr/>
          <p:nvPr/>
        </p:nvSpPr>
        <p:spPr>
          <a:xfrm>
            <a:off x="10972800" y="274320"/>
            <a:ext cx="822960" cy="512064"/>
          </a:xfrm>
          <a:prstGeom prst="roundRect">
            <a:avLst/>
          </a:prstGeom>
          <a:solidFill>
            <a:srgbClr val="143363"/>
          </a:solidFill>
          <a:ln w="15875">
            <a:solidFill>
              <a:srgbClr val="06B6D4"/>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spcBef>
                <a:spcPts val="0"/>
              </a:spcBef>
              <a:spcAft>
                <a:spcPts val="0"/>
              </a:spcAft>
            </a:pPr>
            <a:r>
              <a:rPr sz="1150" b="1" i="0">
                <a:solidFill>
                  <a:srgbClr val="FFFFFF"/>
                </a:solidFill>
                <a:latin typeface="Calibri"/>
              </a:rPr>
              <a:t>2 / 10</a:t>
            </a:r>
          </a:p>
        </p:txBody>
      </p:sp>
      <p:sp>
        <p:nvSpPr>
          <p:cNvPr id="6" name="Rectangle 5"/>
          <p:cNvSpPr/>
          <p:nvPr/>
        </p:nvSpPr>
        <p:spPr>
          <a:xfrm>
            <a:off x="411480" y="6446520"/>
            <a:ext cx="11365992" cy="29260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27432" bIns="27432"/>
          <a:lstStyle/>
          <a:p>
            <a:pPr algn="ctr">
              <a:spcAft>
                <a:spcPts val="0"/>
              </a:spcAft>
            </a:pPr>
            <a:r>
              <a:rPr sz="850">
                <a:solidFill>
                  <a:srgbClr val="64748B"/>
                </a:solidFill>
                <a:latin typeface="Calibri"/>
              </a:rPr>
              <a:t>HieraSync AI  •  Smart College Workflow &amp; Event Management System        </a:t>
            </a:r>
            <a:r>
              <a:rPr sz="850">
                <a:solidFill>
                  <a:srgbClr val="64748B"/>
                </a:solidFill>
                <a:latin typeface="Calibri"/>
              </a:rPr>
              <a:t>github.com/Atulgupta07/Hiera_Sync</a:t>
            </a:r>
          </a:p>
        </p:txBody>
      </p:sp>
      <p:sp>
        <p:nvSpPr>
          <p:cNvPr id="7" name="Rounded Rectangle 6"/>
          <p:cNvSpPr/>
          <p:nvPr/>
        </p:nvSpPr>
        <p:spPr>
          <a:xfrm>
            <a:off x="411480" y="1298448"/>
            <a:ext cx="11365992" cy="713232"/>
          </a:xfrm>
          <a:prstGeom prst="roundRect">
            <a:avLst/>
          </a:prstGeom>
          <a:solidFill>
            <a:srgbClr val="EEF2FF"/>
          </a:solidFill>
          <a:ln w="12700">
            <a:solidFill>
              <a:srgbClr val="4F46E5"/>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27432" bIns="27432"/>
          <a:lstStyle/>
          <a:p>
            <a:pPr algn="l">
              <a:spcAft>
                <a:spcPts val="0"/>
              </a:spcAft>
            </a:pPr>
            <a:r>
              <a:rPr sz="1300" b="1">
                <a:solidFill>
                  <a:srgbClr val="0B1E3B"/>
                </a:solidFill>
                <a:latin typeface="Calibri"/>
              </a:rPr>
              <a:t>HieraSync AI </a:t>
            </a:r>
            <a:r>
              <a:rPr sz="1250" b="0">
                <a:solidFill>
                  <a:srgbClr val="1E293B"/>
                </a:solidFill>
                <a:latin typeface="Calibri"/>
              </a:rPr>
              <a:t>(backend service name: </a:t>
            </a:r>
            <a:r>
              <a:rPr sz="1250" b="1">
                <a:solidFill>
                  <a:srgbClr val="4F46E5"/>
                </a:solidFill>
                <a:latin typeface="Calibri"/>
              </a:rPr>
              <a:t>CampusPulse API</a:t>
            </a:r>
            <a:r>
              <a:rPr sz="1250" b="0">
                <a:solidFill>
                  <a:srgbClr val="1E293B"/>
                </a:solidFill>
                <a:latin typeface="Calibri"/>
              </a:rPr>
              <a:t>) is a web-based platform that brings every department activity — tasks, approvals, events, goals, files and reports — into </a:t>
            </a:r>
            <a:r>
              <a:rPr sz="1250" b="1">
                <a:solidFill>
                  <a:srgbClr val="0B1E3B"/>
                </a:solidFill>
                <a:latin typeface="Calibri"/>
              </a:rPr>
              <a:t>one secure, role-based system</a:t>
            </a:r>
            <a:r>
              <a:rPr sz="1250" b="0">
                <a:solidFill>
                  <a:srgbClr val="1E293B"/>
                </a:solidFill>
                <a:latin typeface="Calibri"/>
              </a:rPr>
              <a:t>, with an AI assistant that answers questions from live data.</a:t>
            </a:r>
          </a:p>
        </p:txBody>
      </p:sp>
      <p:sp>
        <p:nvSpPr>
          <p:cNvPr id="8" name="Rounded Rectangle 7"/>
          <p:cNvSpPr/>
          <p:nvPr/>
        </p:nvSpPr>
        <p:spPr>
          <a:xfrm>
            <a:off x="411480" y="2139696"/>
            <a:ext cx="6903720" cy="2304288"/>
          </a:xfrm>
          <a:prstGeom prst="roundRect">
            <a:avLst/>
          </a:prstGeom>
          <a:solidFill>
            <a:srgbClr val="FFFFFF"/>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411480" y="2139696"/>
            <a:ext cx="77724" cy="2304288"/>
          </a:xfrm>
          <a:prstGeom prst="roundRect">
            <a:avLst/>
          </a:prstGeom>
          <a:solidFill>
            <a:srgbClr val="4F46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12648" y="2231136"/>
            <a:ext cx="6519672" cy="32918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27432" bIns="27432"/>
          <a:lstStyle/>
          <a:p>
            <a:pPr algn="l">
              <a:spcBef>
                <a:spcPts val="0"/>
              </a:spcBef>
              <a:spcAft>
                <a:spcPts val="0"/>
              </a:spcAft>
            </a:pPr>
            <a:r>
              <a:rPr sz="1300" b="1" i="0">
                <a:solidFill>
                  <a:srgbClr val="0B1E3B"/>
                </a:solidFill>
                <a:latin typeface="Calibri"/>
              </a:rPr>
              <a:t>What the system actually does</a:t>
            </a:r>
          </a:p>
        </p:txBody>
      </p:sp>
      <p:sp>
        <p:nvSpPr>
          <p:cNvPr id="11" name="Rectangle 10"/>
          <p:cNvSpPr/>
          <p:nvPr/>
        </p:nvSpPr>
        <p:spPr>
          <a:xfrm>
            <a:off x="612648" y="2596896"/>
            <a:ext cx="6501383" cy="173736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27432" bIns="27432"/>
          <a:lstStyle/>
          <a:p>
            <a:pPr algn="l">
              <a:spcAft>
                <a:spcPts val="600"/>
              </a:spcAft>
            </a:pPr>
            <a:r>
              <a:rPr sz="1150" b="1">
                <a:solidFill>
                  <a:srgbClr val="4F46E5"/>
                </a:solidFill>
                <a:latin typeface="Calibri"/>
              </a:rPr>
              <a:t>▪  </a:t>
            </a:r>
            <a:r>
              <a:rPr sz="1150" b="1">
                <a:solidFill>
                  <a:srgbClr val="0B1E3B"/>
                </a:solidFill>
                <a:latin typeface="Calibri"/>
              </a:rPr>
              <a:t>Single login for the full hierarchy — </a:t>
            </a:r>
            <a:r>
              <a:rPr sz="1150" b="0">
                <a:solidFill>
                  <a:srgbClr val="1E293B"/>
                </a:solidFill>
                <a:latin typeface="Calibri"/>
              </a:rPr>
              <a:t>Principal → HOD → Faculty → Staff / Students (10 roles)</a:t>
            </a:r>
          </a:p>
          <a:p>
            <a:pPr algn="l">
              <a:spcAft>
                <a:spcPts val="600"/>
              </a:spcAft>
            </a:pPr>
            <a:r>
              <a:rPr sz="1150" b="1">
                <a:solidFill>
                  <a:srgbClr val="4F46E5"/>
                </a:solidFill>
                <a:latin typeface="Calibri"/>
              </a:rPr>
              <a:t>▪  </a:t>
            </a:r>
            <a:r>
              <a:rPr sz="1150" b="1">
                <a:solidFill>
                  <a:srgbClr val="0B1E3B"/>
                </a:solidFill>
                <a:latin typeface="Calibri"/>
              </a:rPr>
              <a:t>Work is assigned as tasks — </a:t>
            </a:r>
            <a:r>
              <a:rPr sz="1150" b="0">
                <a:solidFill>
                  <a:srgbClr val="1E293B"/>
                </a:solidFill>
                <a:latin typeface="Calibri"/>
              </a:rPr>
              <a:t>with deadline, priority, progress %, comments &amp; attachments</a:t>
            </a:r>
          </a:p>
          <a:p>
            <a:pPr algn="l">
              <a:spcAft>
                <a:spcPts val="600"/>
              </a:spcAft>
            </a:pPr>
            <a:r>
              <a:rPr sz="1150" b="1">
                <a:solidFill>
                  <a:srgbClr val="4F46E5"/>
                </a:solidFill>
                <a:latin typeface="Calibri"/>
              </a:rPr>
              <a:t>▪  </a:t>
            </a:r>
            <a:r>
              <a:rPr sz="1150" b="1">
                <a:solidFill>
                  <a:srgbClr val="0B1E3B"/>
                </a:solidFill>
                <a:latin typeface="Calibri"/>
              </a:rPr>
              <a:t>Requests &amp; approvals move in a chain — </a:t>
            </a:r>
            <a:r>
              <a:rPr sz="1150" b="0">
                <a:solidFill>
                  <a:srgbClr val="1E293B"/>
                </a:solidFill>
                <a:latin typeface="Calibri"/>
              </a:rPr>
              <a:t>HOD stage, then Principal stage, fully logged</a:t>
            </a:r>
          </a:p>
          <a:p>
            <a:pPr algn="l">
              <a:spcAft>
                <a:spcPts val="600"/>
              </a:spcAft>
            </a:pPr>
            <a:r>
              <a:rPr sz="1150" b="1">
                <a:solidFill>
                  <a:srgbClr val="4F46E5"/>
                </a:solidFill>
                <a:latin typeface="Calibri"/>
              </a:rPr>
              <a:t>▪  </a:t>
            </a:r>
            <a:r>
              <a:rPr sz="1150" b="1">
                <a:solidFill>
                  <a:srgbClr val="0B1E3B"/>
                </a:solidFill>
                <a:latin typeface="Calibri"/>
              </a:rPr>
              <a:t>AI assistant (Google Gemini) — </a:t>
            </a:r>
            <a:r>
              <a:rPr sz="1150" b="0">
                <a:solidFill>
                  <a:srgbClr val="1E293B"/>
                </a:solidFill>
                <a:latin typeface="Calibri"/>
              </a:rPr>
              <a:t>answers using your real tasks, approvals and events</a:t>
            </a:r>
          </a:p>
          <a:p>
            <a:pPr algn="l">
              <a:spcAft>
                <a:spcPts val="600"/>
              </a:spcAft>
            </a:pPr>
            <a:r>
              <a:rPr sz="1150" b="1">
                <a:solidFill>
                  <a:srgbClr val="4F46E5"/>
                </a:solidFill>
                <a:latin typeface="Calibri"/>
              </a:rPr>
              <a:t>▪  </a:t>
            </a:r>
            <a:r>
              <a:rPr sz="1150" b="1">
                <a:solidFill>
                  <a:srgbClr val="0B1E3B"/>
                </a:solidFill>
                <a:latin typeface="Calibri"/>
              </a:rPr>
              <a:t>Automatic reminders — </a:t>
            </a:r>
            <a:r>
              <a:rPr sz="1150" b="0">
                <a:solidFill>
                  <a:srgbClr val="1E293B"/>
                </a:solidFill>
                <a:latin typeface="Calibri"/>
              </a:rPr>
              <a:t>in-app + WhatsApp, checked by a background job every 5 minutes</a:t>
            </a:r>
          </a:p>
          <a:p>
            <a:pPr algn="l">
              <a:spcAft>
                <a:spcPts val="600"/>
              </a:spcAft>
            </a:pPr>
            <a:r>
              <a:rPr sz="1150" b="1">
                <a:solidFill>
                  <a:srgbClr val="4F46E5"/>
                </a:solidFill>
                <a:latin typeface="Calibri"/>
              </a:rPr>
              <a:t>▪  </a:t>
            </a:r>
            <a:r>
              <a:rPr sz="1150" b="1">
                <a:solidFill>
                  <a:srgbClr val="0B1E3B"/>
                </a:solidFill>
                <a:latin typeface="Calibri"/>
              </a:rPr>
              <a:t>Academic calendar PDFs — </a:t>
            </a:r>
            <a:r>
              <a:rPr sz="1150" b="0">
                <a:solidFill>
                  <a:srgbClr val="1E293B"/>
                </a:solidFill>
                <a:latin typeface="Calibri"/>
              </a:rPr>
              <a:t>uploaded once, parsed by AI into categorised events</a:t>
            </a:r>
          </a:p>
        </p:txBody>
      </p:sp>
      <p:sp>
        <p:nvSpPr>
          <p:cNvPr id="12" name="Rounded Rectangle 11"/>
          <p:cNvSpPr/>
          <p:nvPr/>
        </p:nvSpPr>
        <p:spPr>
          <a:xfrm>
            <a:off x="7498079" y="2139696"/>
            <a:ext cx="2057400" cy="1060704"/>
          </a:xfrm>
          <a:prstGeom prst="roundRect">
            <a:avLst/>
          </a:prstGeom>
          <a:solidFill>
            <a:srgbClr val="FFFFFF"/>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552944" y="2212848"/>
            <a:ext cx="1947672" cy="914399"/>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spcBef>
                <a:spcPts val="0"/>
              </a:spcBef>
              <a:spcAft>
                <a:spcPts val="100"/>
              </a:spcAft>
            </a:pPr>
            <a:r>
              <a:rPr sz="2000" b="1" i="0">
                <a:solidFill>
                  <a:srgbClr val="4F46E5"/>
                </a:solidFill>
                <a:latin typeface="Calibri"/>
              </a:rPr>
              <a:t>95</a:t>
            </a:r>
          </a:p>
          <a:p>
            <a:pPr algn="ctr">
              <a:spcBef>
                <a:spcPts val="0"/>
              </a:spcBef>
              <a:spcAft>
                <a:spcPts val="0"/>
              </a:spcAft>
            </a:pPr>
            <a:r>
              <a:rPr sz="900" b="0" i="0">
                <a:solidFill>
                  <a:srgbClr val="64748B"/>
                </a:solidFill>
                <a:latin typeface="Calibri"/>
              </a:rPr>
              <a:t>REST
Endpoints</a:t>
            </a:r>
          </a:p>
        </p:txBody>
      </p:sp>
      <p:sp>
        <p:nvSpPr>
          <p:cNvPr id="14" name="Rounded Rectangle 13"/>
          <p:cNvSpPr/>
          <p:nvPr/>
        </p:nvSpPr>
        <p:spPr>
          <a:xfrm>
            <a:off x="9692640" y="2139696"/>
            <a:ext cx="2057400" cy="1060704"/>
          </a:xfrm>
          <a:prstGeom prst="roundRect">
            <a:avLst/>
          </a:prstGeom>
          <a:solidFill>
            <a:srgbClr val="FFFFFF"/>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9747504" y="2212848"/>
            <a:ext cx="1947672" cy="914399"/>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spcBef>
                <a:spcPts val="0"/>
              </a:spcBef>
              <a:spcAft>
                <a:spcPts val="100"/>
              </a:spcAft>
            </a:pPr>
            <a:r>
              <a:rPr sz="2000" b="1" i="0">
                <a:solidFill>
                  <a:srgbClr val="06B6D4"/>
                </a:solidFill>
                <a:latin typeface="Calibri"/>
              </a:rPr>
              <a:t>20</a:t>
            </a:r>
          </a:p>
          <a:p>
            <a:pPr algn="ctr">
              <a:spcBef>
                <a:spcPts val="0"/>
              </a:spcBef>
              <a:spcAft>
                <a:spcPts val="0"/>
              </a:spcAft>
            </a:pPr>
            <a:r>
              <a:rPr sz="900" b="0" i="0">
                <a:solidFill>
                  <a:srgbClr val="64748B"/>
                </a:solidFill>
                <a:latin typeface="Calibri"/>
              </a:rPr>
              <a:t>Backend
Modules</a:t>
            </a:r>
          </a:p>
        </p:txBody>
      </p:sp>
      <p:sp>
        <p:nvSpPr>
          <p:cNvPr id="16" name="Rounded Rectangle 15"/>
          <p:cNvSpPr/>
          <p:nvPr/>
        </p:nvSpPr>
        <p:spPr>
          <a:xfrm>
            <a:off x="7498079" y="3328415"/>
            <a:ext cx="2057400" cy="1060704"/>
          </a:xfrm>
          <a:prstGeom prst="roundRect">
            <a:avLst/>
          </a:prstGeom>
          <a:solidFill>
            <a:srgbClr val="FFFFFF"/>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552944" y="3401568"/>
            <a:ext cx="1947672" cy="914399"/>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spcBef>
                <a:spcPts val="0"/>
              </a:spcBef>
              <a:spcAft>
                <a:spcPts val="100"/>
              </a:spcAft>
            </a:pPr>
            <a:r>
              <a:rPr sz="2000" b="1" i="0">
                <a:solidFill>
                  <a:srgbClr val="10B981"/>
                </a:solidFill>
                <a:latin typeface="Calibri"/>
              </a:rPr>
              <a:t>17</a:t>
            </a:r>
          </a:p>
          <a:p>
            <a:pPr algn="ctr">
              <a:spcBef>
                <a:spcPts val="0"/>
              </a:spcBef>
              <a:spcAft>
                <a:spcPts val="0"/>
              </a:spcAft>
            </a:pPr>
            <a:r>
              <a:rPr sz="900" b="0" i="0">
                <a:solidFill>
                  <a:srgbClr val="64748B"/>
                </a:solidFill>
                <a:latin typeface="Calibri"/>
              </a:rPr>
              <a:t>Frontend
Screens</a:t>
            </a:r>
          </a:p>
        </p:txBody>
      </p:sp>
      <p:sp>
        <p:nvSpPr>
          <p:cNvPr id="18" name="Rounded Rectangle 17"/>
          <p:cNvSpPr/>
          <p:nvPr/>
        </p:nvSpPr>
        <p:spPr>
          <a:xfrm>
            <a:off x="9692640" y="3328415"/>
            <a:ext cx="2057400" cy="1060704"/>
          </a:xfrm>
          <a:prstGeom prst="roundRect">
            <a:avLst/>
          </a:prstGeom>
          <a:solidFill>
            <a:srgbClr val="FFFFFF"/>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9747504" y="3401568"/>
            <a:ext cx="1947672" cy="914399"/>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spcBef>
                <a:spcPts val="0"/>
              </a:spcBef>
              <a:spcAft>
                <a:spcPts val="100"/>
              </a:spcAft>
            </a:pPr>
            <a:r>
              <a:rPr sz="2000" b="1" i="0">
                <a:solidFill>
                  <a:srgbClr val="F59E0B"/>
                </a:solidFill>
                <a:latin typeface="Calibri"/>
              </a:rPr>
              <a:t>9</a:t>
            </a:r>
          </a:p>
          <a:p>
            <a:pPr algn="ctr">
              <a:spcBef>
                <a:spcPts val="0"/>
              </a:spcBef>
              <a:spcAft>
                <a:spcPts val="0"/>
              </a:spcAft>
            </a:pPr>
            <a:r>
              <a:rPr sz="900" b="0" i="0">
                <a:solidFill>
                  <a:srgbClr val="64748B"/>
                </a:solidFill>
                <a:latin typeface="Calibri"/>
              </a:rPr>
              <a:t>Firestore
Data Models</a:t>
            </a:r>
          </a:p>
        </p:txBody>
      </p:sp>
      <p:sp>
        <p:nvSpPr>
          <p:cNvPr id="20" name="Rounded Rectangle 19"/>
          <p:cNvSpPr/>
          <p:nvPr/>
        </p:nvSpPr>
        <p:spPr>
          <a:xfrm>
            <a:off x="411480" y="4553712"/>
            <a:ext cx="11365992" cy="1783080"/>
          </a:xfrm>
          <a:prstGeom prst="roundRect">
            <a:avLst/>
          </a:prstGeom>
          <a:solidFill>
            <a:srgbClr val="FFFFFF"/>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411480" y="4553712"/>
            <a:ext cx="77724" cy="1783080"/>
          </a:xfrm>
          <a:prstGeom prst="round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12648" y="4645152"/>
            <a:ext cx="10981944" cy="32918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27432" bIns="27432"/>
          <a:lstStyle/>
          <a:p>
            <a:pPr algn="l">
              <a:spcBef>
                <a:spcPts val="0"/>
              </a:spcBef>
              <a:spcAft>
                <a:spcPts val="0"/>
              </a:spcAft>
            </a:pPr>
            <a:r>
              <a:rPr sz="1300" b="1" i="0">
                <a:solidFill>
                  <a:srgbClr val="0B1E3B"/>
                </a:solidFill>
                <a:latin typeface="Calibri"/>
              </a:rPr>
              <a:t>From manual work  →  to one automated system</a:t>
            </a:r>
          </a:p>
        </p:txBody>
      </p:sp>
      <p:sp>
        <p:nvSpPr>
          <p:cNvPr id="23" name="Rectangle 22"/>
          <p:cNvSpPr/>
          <p:nvPr/>
        </p:nvSpPr>
        <p:spPr>
          <a:xfrm>
            <a:off x="612648" y="5010912"/>
            <a:ext cx="10963656" cy="121615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27432" bIns="27432"/>
          <a:lstStyle/>
          <a:p>
            <a:pPr algn="ctr"/>
          </a:p>
        </p:txBody>
      </p:sp>
      <p:sp>
        <p:nvSpPr>
          <p:cNvPr id="24" name="Rounded Rectangle 23"/>
          <p:cNvSpPr/>
          <p:nvPr/>
        </p:nvSpPr>
        <p:spPr>
          <a:xfrm>
            <a:off x="621792" y="5138928"/>
            <a:ext cx="1170432" cy="438912"/>
          </a:xfrm>
          <a:prstGeom prst="roundRect">
            <a:avLst/>
          </a:prstGeom>
          <a:solidFill>
            <a:srgbClr val="FEE2E2"/>
          </a:solidFill>
          <a:ln w="12700">
            <a:solidFill>
              <a:srgbClr val="EF4444"/>
            </a:solidFill>
          </a:ln>
          <a:effectLst/>
        </p:spPr>
        <p:style>
          <a:lnRef idx="1">
            <a:schemeClr val="accent1"/>
          </a:lnRef>
          <a:fillRef idx="3">
            <a:schemeClr val="accent1"/>
          </a:fillRef>
          <a:effectRef idx="2">
            <a:schemeClr val="accent1"/>
          </a:effectRef>
          <a:fontRef idx="minor">
            <a:schemeClr val="lt1"/>
          </a:fontRef>
        </p:style>
        <p:txBody>
          <a:bodyPr rtlCol="0" anchor="ctr" wrap="square" lIns="27432" rIns="27432" tIns="27432" bIns="27432"/>
          <a:lstStyle/>
          <a:p>
            <a:pPr algn="ctr">
              <a:spcBef>
                <a:spcPts val="0"/>
              </a:spcBef>
              <a:spcAft>
                <a:spcPts val="0"/>
              </a:spcAft>
            </a:pPr>
            <a:r>
              <a:rPr sz="950" b="1" i="0">
                <a:solidFill>
                  <a:srgbClr val="EF4444"/>
                </a:solidFill>
                <a:latin typeface="Calibri"/>
              </a:rPr>
              <a:t>BEFORE</a:t>
            </a:r>
          </a:p>
        </p:txBody>
      </p:sp>
      <p:sp>
        <p:nvSpPr>
          <p:cNvPr id="25" name="Rounded Rectangle 24"/>
          <p:cNvSpPr/>
          <p:nvPr/>
        </p:nvSpPr>
        <p:spPr>
          <a:xfrm>
            <a:off x="2011680" y="5138928"/>
            <a:ext cx="1755648" cy="438912"/>
          </a:xfrm>
          <a:prstGeom prst="roundRect">
            <a:avLst/>
          </a:prstGeom>
          <a:solidFill>
            <a:srgbClr val="FFFFFF"/>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27432" bIns="27432"/>
          <a:lstStyle/>
          <a:p>
            <a:pPr algn="ctr">
              <a:spcBef>
                <a:spcPts val="0"/>
              </a:spcBef>
              <a:spcAft>
                <a:spcPts val="0"/>
              </a:spcAft>
            </a:pPr>
            <a:r>
              <a:rPr sz="900" b="0" i="0">
                <a:solidFill>
                  <a:srgbClr val="1E293B"/>
                </a:solidFill>
                <a:latin typeface="Calibri"/>
              </a:rPr>
              <a:t>Notice on board</a:t>
            </a:r>
          </a:p>
        </p:txBody>
      </p:sp>
      <p:cxnSp>
        <p:nvCxnSpPr>
          <p:cNvPr id="26" name="Connector 25"/>
          <p:cNvCxnSpPr/>
          <p:nvPr/>
        </p:nvCxnSpPr>
        <p:spPr>
          <a:xfrm>
            <a:off x="3767328" y="5358384"/>
            <a:ext cx="219456" cy="0"/>
          </a:xfrm>
          <a:prstGeom prst="line">
            <a:avLst/>
          </a:prstGeom>
          <a:ln w="19050">
            <a:solidFill>
              <a:srgbClr val="64748B"/>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27" name="Rounded Rectangle 26"/>
          <p:cNvSpPr/>
          <p:nvPr/>
        </p:nvSpPr>
        <p:spPr>
          <a:xfrm>
            <a:off x="3986784" y="5138928"/>
            <a:ext cx="1755648" cy="438912"/>
          </a:xfrm>
          <a:prstGeom prst="roundRect">
            <a:avLst/>
          </a:prstGeom>
          <a:solidFill>
            <a:srgbClr val="FFFFFF"/>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27432" bIns="27432"/>
          <a:lstStyle/>
          <a:p>
            <a:pPr algn="ctr">
              <a:spcBef>
                <a:spcPts val="0"/>
              </a:spcBef>
              <a:spcAft>
                <a:spcPts val="0"/>
              </a:spcAft>
            </a:pPr>
            <a:r>
              <a:rPr sz="900" b="0" i="0">
                <a:solidFill>
                  <a:srgbClr val="1E293B"/>
                </a:solidFill>
                <a:latin typeface="Calibri"/>
              </a:rPr>
              <a:t>WhatsApp group</a:t>
            </a:r>
          </a:p>
        </p:txBody>
      </p:sp>
      <p:cxnSp>
        <p:nvCxnSpPr>
          <p:cNvPr id="28" name="Connector 27"/>
          <p:cNvCxnSpPr/>
          <p:nvPr/>
        </p:nvCxnSpPr>
        <p:spPr>
          <a:xfrm>
            <a:off x="5742432" y="5358384"/>
            <a:ext cx="219456" cy="0"/>
          </a:xfrm>
          <a:prstGeom prst="line">
            <a:avLst/>
          </a:prstGeom>
          <a:ln w="19050">
            <a:solidFill>
              <a:srgbClr val="64748B"/>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29" name="Rounded Rectangle 28"/>
          <p:cNvSpPr/>
          <p:nvPr/>
        </p:nvSpPr>
        <p:spPr>
          <a:xfrm>
            <a:off x="5961888" y="5138928"/>
            <a:ext cx="1755648" cy="438912"/>
          </a:xfrm>
          <a:prstGeom prst="roundRect">
            <a:avLst/>
          </a:prstGeom>
          <a:solidFill>
            <a:srgbClr val="FFFFFF"/>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27432" bIns="27432"/>
          <a:lstStyle/>
          <a:p>
            <a:pPr algn="ctr">
              <a:spcBef>
                <a:spcPts val="0"/>
              </a:spcBef>
              <a:spcAft>
                <a:spcPts val="0"/>
              </a:spcAft>
            </a:pPr>
            <a:r>
              <a:rPr sz="900" b="0" i="0">
                <a:solidFill>
                  <a:srgbClr val="1E293B"/>
                </a:solidFill>
                <a:latin typeface="Calibri"/>
              </a:rPr>
              <a:t>Register / Excel</a:t>
            </a:r>
          </a:p>
        </p:txBody>
      </p:sp>
      <p:cxnSp>
        <p:nvCxnSpPr>
          <p:cNvPr id="30" name="Connector 29"/>
          <p:cNvCxnSpPr/>
          <p:nvPr/>
        </p:nvCxnSpPr>
        <p:spPr>
          <a:xfrm>
            <a:off x="7717536" y="5358384"/>
            <a:ext cx="219456" cy="0"/>
          </a:xfrm>
          <a:prstGeom prst="line">
            <a:avLst/>
          </a:prstGeom>
          <a:ln w="19050">
            <a:solidFill>
              <a:srgbClr val="64748B"/>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31" name="Rounded Rectangle 30"/>
          <p:cNvSpPr/>
          <p:nvPr/>
        </p:nvSpPr>
        <p:spPr>
          <a:xfrm>
            <a:off x="7936992" y="5138928"/>
            <a:ext cx="1755648" cy="438912"/>
          </a:xfrm>
          <a:prstGeom prst="roundRect">
            <a:avLst/>
          </a:prstGeom>
          <a:solidFill>
            <a:srgbClr val="FFFFFF"/>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27432" bIns="27432"/>
          <a:lstStyle/>
          <a:p>
            <a:pPr algn="ctr">
              <a:spcBef>
                <a:spcPts val="0"/>
              </a:spcBef>
              <a:spcAft>
                <a:spcPts val="0"/>
              </a:spcAft>
            </a:pPr>
            <a:r>
              <a:rPr sz="900" b="0" i="0">
                <a:solidFill>
                  <a:srgbClr val="1E293B"/>
                </a:solidFill>
                <a:latin typeface="Calibri"/>
              </a:rPr>
              <a:t>Phone follow-up</a:t>
            </a:r>
          </a:p>
        </p:txBody>
      </p:sp>
      <p:cxnSp>
        <p:nvCxnSpPr>
          <p:cNvPr id="32" name="Connector 31"/>
          <p:cNvCxnSpPr/>
          <p:nvPr/>
        </p:nvCxnSpPr>
        <p:spPr>
          <a:xfrm>
            <a:off x="9692640" y="5358384"/>
            <a:ext cx="219456" cy="0"/>
          </a:xfrm>
          <a:prstGeom prst="line">
            <a:avLst/>
          </a:prstGeom>
          <a:ln w="19050">
            <a:solidFill>
              <a:srgbClr val="64748B"/>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33" name="Rounded Rectangle 32"/>
          <p:cNvSpPr/>
          <p:nvPr/>
        </p:nvSpPr>
        <p:spPr>
          <a:xfrm>
            <a:off x="9912096" y="5138928"/>
            <a:ext cx="1755648" cy="438912"/>
          </a:xfrm>
          <a:prstGeom prst="roundRect">
            <a:avLst/>
          </a:prstGeom>
          <a:solidFill>
            <a:srgbClr val="FFFFFF"/>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27432" bIns="27432"/>
          <a:lstStyle/>
          <a:p>
            <a:pPr algn="ctr">
              <a:spcBef>
                <a:spcPts val="0"/>
              </a:spcBef>
              <a:spcAft>
                <a:spcPts val="0"/>
              </a:spcAft>
            </a:pPr>
            <a:r>
              <a:rPr sz="900" b="0" i="0">
                <a:solidFill>
                  <a:srgbClr val="1E293B"/>
                </a:solidFill>
                <a:latin typeface="Calibri"/>
              </a:rPr>
              <a:t>Report typed by hand</a:t>
            </a:r>
          </a:p>
        </p:txBody>
      </p:sp>
      <p:sp>
        <p:nvSpPr>
          <p:cNvPr id="34" name="Rounded Rectangle 33"/>
          <p:cNvSpPr/>
          <p:nvPr/>
        </p:nvSpPr>
        <p:spPr>
          <a:xfrm>
            <a:off x="621792" y="5705856"/>
            <a:ext cx="1170432" cy="438912"/>
          </a:xfrm>
          <a:prstGeom prst="roundRect">
            <a:avLst/>
          </a:prstGeom>
          <a:solidFill>
            <a:srgbClr val="ECFDF5"/>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wrap="square" lIns="27432" rIns="27432" tIns="27432" bIns="27432"/>
          <a:lstStyle/>
          <a:p>
            <a:pPr algn="ctr">
              <a:spcBef>
                <a:spcPts val="0"/>
              </a:spcBef>
              <a:spcAft>
                <a:spcPts val="0"/>
              </a:spcAft>
            </a:pPr>
            <a:r>
              <a:rPr sz="800" b="1" i="0">
                <a:solidFill>
                  <a:srgbClr val="10B981"/>
                </a:solidFill>
                <a:latin typeface="Calibri"/>
              </a:rPr>
              <a:t>WITH HIERASYNC</a:t>
            </a:r>
          </a:p>
        </p:txBody>
      </p:sp>
      <p:sp>
        <p:nvSpPr>
          <p:cNvPr id="35" name="Rounded Rectangle 34"/>
          <p:cNvSpPr/>
          <p:nvPr/>
        </p:nvSpPr>
        <p:spPr>
          <a:xfrm>
            <a:off x="2011680" y="5705856"/>
            <a:ext cx="1755648" cy="438912"/>
          </a:xfrm>
          <a:prstGeom prst="roundRect">
            <a:avLst/>
          </a:prstGeom>
          <a:solidFill>
            <a:srgbClr val="ECFDF5"/>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27432" bIns="27432"/>
          <a:lstStyle/>
          <a:p>
            <a:pPr algn="ctr">
              <a:spcBef>
                <a:spcPts val="0"/>
              </a:spcBef>
              <a:spcAft>
                <a:spcPts val="0"/>
              </a:spcAft>
            </a:pPr>
            <a:r>
              <a:rPr sz="900" b="1" i="0">
                <a:solidFill>
                  <a:srgbClr val="0B1E3B"/>
                </a:solidFill>
                <a:latin typeface="Calibri"/>
              </a:rPr>
              <a:t>Login (role-based)</a:t>
            </a:r>
          </a:p>
        </p:txBody>
      </p:sp>
      <p:cxnSp>
        <p:nvCxnSpPr>
          <p:cNvPr id="36" name="Connector 35"/>
          <p:cNvCxnSpPr/>
          <p:nvPr/>
        </p:nvCxnSpPr>
        <p:spPr>
          <a:xfrm>
            <a:off x="3767328" y="5925312"/>
            <a:ext cx="219456" cy="0"/>
          </a:xfrm>
          <a:prstGeom prst="line">
            <a:avLst/>
          </a:prstGeom>
          <a:ln w="19050">
            <a:solidFill>
              <a:srgbClr val="10B981"/>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37" name="Rounded Rectangle 36"/>
          <p:cNvSpPr/>
          <p:nvPr/>
        </p:nvSpPr>
        <p:spPr>
          <a:xfrm>
            <a:off x="3986784" y="5705856"/>
            <a:ext cx="1755648" cy="438912"/>
          </a:xfrm>
          <a:prstGeom prst="roundRect">
            <a:avLst/>
          </a:prstGeom>
          <a:solidFill>
            <a:srgbClr val="ECFDF5"/>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27432" bIns="27432"/>
          <a:lstStyle/>
          <a:p>
            <a:pPr algn="ctr">
              <a:spcBef>
                <a:spcPts val="0"/>
              </a:spcBef>
              <a:spcAft>
                <a:spcPts val="0"/>
              </a:spcAft>
            </a:pPr>
            <a:r>
              <a:rPr sz="900" b="1" i="0">
                <a:solidFill>
                  <a:srgbClr val="0B1E3B"/>
                </a:solidFill>
                <a:latin typeface="Calibri"/>
              </a:rPr>
              <a:t>Assign task</a:t>
            </a:r>
          </a:p>
        </p:txBody>
      </p:sp>
      <p:cxnSp>
        <p:nvCxnSpPr>
          <p:cNvPr id="38" name="Connector 37"/>
          <p:cNvCxnSpPr/>
          <p:nvPr/>
        </p:nvCxnSpPr>
        <p:spPr>
          <a:xfrm>
            <a:off x="5742432" y="5925312"/>
            <a:ext cx="219456" cy="0"/>
          </a:xfrm>
          <a:prstGeom prst="line">
            <a:avLst/>
          </a:prstGeom>
          <a:ln w="19050">
            <a:solidFill>
              <a:srgbClr val="10B981"/>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39" name="Rounded Rectangle 38"/>
          <p:cNvSpPr/>
          <p:nvPr/>
        </p:nvSpPr>
        <p:spPr>
          <a:xfrm>
            <a:off x="5961888" y="5705856"/>
            <a:ext cx="1755648" cy="438912"/>
          </a:xfrm>
          <a:prstGeom prst="roundRect">
            <a:avLst/>
          </a:prstGeom>
          <a:solidFill>
            <a:srgbClr val="ECFDF5"/>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27432" bIns="27432"/>
          <a:lstStyle/>
          <a:p>
            <a:pPr algn="ctr">
              <a:spcBef>
                <a:spcPts val="0"/>
              </a:spcBef>
              <a:spcAft>
                <a:spcPts val="0"/>
              </a:spcAft>
            </a:pPr>
            <a:r>
              <a:rPr sz="900" b="1" i="0">
                <a:solidFill>
                  <a:srgbClr val="0B1E3B"/>
                </a:solidFill>
                <a:latin typeface="Calibri"/>
              </a:rPr>
              <a:t>Auto notify + remind</a:t>
            </a:r>
          </a:p>
        </p:txBody>
      </p:sp>
      <p:cxnSp>
        <p:nvCxnSpPr>
          <p:cNvPr id="40" name="Connector 39"/>
          <p:cNvCxnSpPr/>
          <p:nvPr/>
        </p:nvCxnSpPr>
        <p:spPr>
          <a:xfrm>
            <a:off x="7717536" y="5925312"/>
            <a:ext cx="219456" cy="0"/>
          </a:xfrm>
          <a:prstGeom prst="line">
            <a:avLst/>
          </a:prstGeom>
          <a:ln w="19050">
            <a:solidFill>
              <a:srgbClr val="10B981"/>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41" name="Rounded Rectangle 40"/>
          <p:cNvSpPr/>
          <p:nvPr/>
        </p:nvSpPr>
        <p:spPr>
          <a:xfrm>
            <a:off x="7936992" y="5705856"/>
            <a:ext cx="1755648" cy="438912"/>
          </a:xfrm>
          <a:prstGeom prst="roundRect">
            <a:avLst/>
          </a:prstGeom>
          <a:solidFill>
            <a:srgbClr val="ECFDF5"/>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27432" bIns="27432"/>
          <a:lstStyle/>
          <a:p>
            <a:pPr algn="ctr">
              <a:spcBef>
                <a:spcPts val="0"/>
              </a:spcBef>
              <a:spcAft>
                <a:spcPts val="0"/>
              </a:spcAft>
            </a:pPr>
            <a:r>
              <a:rPr sz="900" b="1" i="0">
                <a:solidFill>
                  <a:srgbClr val="0B1E3B"/>
                </a:solidFill>
                <a:latin typeface="Calibri"/>
              </a:rPr>
              <a:t>Track progress live</a:t>
            </a:r>
          </a:p>
        </p:txBody>
      </p:sp>
      <p:cxnSp>
        <p:nvCxnSpPr>
          <p:cNvPr id="42" name="Connector 41"/>
          <p:cNvCxnSpPr/>
          <p:nvPr/>
        </p:nvCxnSpPr>
        <p:spPr>
          <a:xfrm>
            <a:off x="9692640" y="5925312"/>
            <a:ext cx="219456" cy="0"/>
          </a:xfrm>
          <a:prstGeom prst="line">
            <a:avLst/>
          </a:prstGeom>
          <a:ln w="19050">
            <a:solidFill>
              <a:srgbClr val="10B981"/>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43" name="Rounded Rectangle 42"/>
          <p:cNvSpPr/>
          <p:nvPr/>
        </p:nvSpPr>
        <p:spPr>
          <a:xfrm>
            <a:off x="9912096" y="5705856"/>
            <a:ext cx="1755648" cy="438912"/>
          </a:xfrm>
          <a:prstGeom prst="roundRect">
            <a:avLst/>
          </a:prstGeom>
          <a:solidFill>
            <a:srgbClr val="ECFDF5"/>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27432" bIns="27432"/>
          <a:lstStyle/>
          <a:p>
            <a:pPr algn="ctr">
              <a:spcBef>
                <a:spcPts val="0"/>
              </a:spcBef>
              <a:spcAft>
                <a:spcPts val="0"/>
              </a:spcAft>
            </a:pPr>
            <a:r>
              <a:rPr sz="900" b="1" i="0">
                <a:solidFill>
                  <a:srgbClr val="0B1E3B"/>
                </a:solidFill>
                <a:latin typeface="Calibri"/>
              </a:rPr>
              <a:t>One-click report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3F6FC"/>
        </a:solidFill>
        <a:effectLst/>
      </p:bgPr>
    </p:bg>
    <p:spTree>
      <p:nvGrpSpPr>
        <p:cNvPr id="1" name=""/>
        <p:cNvGrpSpPr/>
        <p:nvPr/>
      </p:nvGrpSpPr>
      <p:grpSpPr/>
      <p:sp>
        <p:nvSpPr>
          <p:cNvPr id="2" name="Rectangle 1"/>
          <p:cNvSpPr/>
          <p:nvPr/>
        </p:nvSpPr>
        <p:spPr>
          <a:xfrm>
            <a:off x="0" y="0"/>
            <a:ext cx="12191695" cy="1078992"/>
          </a:xfrm>
          <a:prstGeom prst="rect">
            <a:avLst/>
          </a:prstGeom>
          <a:solidFill>
            <a:srgbClr val="0B1E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78992"/>
            <a:ext cx="12191695" cy="411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411480" y="91440"/>
            <a:ext cx="10058400" cy="9144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27432" bIns="27432"/>
          <a:lstStyle/>
          <a:p>
            <a:pPr algn="l">
              <a:spcBef>
                <a:spcPts val="0"/>
              </a:spcBef>
              <a:spcAft>
                <a:spcPts val="100"/>
              </a:spcAft>
            </a:pPr>
            <a:r>
              <a:rPr sz="1050" b="1" i="0">
                <a:solidFill>
                  <a:srgbClr val="06B6D4"/>
                </a:solidFill>
                <a:latin typeface="Calibri"/>
              </a:rPr>
              <a:t>SLIDE 3</a:t>
            </a:r>
          </a:p>
          <a:p>
            <a:pPr algn="l">
              <a:spcBef>
                <a:spcPts val="0"/>
              </a:spcBef>
              <a:spcAft>
                <a:spcPts val="0"/>
              </a:spcAft>
            </a:pPr>
            <a:r>
              <a:rPr sz="2500" b="1" i="0">
                <a:solidFill>
                  <a:srgbClr val="FFFFFF"/>
                </a:solidFill>
                <a:latin typeface="Calibri"/>
              </a:rPr>
              <a:t>Problem Statement &amp; Objectives</a:t>
            </a:r>
          </a:p>
        </p:txBody>
      </p:sp>
      <p:sp>
        <p:nvSpPr>
          <p:cNvPr id="5" name="Rounded Rectangle 4"/>
          <p:cNvSpPr/>
          <p:nvPr/>
        </p:nvSpPr>
        <p:spPr>
          <a:xfrm>
            <a:off x="10972800" y="274320"/>
            <a:ext cx="822960" cy="512064"/>
          </a:xfrm>
          <a:prstGeom prst="roundRect">
            <a:avLst/>
          </a:prstGeom>
          <a:solidFill>
            <a:srgbClr val="143363"/>
          </a:solidFill>
          <a:ln w="15875">
            <a:solidFill>
              <a:srgbClr val="06B6D4"/>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spcBef>
                <a:spcPts val="0"/>
              </a:spcBef>
              <a:spcAft>
                <a:spcPts val="0"/>
              </a:spcAft>
            </a:pPr>
            <a:r>
              <a:rPr sz="1150" b="1" i="0">
                <a:solidFill>
                  <a:srgbClr val="FFFFFF"/>
                </a:solidFill>
                <a:latin typeface="Calibri"/>
              </a:rPr>
              <a:t>3 / 10</a:t>
            </a:r>
          </a:p>
        </p:txBody>
      </p:sp>
      <p:sp>
        <p:nvSpPr>
          <p:cNvPr id="6" name="Rectangle 5"/>
          <p:cNvSpPr/>
          <p:nvPr/>
        </p:nvSpPr>
        <p:spPr>
          <a:xfrm>
            <a:off x="411480" y="6446520"/>
            <a:ext cx="11365992" cy="29260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27432" bIns="27432"/>
          <a:lstStyle/>
          <a:p>
            <a:pPr algn="ctr">
              <a:spcAft>
                <a:spcPts val="0"/>
              </a:spcAft>
            </a:pPr>
            <a:r>
              <a:rPr sz="850">
                <a:solidFill>
                  <a:srgbClr val="64748B"/>
                </a:solidFill>
                <a:latin typeface="Calibri"/>
              </a:rPr>
              <a:t>HieraSync AI  •  Smart College Workflow &amp; Event Management System        </a:t>
            </a:r>
            <a:r>
              <a:rPr sz="850">
                <a:solidFill>
                  <a:srgbClr val="64748B"/>
                </a:solidFill>
                <a:latin typeface="Calibri"/>
              </a:rPr>
              <a:t>github.com/Atulgupta07/Hiera_Sync</a:t>
            </a:r>
          </a:p>
        </p:txBody>
      </p:sp>
      <p:sp>
        <p:nvSpPr>
          <p:cNvPr id="7" name="Rounded Rectangle 6"/>
          <p:cNvSpPr/>
          <p:nvPr/>
        </p:nvSpPr>
        <p:spPr>
          <a:xfrm>
            <a:off x="411480" y="1298448"/>
            <a:ext cx="11365992" cy="658368"/>
          </a:xfrm>
          <a:prstGeom prst="roundRect">
            <a:avLst/>
          </a:prstGeom>
          <a:solidFill>
            <a:srgbClr val="FFF7E6"/>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27432" bIns="27432"/>
          <a:lstStyle/>
          <a:p>
            <a:pPr algn="l">
              <a:spcAft>
                <a:spcPts val="0"/>
              </a:spcAft>
            </a:pPr>
            <a:r>
              <a:rPr sz="1250" b="1">
                <a:solidFill>
                  <a:srgbClr val="F59E0B"/>
                </a:solidFill>
                <a:latin typeface="Calibri"/>
              </a:rPr>
              <a:t>Problem Statement:  </a:t>
            </a:r>
            <a:r>
              <a:rPr sz="1250" b="0">
                <a:solidFill>
                  <a:srgbClr val="1E293B"/>
                </a:solidFill>
                <a:latin typeface="Calibri"/>
              </a:rPr>
              <a:t>College departments still run on notices, WhatsApp groups, registers and Excel sheets — so work is invisible, approvals are slow, deadlines are missed and every report has to be rebuilt by hand.</a:t>
            </a:r>
          </a:p>
        </p:txBody>
      </p:sp>
      <p:sp>
        <p:nvSpPr>
          <p:cNvPr id="8" name="Rounded Rectangle 7"/>
          <p:cNvSpPr/>
          <p:nvPr/>
        </p:nvSpPr>
        <p:spPr>
          <a:xfrm>
            <a:off x="411480" y="2084831"/>
            <a:ext cx="5577840" cy="4224528"/>
          </a:xfrm>
          <a:prstGeom prst="roundRect">
            <a:avLst/>
          </a:prstGeom>
          <a:solidFill>
            <a:srgbClr val="FFFFFF"/>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411480" y="2084831"/>
            <a:ext cx="77724" cy="4224528"/>
          </a:xfrm>
          <a:prstGeom prst="roundRect">
            <a:avLst/>
          </a:prstGeom>
          <a:solidFill>
            <a:srgbClr val="EF44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12648" y="2176272"/>
            <a:ext cx="5193792" cy="32918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27432" bIns="27432"/>
          <a:lstStyle/>
          <a:p>
            <a:pPr algn="l">
              <a:spcBef>
                <a:spcPts val="0"/>
              </a:spcBef>
              <a:spcAft>
                <a:spcPts val="0"/>
              </a:spcAft>
            </a:pPr>
            <a:r>
              <a:rPr sz="1300" b="1" i="0">
                <a:solidFill>
                  <a:srgbClr val="0B1E3B"/>
                </a:solidFill>
                <a:latin typeface="Calibri"/>
              </a:rPr>
              <a:t>Problems identified</a:t>
            </a:r>
          </a:p>
        </p:txBody>
      </p:sp>
      <p:sp>
        <p:nvSpPr>
          <p:cNvPr id="11" name="Rectangle 10"/>
          <p:cNvSpPr/>
          <p:nvPr/>
        </p:nvSpPr>
        <p:spPr>
          <a:xfrm>
            <a:off x="612648" y="2542032"/>
            <a:ext cx="5175503" cy="36576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27432" bIns="27432"/>
          <a:lstStyle/>
          <a:p>
            <a:pPr algn="l">
              <a:spcAft>
                <a:spcPts val="900"/>
              </a:spcAft>
            </a:pPr>
            <a:r>
              <a:rPr sz="1150" b="1">
                <a:solidFill>
                  <a:srgbClr val="EF4444"/>
                </a:solidFill>
                <a:latin typeface="Calibri"/>
              </a:rPr>
              <a:t>▪  </a:t>
            </a:r>
            <a:r>
              <a:rPr sz="1150" b="0">
                <a:solidFill>
                  <a:srgbClr val="1E293B"/>
                </a:solidFill>
                <a:latin typeface="Calibri"/>
              </a:rPr>
              <a:t>No single place to see who is doing what, and by when</a:t>
            </a:r>
          </a:p>
          <a:p>
            <a:pPr algn="l">
              <a:spcAft>
                <a:spcPts val="900"/>
              </a:spcAft>
            </a:pPr>
            <a:r>
              <a:rPr sz="1150" b="1">
                <a:solidFill>
                  <a:srgbClr val="EF4444"/>
                </a:solidFill>
                <a:latin typeface="Calibri"/>
              </a:rPr>
              <a:t>▪  </a:t>
            </a:r>
            <a:r>
              <a:rPr sz="1150" b="0">
                <a:solidFill>
                  <a:srgbClr val="1E293B"/>
                </a:solidFill>
                <a:latin typeface="Calibri"/>
              </a:rPr>
              <a:t>Approvals travel on paper or WhatsApp — no status, no trail</a:t>
            </a:r>
          </a:p>
          <a:p>
            <a:pPr algn="l">
              <a:spcAft>
                <a:spcPts val="900"/>
              </a:spcAft>
            </a:pPr>
            <a:r>
              <a:rPr sz="1150" b="1">
                <a:solidFill>
                  <a:srgbClr val="EF4444"/>
                </a:solidFill>
                <a:latin typeface="Calibri"/>
              </a:rPr>
              <a:t>▪  </a:t>
            </a:r>
            <a:r>
              <a:rPr sz="1150" b="0">
                <a:solidFill>
                  <a:srgbClr val="1E293B"/>
                </a:solidFill>
                <a:latin typeface="Calibri"/>
              </a:rPr>
              <a:t>Deadlines are missed because every reminder is manual</a:t>
            </a:r>
          </a:p>
          <a:p>
            <a:pPr algn="l">
              <a:spcAft>
                <a:spcPts val="900"/>
              </a:spcAft>
            </a:pPr>
            <a:r>
              <a:rPr sz="1150" b="1">
                <a:solidFill>
                  <a:srgbClr val="EF4444"/>
                </a:solidFill>
                <a:latin typeface="Calibri"/>
              </a:rPr>
              <a:t>▪  </a:t>
            </a:r>
            <a:r>
              <a:rPr sz="1150" b="0">
                <a:solidFill>
                  <a:srgbClr val="1E293B"/>
                </a:solidFill>
                <a:latin typeface="Calibri"/>
              </a:rPr>
              <a:t>The academic calendar is a PDF that nobody re-reads</a:t>
            </a:r>
          </a:p>
          <a:p>
            <a:pPr algn="l">
              <a:spcAft>
                <a:spcPts val="900"/>
              </a:spcAft>
            </a:pPr>
            <a:r>
              <a:rPr sz="1150" b="1">
                <a:solidFill>
                  <a:srgbClr val="EF4444"/>
                </a:solidFill>
                <a:latin typeface="Calibri"/>
              </a:rPr>
              <a:t>▪  </a:t>
            </a:r>
            <a:r>
              <a:rPr sz="1150" b="0">
                <a:solidFill>
                  <a:srgbClr val="1E293B"/>
                </a:solidFill>
                <a:latin typeface="Calibri"/>
              </a:rPr>
              <a:t>NAAC / NBA reports are re-created by hand every time</a:t>
            </a:r>
          </a:p>
          <a:p>
            <a:pPr algn="l">
              <a:spcAft>
                <a:spcPts val="900"/>
              </a:spcAft>
            </a:pPr>
            <a:r>
              <a:rPr sz="1150" b="1">
                <a:solidFill>
                  <a:srgbClr val="EF4444"/>
                </a:solidFill>
                <a:latin typeface="Calibri"/>
              </a:rPr>
              <a:t>▪  </a:t>
            </a:r>
            <a:r>
              <a:rPr sz="1150" b="0">
                <a:solidFill>
                  <a:srgbClr val="1E293B"/>
                </a:solidFill>
                <a:latin typeface="Calibri"/>
              </a:rPr>
              <a:t>Faculty workload is invisible, so work is unevenly divided</a:t>
            </a:r>
          </a:p>
          <a:p>
            <a:pPr algn="l">
              <a:spcAft>
                <a:spcPts val="900"/>
              </a:spcAft>
            </a:pPr>
            <a:r>
              <a:rPr sz="1150" b="1">
                <a:solidFill>
                  <a:srgbClr val="EF4444"/>
                </a:solidFill>
                <a:latin typeface="Calibri"/>
              </a:rPr>
              <a:t>▪  </a:t>
            </a:r>
            <a:r>
              <a:rPr sz="1150" b="0">
                <a:solidFill>
                  <a:srgbClr val="1E293B"/>
                </a:solidFill>
                <a:latin typeface="Calibri"/>
              </a:rPr>
              <a:t>Files, proofs and discussions are scattered across chats</a:t>
            </a:r>
          </a:p>
          <a:p>
            <a:pPr algn="l">
              <a:spcAft>
                <a:spcPts val="900"/>
              </a:spcAft>
            </a:pPr>
            <a:r>
              <a:rPr sz="1150" b="1">
                <a:solidFill>
                  <a:srgbClr val="EF4444"/>
                </a:solidFill>
                <a:latin typeface="Calibri"/>
              </a:rPr>
              <a:t>▪  </a:t>
            </a:r>
            <a:r>
              <a:rPr sz="1150" b="0">
                <a:solidFill>
                  <a:srgbClr val="1E293B"/>
                </a:solidFill>
                <a:latin typeface="Calibri"/>
              </a:rPr>
              <a:t>New faculty have no record of past activities</a:t>
            </a:r>
          </a:p>
        </p:txBody>
      </p:sp>
      <p:sp>
        <p:nvSpPr>
          <p:cNvPr id="12" name="Rounded Rectangle 11"/>
          <p:cNvSpPr/>
          <p:nvPr/>
        </p:nvSpPr>
        <p:spPr>
          <a:xfrm>
            <a:off x="6199632" y="2084831"/>
            <a:ext cx="5577840" cy="4224528"/>
          </a:xfrm>
          <a:prstGeom prst="roundRect">
            <a:avLst/>
          </a:prstGeom>
          <a:solidFill>
            <a:srgbClr val="FFFFFF"/>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199632" y="2084831"/>
            <a:ext cx="77724" cy="4224528"/>
          </a:xfrm>
          <a:prstGeom prst="round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400800" y="2176272"/>
            <a:ext cx="5193792" cy="32918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27432" bIns="27432"/>
          <a:lstStyle/>
          <a:p>
            <a:pPr algn="l">
              <a:spcBef>
                <a:spcPts val="0"/>
              </a:spcBef>
              <a:spcAft>
                <a:spcPts val="0"/>
              </a:spcAft>
            </a:pPr>
            <a:r>
              <a:rPr sz="1300" b="1" i="0">
                <a:solidFill>
                  <a:srgbClr val="0B1E3B"/>
                </a:solidFill>
                <a:latin typeface="Calibri"/>
              </a:rPr>
              <a:t>Objectives of the project</a:t>
            </a:r>
          </a:p>
        </p:txBody>
      </p:sp>
      <p:sp>
        <p:nvSpPr>
          <p:cNvPr id="15" name="Rectangle 14"/>
          <p:cNvSpPr/>
          <p:nvPr/>
        </p:nvSpPr>
        <p:spPr>
          <a:xfrm>
            <a:off x="6400800" y="2542032"/>
            <a:ext cx="5175503" cy="36576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27432" bIns="27432"/>
          <a:lstStyle/>
          <a:p>
            <a:pPr algn="l">
              <a:spcAft>
                <a:spcPts val="900"/>
              </a:spcAft>
            </a:pPr>
            <a:r>
              <a:rPr sz="1150" b="1">
                <a:solidFill>
                  <a:srgbClr val="10B981"/>
                </a:solidFill>
                <a:latin typeface="Calibri"/>
              </a:rPr>
              <a:t/>
            </a:r>
            <a:r>
              <a:rPr sz="1150" b="1">
                <a:solidFill>
                  <a:srgbClr val="0B1E3B"/>
                </a:solidFill>
                <a:latin typeface="Calibri"/>
              </a:rPr>
              <a:t>1. </a:t>
            </a:r>
            <a:r>
              <a:rPr sz="1150" b="0">
                <a:solidFill>
                  <a:srgbClr val="1E293B"/>
                </a:solidFill>
                <a:latin typeface="Calibri"/>
              </a:rPr>
              <a:t>Build one secure, role-based platform for the whole hierarchy</a:t>
            </a:r>
          </a:p>
          <a:p>
            <a:pPr algn="l">
              <a:spcAft>
                <a:spcPts val="900"/>
              </a:spcAft>
            </a:pPr>
            <a:r>
              <a:rPr sz="1150" b="1">
                <a:solidFill>
                  <a:srgbClr val="10B981"/>
                </a:solidFill>
                <a:latin typeface="Calibri"/>
              </a:rPr>
              <a:t/>
            </a:r>
            <a:r>
              <a:rPr sz="1150" b="1">
                <a:solidFill>
                  <a:srgbClr val="0B1E3B"/>
                </a:solidFill>
                <a:latin typeface="Calibri"/>
              </a:rPr>
              <a:t>2. </a:t>
            </a:r>
            <a:r>
              <a:rPr sz="1150" b="0">
                <a:solidFill>
                  <a:srgbClr val="1E293B"/>
                </a:solidFill>
                <a:latin typeface="Calibri"/>
              </a:rPr>
              <a:t>Digitise task assignment with deadline, priority, progress &amp; proof</a:t>
            </a:r>
          </a:p>
          <a:p>
            <a:pPr algn="l">
              <a:spcAft>
                <a:spcPts val="900"/>
              </a:spcAft>
            </a:pPr>
            <a:r>
              <a:rPr sz="1150" b="1">
                <a:solidFill>
                  <a:srgbClr val="10B981"/>
                </a:solidFill>
                <a:latin typeface="Calibri"/>
              </a:rPr>
              <a:t/>
            </a:r>
            <a:r>
              <a:rPr sz="1150" b="1">
                <a:solidFill>
                  <a:srgbClr val="0B1E3B"/>
                </a:solidFill>
                <a:latin typeface="Calibri"/>
              </a:rPr>
              <a:t>3. </a:t>
            </a:r>
            <a:r>
              <a:rPr sz="1150" b="0">
                <a:solidFill>
                  <a:srgbClr val="1E293B"/>
                </a:solidFill>
                <a:latin typeface="Calibri"/>
              </a:rPr>
              <a:t>Automate a two-stage approval workflow (HOD → Principal)</a:t>
            </a:r>
          </a:p>
          <a:p>
            <a:pPr algn="l">
              <a:spcAft>
                <a:spcPts val="900"/>
              </a:spcAft>
            </a:pPr>
            <a:r>
              <a:rPr sz="1150" b="1">
                <a:solidFill>
                  <a:srgbClr val="10B981"/>
                </a:solidFill>
                <a:latin typeface="Calibri"/>
              </a:rPr>
              <a:t/>
            </a:r>
            <a:r>
              <a:rPr sz="1150" b="1">
                <a:solidFill>
                  <a:srgbClr val="0B1E3B"/>
                </a:solidFill>
                <a:latin typeface="Calibri"/>
              </a:rPr>
              <a:t>4. </a:t>
            </a:r>
            <a:r>
              <a:rPr sz="1150" b="0">
                <a:solidFill>
                  <a:srgbClr val="1E293B"/>
                </a:solidFill>
                <a:latin typeface="Calibri"/>
              </a:rPr>
              <a:t>Send reminders automatically — in-app and on WhatsApp</a:t>
            </a:r>
          </a:p>
          <a:p>
            <a:pPr algn="l">
              <a:spcAft>
                <a:spcPts val="900"/>
              </a:spcAft>
            </a:pPr>
            <a:r>
              <a:rPr sz="1150" b="1">
                <a:solidFill>
                  <a:srgbClr val="10B981"/>
                </a:solidFill>
                <a:latin typeface="Calibri"/>
              </a:rPr>
              <a:t/>
            </a:r>
            <a:r>
              <a:rPr sz="1150" b="1">
                <a:solidFill>
                  <a:srgbClr val="0B1E3B"/>
                </a:solidFill>
                <a:latin typeface="Calibri"/>
              </a:rPr>
              <a:t>5. </a:t>
            </a:r>
            <a:r>
              <a:rPr sz="1150" b="0">
                <a:solidFill>
                  <a:srgbClr val="1E293B"/>
                </a:solidFill>
                <a:latin typeface="Calibri"/>
              </a:rPr>
              <a:t>Convert uploaded academic-calendar files into events using AI</a:t>
            </a:r>
          </a:p>
          <a:p>
            <a:pPr algn="l">
              <a:spcAft>
                <a:spcPts val="900"/>
              </a:spcAft>
            </a:pPr>
            <a:r>
              <a:rPr sz="1150" b="1">
                <a:solidFill>
                  <a:srgbClr val="10B981"/>
                </a:solidFill>
                <a:latin typeface="Calibri"/>
              </a:rPr>
              <a:t/>
            </a:r>
            <a:r>
              <a:rPr sz="1150" b="1">
                <a:solidFill>
                  <a:srgbClr val="0B1E3B"/>
                </a:solidFill>
                <a:latin typeface="Calibri"/>
              </a:rPr>
              <a:t>6. </a:t>
            </a:r>
            <a:r>
              <a:rPr sz="1150" b="0">
                <a:solidFill>
                  <a:srgbClr val="1E293B"/>
                </a:solidFill>
                <a:latin typeface="Calibri"/>
              </a:rPr>
              <a:t>Provide an AI assistant that answers from live department data</a:t>
            </a:r>
          </a:p>
          <a:p>
            <a:pPr algn="l">
              <a:spcAft>
                <a:spcPts val="900"/>
              </a:spcAft>
            </a:pPr>
            <a:r>
              <a:rPr sz="1150" b="1">
                <a:solidFill>
                  <a:srgbClr val="10B981"/>
                </a:solidFill>
                <a:latin typeface="Calibri"/>
              </a:rPr>
              <a:t/>
            </a:r>
            <a:r>
              <a:rPr sz="1150" b="1">
                <a:solidFill>
                  <a:srgbClr val="0B1E3B"/>
                </a:solidFill>
                <a:latin typeface="Calibri"/>
              </a:rPr>
              <a:t>7. </a:t>
            </a:r>
            <a:r>
              <a:rPr sz="1150" b="0">
                <a:solidFill>
                  <a:srgbClr val="1E293B"/>
                </a:solidFill>
                <a:latin typeface="Calibri"/>
              </a:rPr>
              <a:t>Warn about risky deadlines before they are actually missed</a:t>
            </a:r>
          </a:p>
          <a:p>
            <a:pPr algn="l">
              <a:spcAft>
                <a:spcPts val="900"/>
              </a:spcAft>
            </a:pPr>
            <a:r>
              <a:rPr sz="1150" b="1">
                <a:solidFill>
                  <a:srgbClr val="10B981"/>
                </a:solidFill>
                <a:latin typeface="Calibri"/>
              </a:rPr>
              <a:t/>
            </a:r>
            <a:r>
              <a:rPr sz="1150" b="1">
                <a:solidFill>
                  <a:srgbClr val="0B1E3B"/>
                </a:solidFill>
                <a:latin typeface="Calibri"/>
              </a:rPr>
              <a:t>8. </a:t>
            </a:r>
            <a:r>
              <a:rPr sz="1150" b="0">
                <a:solidFill>
                  <a:srgbClr val="1E293B"/>
                </a:solidFill>
                <a:latin typeface="Calibri"/>
              </a:rPr>
              <a:t>Generate dashboards, analytics and exportable reports in one click</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3F6FC"/>
        </a:solidFill>
        <a:effectLst/>
      </p:bgPr>
    </p:bg>
    <p:spTree>
      <p:nvGrpSpPr>
        <p:cNvPr id="1" name=""/>
        <p:cNvGrpSpPr/>
        <p:nvPr/>
      </p:nvGrpSpPr>
      <p:grpSpPr/>
      <p:sp>
        <p:nvSpPr>
          <p:cNvPr id="2" name="Rectangle 1"/>
          <p:cNvSpPr/>
          <p:nvPr/>
        </p:nvSpPr>
        <p:spPr>
          <a:xfrm>
            <a:off x="0" y="0"/>
            <a:ext cx="12191695" cy="1078992"/>
          </a:xfrm>
          <a:prstGeom prst="rect">
            <a:avLst/>
          </a:prstGeom>
          <a:solidFill>
            <a:srgbClr val="0B1E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78992"/>
            <a:ext cx="12191695" cy="411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411480" y="91440"/>
            <a:ext cx="10058400" cy="9144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27432" bIns="27432"/>
          <a:lstStyle/>
          <a:p>
            <a:pPr algn="l">
              <a:spcBef>
                <a:spcPts val="0"/>
              </a:spcBef>
              <a:spcAft>
                <a:spcPts val="100"/>
              </a:spcAft>
            </a:pPr>
            <a:r>
              <a:rPr sz="1050" b="1" i="0">
                <a:solidFill>
                  <a:srgbClr val="06B6D4"/>
                </a:solidFill>
                <a:latin typeface="Calibri"/>
              </a:rPr>
              <a:t>SLIDE 4</a:t>
            </a:r>
          </a:p>
          <a:p>
            <a:pPr algn="l">
              <a:spcBef>
                <a:spcPts val="0"/>
              </a:spcBef>
              <a:spcAft>
                <a:spcPts val="0"/>
              </a:spcAft>
            </a:pPr>
            <a:r>
              <a:rPr sz="2500" b="1" i="0">
                <a:solidFill>
                  <a:srgbClr val="FFFFFF"/>
                </a:solidFill>
                <a:latin typeface="Calibri"/>
              </a:rPr>
              <a:t>Literature Survey</a:t>
            </a:r>
          </a:p>
        </p:txBody>
      </p:sp>
      <p:sp>
        <p:nvSpPr>
          <p:cNvPr id="5" name="Rounded Rectangle 4"/>
          <p:cNvSpPr/>
          <p:nvPr/>
        </p:nvSpPr>
        <p:spPr>
          <a:xfrm>
            <a:off x="10972800" y="274320"/>
            <a:ext cx="822960" cy="512064"/>
          </a:xfrm>
          <a:prstGeom prst="roundRect">
            <a:avLst/>
          </a:prstGeom>
          <a:solidFill>
            <a:srgbClr val="143363"/>
          </a:solidFill>
          <a:ln w="15875">
            <a:solidFill>
              <a:srgbClr val="06B6D4"/>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spcBef>
                <a:spcPts val="0"/>
              </a:spcBef>
              <a:spcAft>
                <a:spcPts val="0"/>
              </a:spcAft>
            </a:pPr>
            <a:r>
              <a:rPr sz="1150" b="1" i="0">
                <a:solidFill>
                  <a:srgbClr val="FFFFFF"/>
                </a:solidFill>
                <a:latin typeface="Calibri"/>
              </a:rPr>
              <a:t>4 / 10</a:t>
            </a:r>
          </a:p>
        </p:txBody>
      </p:sp>
      <p:sp>
        <p:nvSpPr>
          <p:cNvPr id="6" name="Rectangle 5"/>
          <p:cNvSpPr/>
          <p:nvPr/>
        </p:nvSpPr>
        <p:spPr>
          <a:xfrm>
            <a:off x="411480" y="6446520"/>
            <a:ext cx="11365992" cy="29260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27432" bIns="27432"/>
          <a:lstStyle/>
          <a:p>
            <a:pPr algn="ctr">
              <a:spcAft>
                <a:spcPts val="0"/>
              </a:spcAft>
            </a:pPr>
            <a:r>
              <a:rPr sz="850">
                <a:solidFill>
                  <a:srgbClr val="64748B"/>
                </a:solidFill>
                <a:latin typeface="Calibri"/>
              </a:rPr>
              <a:t>HieraSync AI  •  Smart College Workflow &amp; Event Management System        </a:t>
            </a:r>
            <a:r>
              <a:rPr sz="850">
                <a:solidFill>
                  <a:srgbClr val="64748B"/>
                </a:solidFill>
                <a:latin typeface="Calibri"/>
              </a:rPr>
              <a:t>github.com/Atulgupta07/Hiera_Sync</a:t>
            </a:r>
          </a:p>
        </p:txBody>
      </p:sp>
      <p:sp>
        <p:nvSpPr>
          <p:cNvPr id="7" name="Rounded Rectangle 6"/>
          <p:cNvSpPr/>
          <p:nvPr/>
        </p:nvSpPr>
        <p:spPr>
          <a:xfrm>
            <a:off x="411480" y="1280160"/>
            <a:ext cx="11365992" cy="548640"/>
          </a:xfrm>
          <a:prstGeom prst="roundRect">
            <a:avLst/>
          </a:prstGeom>
          <a:solidFill>
            <a:srgbClr val="EEF2FF"/>
          </a:solidFill>
          <a:ln w="12700">
            <a:solidFill>
              <a:srgbClr val="4F46E5"/>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27432" bIns="27432"/>
          <a:lstStyle/>
          <a:p>
            <a:pPr algn="l">
              <a:spcBef>
                <a:spcPts val="0"/>
              </a:spcBef>
              <a:spcAft>
                <a:spcPts val="0"/>
              </a:spcAft>
            </a:pPr>
            <a:r>
              <a:rPr sz="1200" b="0" i="0">
                <a:solidFill>
                  <a:srgbClr val="1E293B"/>
                </a:solidFill>
                <a:latin typeface="Calibri"/>
              </a:rPr>
              <a:t>We studied the systems a college department already uses. Each one solves a part of the problem — none of them covers a department end-to-end.</a:t>
            </a:r>
          </a:p>
        </p:txBody>
      </p:sp>
      <p:graphicFrame>
        <p:nvGraphicFramePr>
          <p:cNvPr id="8" name="Table 7"/>
          <p:cNvGraphicFramePr>
            <a:graphicFrameLocks noGrp="1"/>
          </p:cNvGraphicFramePr>
          <p:nvPr/>
        </p:nvGraphicFramePr>
        <p:xfrm>
          <a:off x="411480" y="1956816"/>
          <a:ext cx="11365992" cy="3913632"/>
        </p:xfrm>
        <a:graphic>
          <a:graphicData uri="http://schemas.openxmlformats.org/drawingml/2006/table">
            <a:tbl>
              <a:tblPr>
                <a:tableStyleId>{5C22544A-7EE6-4342-B048-85BDC9FD1C3A}</a:tableStyleId>
              </a:tblPr>
              <a:tblGrid>
                <a:gridCol w="2148840"/>
                <a:gridCol w="2514600"/>
                <a:gridCol w="3429000"/>
                <a:gridCol w="3273552"/>
              </a:tblGrid>
              <a:tr h="652272">
                <a:tc>
                  <a:txBody>
                    <a:bodyPr/>
                    <a:lstStyle/>
                    <a:p>
                      <a:pPr>
                        <a:spcBef>
                          <a:spcPts val="100"/>
                        </a:spcBef>
                        <a:spcAft>
                          <a:spcPts val="100"/>
                        </a:spcAft>
                      </a:pPr>
                      <a:r>
                        <a:rPr sz="1050" b="1">
                          <a:solidFill>
                            <a:srgbClr val="FFFFFF"/>
                          </a:solidFill>
                          <a:latin typeface="Calibri"/>
                        </a:rPr>
                        <a:t>Existing approach</a:t>
                      </a:r>
                    </a:p>
                  </a:txBody>
                  <a:tcPr anchor="ctr" marL="64008" marR="64008" marT="18288" marB="18288">
                    <a:solidFill>
                      <a:srgbClr val="0B1E3B"/>
                    </a:solidFill>
                    <a:lnL w="12700">
                      <a:solidFill>
                        <a:srgbClr val="CBD5E1"/>
                      </a:solidFill>
                    </a:lnL>
                    <a:lnR w="12700">
                      <a:solidFill>
                        <a:srgbClr val="CBD5E1"/>
                      </a:solidFill>
                    </a:lnR>
                    <a:lnT w="12700">
                      <a:solidFill>
                        <a:srgbClr val="CBD5E1"/>
                      </a:solidFill>
                    </a:lnT>
                    <a:lnB w="12700">
                      <a:solidFill>
                        <a:srgbClr val="CBD5E1"/>
                      </a:solidFill>
                    </a:lnB>
                  </a:tcPr>
                </a:tc>
                <a:tc>
                  <a:txBody>
                    <a:bodyPr/>
                    <a:lstStyle/>
                    <a:p>
                      <a:pPr>
                        <a:spcBef>
                          <a:spcPts val="100"/>
                        </a:spcBef>
                        <a:spcAft>
                          <a:spcPts val="100"/>
                        </a:spcAft>
                      </a:pPr>
                      <a:r>
                        <a:rPr sz="1050" b="1">
                          <a:solidFill>
                            <a:srgbClr val="FFFFFF"/>
                          </a:solidFill>
                          <a:latin typeface="Calibri"/>
                        </a:rPr>
                        <a:t>What it does well</a:t>
                      </a:r>
                    </a:p>
                  </a:txBody>
                  <a:tcPr anchor="ctr" marL="64008" marR="64008" marT="18288" marB="18288">
                    <a:solidFill>
                      <a:srgbClr val="0B1E3B"/>
                    </a:solidFill>
                    <a:lnL w="12700">
                      <a:solidFill>
                        <a:srgbClr val="CBD5E1"/>
                      </a:solidFill>
                    </a:lnL>
                    <a:lnR w="12700">
                      <a:solidFill>
                        <a:srgbClr val="CBD5E1"/>
                      </a:solidFill>
                    </a:lnR>
                    <a:lnT w="12700">
                      <a:solidFill>
                        <a:srgbClr val="CBD5E1"/>
                      </a:solidFill>
                    </a:lnT>
                    <a:lnB w="12700">
                      <a:solidFill>
                        <a:srgbClr val="CBD5E1"/>
                      </a:solidFill>
                    </a:lnB>
                  </a:tcPr>
                </a:tc>
                <a:tc>
                  <a:txBody>
                    <a:bodyPr/>
                    <a:lstStyle/>
                    <a:p>
                      <a:pPr>
                        <a:spcBef>
                          <a:spcPts val="100"/>
                        </a:spcBef>
                        <a:spcAft>
                          <a:spcPts val="100"/>
                        </a:spcAft>
                      </a:pPr>
                      <a:r>
                        <a:rPr sz="1050" b="1">
                          <a:solidFill>
                            <a:srgbClr val="FFFFFF"/>
                          </a:solidFill>
                          <a:latin typeface="Calibri"/>
                        </a:rPr>
                        <a:t>Limitation for a department</a:t>
                      </a:r>
                    </a:p>
                  </a:txBody>
                  <a:tcPr anchor="ctr" marL="64008" marR="64008" marT="18288" marB="18288">
                    <a:solidFill>
                      <a:srgbClr val="0B1E3B"/>
                    </a:solidFill>
                    <a:lnL w="12700">
                      <a:solidFill>
                        <a:srgbClr val="CBD5E1"/>
                      </a:solidFill>
                    </a:lnL>
                    <a:lnR w="12700">
                      <a:solidFill>
                        <a:srgbClr val="CBD5E1"/>
                      </a:solidFill>
                    </a:lnR>
                    <a:lnT w="12700">
                      <a:solidFill>
                        <a:srgbClr val="CBD5E1"/>
                      </a:solidFill>
                    </a:lnT>
                    <a:lnB w="12700">
                      <a:solidFill>
                        <a:srgbClr val="CBD5E1"/>
                      </a:solidFill>
                    </a:lnB>
                  </a:tcPr>
                </a:tc>
                <a:tc>
                  <a:txBody>
                    <a:bodyPr/>
                    <a:lstStyle/>
                    <a:p>
                      <a:pPr>
                        <a:spcBef>
                          <a:spcPts val="100"/>
                        </a:spcBef>
                        <a:spcAft>
                          <a:spcPts val="100"/>
                        </a:spcAft>
                      </a:pPr>
                      <a:r>
                        <a:rPr sz="1050" b="1">
                          <a:solidFill>
                            <a:srgbClr val="FFFFFF"/>
                          </a:solidFill>
                          <a:latin typeface="Calibri"/>
                        </a:rPr>
                        <a:t>HieraSync AI answer</a:t>
                      </a:r>
                    </a:p>
                  </a:txBody>
                  <a:tcPr anchor="ctr" marL="64008" marR="64008" marT="18288" marB="18288">
                    <a:solidFill>
                      <a:srgbClr val="0B1E3B"/>
                    </a:solidFill>
                    <a:lnL w="12700">
                      <a:solidFill>
                        <a:srgbClr val="CBD5E1"/>
                      </a:solidFill>
                    </a:lnL>
                    <a:lnR w="12700">
                      <a:solidFill>
                        <a:srgbClr val="CBD5E1"/>
                      </a:solidFill>
                    </a:lnR>
                    <a:lnT w="12700">
                      <a:solidFill>
                        <a:srgbClr val="CBD5E1"/>
                      </a:solidFill>
                    </a:lnT>
                    <a:lnB w="12700">
                      <a:solidFill>
                        <a:srgbClr val="CBD5E1"/>
                      </a:solidFill>
                    </a:lnB>
                  </a:tcPr>
                </a:tc>
              </a:tr>
              <a:tr h="652272">
                <a:tc>
                  <a:txBody>
                    <a:bodyPr/>
                    <a:lstStyle/>
                    <a:p>
                      <a:pPr>
                        <a:spcBef>
                          <a:spcPts val="100"/>
                        </a:spcBef>
                        <a:spcAft>
                          <a:spcPts val="100"/>
                        </a:spcAft>
                      </a:pPr>
                      <a:r>
                        <a:rPr sz="950" b="1">
                          <a:solidFill>
                            <a:srgbClr val="1E293B"/>
                          </a:solidFill>
                          <a:latin typeface="Calibri"/>
                        </a:rPr>
                        <a:t>Registers, notices &amp;</a:t>
                      </a:r>
                    </a:p>
                    <a:p>
                      <a:pPr>
                        <a:spcBef>
                          <a:spcPts val="100"/>
                        </a:spcBef>
                        <a:spcAft>
                          <a:spcPts val="100"/>
                        </a:spcAft>
                      </a:pPr>
                      <a:r>
                        <a:rPr sz="950" b="1">
                          <a:solidFill>
                            <a:srgbClr val="1E293B"/>
                          </a:solidFill>
                          <a:latin typeface="Calibri"/>
                        </a:rPr>
                        <a:t>WhatsApp groups</a:t>
                      </a:r>
                    </a:p>
                  </a:txBody>
                  <a:tcPr anchor="ctr" marL="64008" marR="64008" marT="18288" marB="18288">
                    <a:solidFill>
                      <a:srgbClr val="FFFFFF"/>
                    </a:solidFill>
                    <a:lnL w="12700">
                      <a:solidFill>
                        <a:srgbClr val="CBD5E1"/>
                      </a:solidFill>
                    </a:lnL>
                    <a:lnR w="12700">
                      <a:solidFill>
                        <a:srgbClr val="CBD5E1"/>
                      </a:solidFill>
                    </a:lnR>
                    <a:lnT w="12700">
                      <a:solidFill>
                        <a:srgbClr val="CBD5E1"/>
                      </a:solidFill>
                    </a:lnT>
                    <a:lnB w="12700">
                      <a:solidFill>
                        <a:srgbClr val="CBD5E1"/>
                      </a:solidFill>
                    </a:lnB>
                  </a:tcPr>
                </a:tc>
                <a:tc>
                  <a:txBody>
                    <a:bodyPr/>
                    <a:lstStyle/>
                    <a:p>
                      <a:pPr>
                        <a:spcBef>
                          <a:spcPts val="100"/>
                        </a:spcBef>
                        <a:spcAft>
                          <a:spcPts val="100"/>
                        </a:spcAft>
                      </a:pPr>
                      <a:r>
                        <a:rPr sz="950" b="0">
                          <a:solidFill>
                            <a:srgbClr val="1E293B"/>
                          </a:solidFill>
                          <a:latin typeface="Calibri"/>
                        </a:rPr>
                        <a:t>Zero cost, everyone already</a:t>
                      </a:r>
                    </a:p>
                    <a:p>
                      <a:pPr>
                        <a:spcBef>
                          <a:spcPts val="100"/>
                        </a:spcBef>
                        <a:spcAft>
                          <a:spcPts val="100"/>
                        </a:spcAft>
                      </a:pPr>
                      <a:r>
                        <a:rPr sz="950" b="0">
                          <a:solidFill>
                            <a:srgbClr val="1E293B"/>
                          </a:solidFill>
                          <a:latin typeface="Calibri"/>
                        </a:rPr>
                        <a:t>knows how to use it</a:t>
                      </a:r>
                    </a:p>
                  </a:txBody>
                  <a:tcPr anchor="ctr" marL="64008" marR="64008" marT="18288" marB="18288">
                    <a:solidFill>
                      <a:srgbClr val="FFFFFF"/>
                    </a:solidFill>
                    <a:lnL w="12700">
                      <a:solidFill>
                        <a:srgbClr val="CBD5E1"/>
                      </a:solidFill>
                    </a:lnL>
                    <a:lnR w="12700">
                      <a:solidFill>
                        <a:srgbClr val="CBD5E1"/>
                      </a:solidFill>
                    </a:lnR>
                    <a:lnT w="12700">
                      <a:solidFill>
                        <a:srgbClr val="CBD5E1"/>
                      </a:solidFill>
                    </a:lnT>
                    <a:lnB w="12700">
                      <a:solidFill>
                        <a:srgbClr val="CBD5E1"/>
                      </a:solidFill>
                    </a:lnB>
                  </a:tcPr>
                </a:tc>
                <a:tc>
                  <a:txBody>
                    <a:bodyPr/>
                    <a:lstStyle/>
                    <a:p>
                      <a:pPr>
                        <a:spcBef>
                          <a:spcPts val="100"/>
                        </a:spcBef>
                        <a:spcAft>
                          <a:spcPts val="100"/>
                        </a:spcAft>
                      </a:pPr>
                      <a:r>
                        <a:rPr sz="950" b="0">
                          <a:solidFill>
                            <a:srgbClr val="1E293B"/>
                          </a:solidFill>
                          <a:latin typeface="Calibri"/>
                        </a:rPr>
                        <a:t>No tracking, no history, no reports;</a:t>
                      </a:r>
                    </a:p>
                    <a:p>
                      <a:pPr>
                        <a:spcBef>
                          <a:spcPts val="100"/>
                        </a:spcBef>
                        <a:spcAft>
                          <a:spcPts val="100"/>
                        </a:spcAft>
                      </a:pPr>
                      <a:r>
                        <a:rPr sz="950" b="0">
                          <a:solidFill>
                            <a:srgbClr val="1E293B"/>
                          </a:solidFill>
                          <a:latin typeface="Calibri"/>
                        </a:rPr>
                        <a:t>information is lost in chat</a:t>
                      </a:r>
                    </a:p>
                  </a:txBody>
                  <a:tcPr anchor="ctr" marL="64008" marR="64008" marT="18288" marB="18288">
                    <a:solidFill>
                      <a:srgbClr val="FFFFFF"/>
                    </a:solidFill>
                    <a:lnL w="12700">
                      <a:solidFill>
                        <a:srgbClr val="CBD5E1"/>
                      </a:solidFill>
                    </a:lnL>
                    <a:lnR w="12700">
                      <a:solidFill>
                        <a:srgbClr val="CBD5E1"/>
                      </a:solidFill>
                    </a:lnR>
                    <a:lnT w="12700">
                      <a:solidFill>
                        <a:srgbClr val="CBD5E1"/>
                      </a:solidFill>
                    </a:lnT>
                    <a:lnB w="12700">
                      <a:solidFill>
                        <a:srgbClr val="CBD5E1"/>
                      </a:solidFill>
                    </a:lnB>
                  </a:tcPr>
                </a:tc>
                <a:tc>
                  <a:txBody>
                    <a:bodyPr/>
                    <a:lstStyle/>
                    <a:p>
                      <a:pPr>
                        <a:spcBef>
                          <a:spcPts val="100"/>
                        </a:spcBef>
                        <a:spcAft>
                          <a:spcPts val="100"/>
                        </a:spcAft>
                      </a:pPr>
                      <a:r>
                        <a:rPr sz="950" b="0">
                          <a:solidFill>
                            <a:srgbClr val="1E293B"/>
                          </a:solidFill>
                          <a:latin typeface="Calibri"/>
                        </a:rPr>
                        <a:t>Same simplicity, but every action is</a:t>
                      </a:r>
                    </a:p>
                    <a:p>
                      <a:pPr>
                        <a:spcBef>
                          <a:spcPts val="100"/>
                        </a:spcBef>
                        <a:spcAft>
                          <a:spcPts val="100"/>
                        </a:spcAft>
                      </a:pPr>
                      <a:r>
                        <a:rPr sz="950" b="0">
                          <a:solidFill>
                            <a:srgbClr val="1E293B"/>
                          </a:solidFill>
                          <a:latin typeface="Calibri"/>
                        </a:rPr>
                        <a:t>recorded, searchable and reportable</a:t>
                      </a:r>
                    </a:p>
                  </a:txBody>
                  <a:tcPr anchor="ctr" marL="64008" marR="64008" marT="18288" marB="18288">
                    <a:solidFill>
                      <a:srgbClr val="FFFFFF"/>
                    </a:solidFill>
                    <a:lnL w="12700">
                      <a:solidFill>
                        <a:srgbClr val="CBD5E1"/>
                      </a:solidFill>
                    </a:lnL>
                    <a:lnR w="12700">
                      <a:solidFill>
                        <a:srgbClr val="CBD5E1"/>
                      </a:solidFill>
                    </a:lnR>
                    <a:lnT w="12700">
                      <a:solidFill>
                        <a:srgbClr val="CBD5E1"/>
                      </a:solidFill>
                    </a:lnT>
                    <a:lnB w="12700">
                      <a:solidFill>
                        <a:srgbClr val="CBD5E1"/>
                      </a:solidFill>
                    </a:lnB>
                  </a:tcPr>
                </a:tc>
              </a:tr>
              <a:tr h="652272">
                <a:tc>
                  <a:txBody>
                    <a:bodyPr/>
                    <a:lstStyle/>
                    <a:p>
                      <a:pPr>
                        <a:spcBef>
                          <a:spcPts val="100"/>
                        </a:spcBef>
                        <a:spcAft>
                          <a:spcPts val="100"/>
                        </a:spcAft>
                      </a:pPr>
                      <a:r>
                        <a:rPr sz="950" b="1">
                          <a:solidFill>
                            <a:srgbClr val="1E293B"/>
                          </a:solidFill>
                          <a:latin typeface="Calibri"/>
                        </a:rPr>
                        <a:t>College ERP / MIS</a:t>
                      </a:r>
                    </a:p>
                    <a:p>
                      <a:pPr>
                        <a:spcBef>
                          <a:spcPts val="100"/>
                        </a:spcBef>
                        <a:spcAft>
                          <a:spcPts val="100"/>
                        </a:spcAft>
                      </a:pPr>
                      <a:r>
                        <a:rPr sz="950" b="1">
                          <a:solidFill>
                            <a:srgbClr val="1E293B"/>
                          </a:solidFill>
                          <a:latin typeface="Calibri"/>
                        </a:rPr>
                        <a:t>software</a:t>
                      </a:r>
                    </a:p>
                  </a:txBody>
                  <a:tcPr anchor="ctr" marL="64008" marR="64008" marT="18288" marB="18288">
                    <a:solidFill>
                      <a:srgbClr val="EEF2FF"/>
                    </a:solidFill>
                    <a:lnL w="12700">
                      <a:solidFill>
                        <a:srgbClr val="CBD5E1"/>
                      </a:solidFill>
                    </a:lnL>
                    <a:lnR w="12700">
                      <a:solidFill>
                        <a:srgbClr val="CBD5E1"/>
                      </a:solidFill>
                    </a:lnR>
                    <a:lnT w="12700">
                      <a:solidFill>
                        <a:srgbClr val="CBD5E1"/>
                      </a:solidFill>
                    </a:lnT>
                    <a:lnB w="12700">
                      <a:solidFill>
                        <a:srgbClr val="CBD5E1"/>
                      </a:solidFill>
                    </a:lnB>
                  </a:tcPr>
                </a:tc>
                <a:tc>
                  <a:txBody>
                    <a:bodyPr/>
                    <a:lstStyle/>
                    <a:p>
                      <a:pPr>
                        <a:spcBef>
                          <a:spcPts val="100"/>
                        </a:spcBef>
                        <a:spcAft>
                          <a:spcPts val="100"/>
                        </a:spcAft>
                      </a:pPr>
                      <a:r>
                        <a:rPr sz="950" b="0">
                          <a:solidFill>
                            <a:srgbClr val="1E293B"/>
                          </a:solidFill>
                          <a:latin typeface="Calibri"/>
                        </a:rPr>
                        <a:t>Strong for admission, fees,</a:t>
                      </a:r>
                    </a:p>
                    <a:p>
                      <a:pPr>
                        <a:spcBef>
                          <a:spcPts val="100"/>
                        </a:spcBef>
                        <a:spcAft>
                          <a:spcPts val="100"/>
                        </a:spcAft>
                      </a:pPr>
                      <a:r>
                        <a:rPr sz="950" b="0">
                          <a:solidFill>
                            <a:srgbClr val="1E293B"/>
                          </a:solidFill>
                          <a:latin typeface="Calibri"/>
                        </a:rPr>
                        <a:t>attendance and exam records</a:t>
                      </a:r>
                    </a:p>
                  </a:txBody>
                  <a:tcPr anchor="ctr" marL="64008" marR="64008" marT="18288" marB="18288">
                    <a:solidFill>
                      <a:srgbClr val="EEF2FF"/>
                    </a:solidFill>
                    <a:lnL w="12700">
                      <a:solidFill>
                        <a:srgbClr val="CBD5E1"/>
                      </a:solidFill>
                    </a:lnL>
                    <a:lnR w="12700">
                      <a:solidFill>
                        <a:srgbClr val="CBD5E1"/>
                      </a:solidFill>
                    </a:lnR>
                    <a:lnT w="12700">
                      <a:solidFill>
                        <a:srgbClr val="CBD5E1"/>
                      </a:solidFill>
                    </a:lnT>
                    <a:lnB w="12700">
                      <a:solidFill>
                        <a:srgbClr val="CBD5E1"/>
                      </a:solidFill>
                    </a:lnB>
                  </a:tcPr>
                </a:tc>
                <a:tc>
                  <a:txBody>
                    <a:bodyPr/>
                    <a:lstStyle/>
                    <a:p>
                      <a:pPr>
                        <a:spcBef>
                          <a:spcPts val="100"/>
                        </a:spcBef>
                        <a:spcAft>
                          <a:spcPts val="100"/>
                        </a:spcAft>
                      </a:pPr>
                      <a:r>
                        <a:rPr sz="950" b="0">
                          <a:solidFill>
                            <a:srgbClr val="1E293B"/>
                          </a:solidFill>
                          <a:latin typeface="Calibri"/>
                        </a:rPr>
                        <a:t>Stores records only — no day-to-day</a:t>
                      </a:r>
                    </a:p>
                    <a:p>
                      <a:pPr>
                        <a:spcBef>
                          <a:spcPts val="100"/>
                        </a:spcBef>
                        <a:spcAft>
                          <a:spcPts val="100"/>
                        </a:spcAft>
                      </a:pPr>
                      <a:r>
                        <a:rPr sz="950" b="0">
                          <a:solidFill>
                            <a:srgbClr val="1E293B"/>
                          </a:solidFill>
                          <a:latin typeface="Calibri"/>
                        </a:rPr>
                        <a:t>task assignment or approval flow</a:t>
                      </a:r>
                    </a:p>
                  </a:txBody>
                  <a:tcPr anchor="ctr" marL="64008" marR="64008" marT="18288" marB="18288">
                    <a:solidFill>
                      <a:srgbClr val="EEF2FF"/>
                    </a:solidFill>
                    <a:lnL w="12700">
                      <a:solidFill>
                        <a:srgbClr val="CBD5E1"/>
                      </a:solidFill>
                    </a:lnL>
                    <a:lnR w="12700">
                      <a:solidFill>
                        <a:srgbClr val="CBD5E1"/>
                      </a:solidFill>
                    </a:lnR>
                    <a:lnT w="12700">
                      <a:solidFill>
                        <a:srgbClr val="CBD5E1"/>
                      </a:solidFill>
                    </a:lnT>
                    <a:lnB w="12700">
                      <a:solidFill>
                        <a:srgbClr val="CBD5E1"/>
                      </a:solidFill>
                    </a:lnB>
                  </a:tcPr>
                </a:tc>
                <a:tc>
                  <a:txBody>
                    <a:bodyPr/>
                    <a:lstStyle/>
                    <a:p>
                      <a:pPr>
                        <a:spcBef>
                          <a:spcPts val="100"/>
                        </a:spcBef>
                        <a:spcAft>
                          <a:spcPts val="100"/>
                        </a:spcAft>
                      </a:pPr>
                      <a:r>
                        <a:rPr sz="950" b="0">
                          <a:solidFill>
                            <a:srgbClr val="1E293B"/>
                          </a:solidFill>
                          <a:latin typeface="Calibri"/>
                        </a:rPr>
                        <a:t>Adds the missing workflow, approval</a:t>
                      </a:r>
                    </a:p>
                    <a:p>
                      <a:pPr>
                        <a:spcBef>
                          <a:spcPts val="100"/>
                        </a:spcBef>
                        <a:spcAft>
                          <a:spcPts val="100"/>
                        </a:spcAft>
                      </a:pPr>
                      <a:r>
                        <a:rPr sz="950" b="0">
                          <a:solidFill>
                            <a:srgbClr val="1E293B"/>
                          </a:solidFill>
                          <a:latin typeface="Calibri"/>
                        </a:rPr>
                        <a:t>and progress-tracking layer</a:t>
                      </a:r>
                    </a:p>
                  </a:txBody>
                  <a:tcPr anchor="ctr" marL="64008" marR="64008" marT="18288" marB="18288">
                    <a:solidFill>
                      <a:srgbClr val="EEF2FF"/>
                    </a:solidFill>
                    <a:lnL w="12700">
                      <a:solidFill>
                        <a:srgbClr val="CBD5E1"/>
                      </a:solidFill>
                    </a:lnL>
                    <a:lnR w="12700">
                      <a:solidFill>
                        <a:srgbClr val="CBD5E1"/>
                      </a:solidFill>
                    </a:lnR>
                    <a:lnT w="12700">
                      <a:solidFill>
                        <a:srgbClr val="CBD5E1"/>
                      </a:solidFill>
                    </a:lnT>
                    <a:lnB w="12700">
                      <a:solidFill>
                        <a:srgbClr val="CBD5E1"/>
                      </a:solidFill>
                    </a:lnB>
                  </a:tcPr>
                </a:tc>
              </a:tr>
              <a:tr h="652272">
                <a:tc>
                  <a:txBody>
                    <a:bodyPr/>
                    <a:lstStyle/>
                    <a:p>
                      <a:pPr>
                        <a:spcBef>
                          <a:spcPts val="100"/>
                        </a:spcBef>
                        <a:spcAft>
                          <a:spcPts val="100"/>
                        </a:spcAft>
                      </a:pPr>
                      <a:r>
                        <a:rPr sz="950" b="1">
                          <a:solidFill>
                            <a:srgbClr val="1E293B"/>
                          </a:solidFill>
                          <a:latin typeface="Calibri"/>
                        </a:rPr>
                        <a:t>Corporate PM tools</a:t>
                      </a:r>
                    </a:p>
                    <a:p>
                      <a:pPr>
                        <a:spcBef>
                          <a:spcPts val="100"/>
                        </a:spcBef>
                        <a:spcAft>
                          <a:spcPts val="100"/>
                        </a:spcAft>
                      </a:pPr>
                      <a:r>
                        <a:rPr sz="950" b="1">
                          <a:solidFill>
                            <a:srgbClr val="1E293B"/>
                          </a:solidFill>
                          <a:latin typeface="Calibri"/>
                        </a:rPr>
                        <a:t>(Trello, Asana, Jira)</a:t>
                      </a:r>
                    </a:p>
                  </a:txBody>
                  <a:tcPr anchor="ctr" marL="64008" marR="64008" marT="18288" marB="18288">
                    <a:solidFill>
                      <a:srgbClr val="FFFFFF"/>
                    </a:solidFill>
                    <a:lnL w="12700">
                      <a:solidFill>
                        <a:srgbClr val="CBD5E1"/>
                      </a:solidFill>
                    </a:lnL>
                    <a:lnR w="12700">
                      <a:solidFill>
                        <a:srgbClr val="CBD5E1"/>
                      </a:solidFill>
                    </a:lnR>
                    <a:lnT w="12700">
                      <a:solidFill>
                        <a:srgbClr val="CBD5E1"/>
                      </a:solidFill>
                    </a:lnT>
                    <a:lnB w="12700">
                      <a:solidFill>
                        <a:srgbClr val="CBD5E1"/>
                      </a:solidFill>
                    </a:lnB>
                  </a:tcPr>
                </a:tc>
                <a:tc>
                  <a:txBody>
                    <a:bodyPr/>
                    <a:lstStyle/>
                    <a:p>
                      <a:pPr>
                        <a:spcBef>
                          <a:spcPts val="100"/>
                        </a:spcBef>
                        <a:spcAft>
                          <a:spcPts val="100"/>
                        </a:spcAft>
                      </a:pPr>
                      <a:r>
                        <a:rPr sz="950" b="0">
                          <a:solidFill>
                            <a:srgbClr val="1E293B"/>
                          </a:solidFill>
                          <a:latin typeface="Calibri"/>
                        </a:rPr>
                        <a:t>Excellent task boards and</a:t>
                      </a:r>
                    </a:p>
                    <a:p>
                      <a:pPr>
                        <a:spcBef>
                          <a:spcPts val="100"/>
                        </a:spcBef>
                        <a:spcAft>
                          <a:spcPts val="100"/>
                        </a:spcAft>
                      </a:pPr>
                      <a:r>
                        <a:rPr sz="950" b="0">
                          <a:solidFill>
                            <a:srgbClr val="1E293B"/>
                          </a:solidFill>
                          <a:latin typeface="Calibri"/>
                        </a:rPr>
                        <a:t>progress views</a:t>
                      </a:r>
                    </a:p>
                  </a:txBody>
                  <a:tcPr anchor="ctr" marL="64008" marR="64008" marT="18288" marB="18288">
                    <a:solidFill>
                      <a:srgbClr val="FFFFFF"/>
                    </a:solidFill>
                    <a:lnL w="12700">
                      <a:solidFill>
                        <a:srgbClr val="CBD5E1"/>
                      </a:solidFill>
                    </a:lnL>
                    <a:lnR w="12700">
                      <a:solidFill>
                        <a:srgbClr val="CBD5E1"/>
                      </a:solidFill>
                    </a:lnR>
                    <a:lnT w="12700">
                      <a:solidFill>
                        <a:srgbClr val="CBD5E1"/>
                      </a:solidFill>
                    </a:lnT>
                    <a:lnB w="12700">
                      <a:solidFill>
                        <a:srgbClr val="CBD5E1"/>
                      </a:solidFill>
                    </a:lnB>
                  </a:tcPr>
                </a:tc>
                <a:tc>
                  <a:txBody>
                    <a:bodyPr/>
                    <a:lstStyle/>
                    <a:p>
                      <a:pPr>
                        <a:spcBef>
                          <a:spcPts val="100"/>
                        </a:spcBef>
                        <a:spcAft>
                          <a:spcPts val="100"/>
                        </a:spcAft>
                      </a:pPr>
                      <a:r>
                        <a:rPr sz="950" b="0">
                          <a:solidFill>
                            <a:srgbClr val="1E293B"/>
                          </a:solidFill>
                          <a:latin typeface="Calibri"/>
                        </a:rPr>
                        <a:t>Paid per user; no HOD→Principal</a:t>
                      </a:r>
                    </a:p>
                    <a:p>
                      <a:pPr>
                        <a:spcBef>
                          <a:spcPts val="100"/>
                        </a:spcBef>
                        <a:spcAft>
                          <a:spcPts val="100"/>
                        </a:spcAft>
                      </a:pPr>
                      <a:r>
                        <a:rPr sz="950" b="0">
                          <a:solidFill>
                            <a:srgbClr val="1E293B"/>
                          </a:solidFill>
                          <a:latin typeface="Calibri"/>
                        </a:rPr>
                        <a:t>hierarchy, no academic calendar</a:t>
                      </a:r>
                    </a:p>
                  </a:txBody>
                  <a:tcPr anchor="ctr" marL="64008" marR="64008" marT="18288" marB="18288">
                    <a:solidFill>
                      <a:srgbClr val="FFFFFF"/>
                    </a:solidFill>
                    <a:lnL w="12700">
                      <a:solidFill>
                        <a:srgbClr val="CBD5E1"/>
                      </a:solidFill>
                    </a:lnL>
                    <a:lnR w="12700">
                      <a:solidFill>
                        <a:srgbClr val="CBD5E1"/>
                      </a:solidFill>
                    </a:lnR>
                    <a:lnT w="12700">
                      <a:solidFill>
                        <a:srgbClr val="CBD5E1"/>
                      </a:solidFill>
                    </a:lnT>
                    <a:lnB w="12700">
                      <a:solidFill>
                        <a:srgbClr val="CBD5E1"/>
                      </a:solidFill>
                    </a:lnB>
                  </a:tcPr>
                </a:tc>
                <a:tc>
                  <a:txBody>
                    <a:bodyPr/>
                    <a:lstStyle/>
                    <a:p>
                      <a:pPr>
                        <a:spcBef>
                          <a:spcPts val="100"/>
                        </a:spcBef>
                        <a:spcAft>
                          <a:spcPts val="100"/>
                        </a:spcAft>
                      </a:pPr>
                      <a:r>
                        <a:rPr sz="950" b="0">
                          <a:solidFill>
                            <a:srgbClr val="1E293B"/>
                          </a:solidFill>
                          <a:latin typeface="Calibri"/>
                        </a:rPr>
                        <a:t>Free stack, hierarchy-aware roles and</a:t>
                      </a:r>
                    </a:p>
                    <a:p>
                      <a:pPr>
                        <a:spcBef>
                          <a:spcPts val="100"/>
                        </a:spcBef>
                        <a:spcAft>
                          <a:spcPts val="100"/>
                        </a:spcAft>
                      </a:pPr>
                      <a:r>
                        <a:rPr sz="950" b="0">
                          <a:solidFill>
                            <a:srgbClr val="1E293B"/>
                          </a:solidFill>
                          <a:latin typeface="Calibri"/>
                        </a:rPr>
                        <a:t>academic-specific modules</a:t>
                      </a:r>
                    </a:p>
                  </a:txBody>
                  <a:tcPr anchor="ctr" marL="64008" marR="64008" marT="18288" marB="18288">
                    <a:solidFill>
                      <a:srgbClr val="FFFFFF"/>
                    </a:solidFill>
                    <a:lnL w="12700">
                      <a:solidFill>
                        <a:srgbClr val="CBD5E1"/>
                      </a:solidFill>
                    </a:lnL>
                    <a:lnR w="12700">
                      <a:solidFill>
                        <a:srgbClr val="CBD5E1"/>
                      </a:solidFill>
                    </a:lnR>
                    <a:lnT w="12700">
                      <a:solidFill>
                        <a:srgbClr val="CBD5E1"/>
                      </a:solidFill>
                    </a:lnT>
                    <a:lnB w="12700">
                      <a:solidFill>
                        <a:srgbClr val="CBD5E1"/>
                      </a:solidFill>
                    </a:lnB>
                  </a:tcPr>
                </a:tc>
              </a:tr>
              <a:tr h="652272">
                <a:tc>
                  <a:txBody>
                    <a:bodyPr/>
                    <a:lstStyle/>
                    <a:p>
                      <a:pPr>
                        <a:spcBef>
                          <a:spcPts val="100"/>
                        </a:spcBef>
                        <a:spcAft>
                          <a:spcPts val="100"/>
                        </a:spcAft>
                      </a:pPr>
                      <a:r>
                        <a:rPr sz="950" b="1">
                          <a:solidFill>
                            <a:srgbClr val="1E293B"/>
                          </a:solidFill>
                          <a:latin typeface="Calibri"/>
                        </a:rPr>
                        <a:t>Google Classroom /</a:t>
                      </a:r>
                    </a:p>
                    <a:p>
                      <a:pPr>
                        <a:spcBef>
                          <a:spcPts val="100"/>
                        </a:spcBef>
                        <a:spcAft>
                          <a:spcPts val="100"/>
                        </a:spcAft>
                      </a:pPr>
                      <a:r>
                        <a:rPr sz="950" b="1">
                          <a:solidFill>
                            <a:srgbClr val="1E293B"/>
                          </a:solidFill>
                          <a:latin typeface="Calibri"/>
                        </a:rPr>
                        <a:t>Workspace</a:t>
                      </a:r>
                    </a:p>
                  </a:txBody>
                  <a:tcPr anchor="ctr" marL="64008" marR="64008" marT="18288" marB="18288">
                    <a:solidFill>
                      <a:srgbClr val="EEF2FF"/>
                    </a:solidFill>
                    <a:lnL w="12700">
                      <a:solidFill>
                        <a:srgbClr val="CBD5E1"/>
                      </a:solidFill>
                    </a:lnL>
                    <a:lnR w="12700">
                      <a:solidFill>
                        <a:srgbClr val="CBD5E1"/>
                      </a:solidFill>
                    </a:lnR>
                    <a:lnT w="12700">
                      <a:solidFill>
                        <a:srgbClr val="CBD5E1"/>
                      </a:solidFill>
                    </a:lnT>
                    <a:lnB w="12700">
                      <a:solidFill>
                        <a:srgbClr val="CBD5E1"/>
                      </a:solidFill>
                    </a:lnB>
                  </a:tcPr>
                </a:tc>
                <a:tc>
                  <a:txBody>
                    <a:bodyPr/>
                    <a:lstStyle/>
                    <a:p>
                      <a:pPr>
                        <a:spcBef>
                          <a:spcPts val="100"/>
                        </a:spcBef>
                        <a:spcAft>
                          <a:spcPts val="100"/>
                        </a:spcAft>
                      </a:pPr>
                      <a:r>
                        <a:rPr sz="950" b="0">
                          <a:solidFill>
                            <a:srgbClr val="1E293B"/>
                          </a:solidFill>
                          <a:latin typeface="Calibri"/>
                        </a:rPr>
                        <a:t>Good for teaching material</a:t>
                      </a:r>
                    </a:p>
                    <a:p>
                      <a:pPr>
                        <a:spcBef>
                          <a:spcPts val="100"/>
                        </a:spcBef>
                        <a:spcAft>
                          <a:spcPts val="100"/>
                        </a:spcAft>
                      </a:pPr>
                      <a:r>
                        <a:rPr sz="950" b="0">
                          <a:solidFill>
                            <a:srgbClr val="1E293B"/>
                          </a:solidFill>
                          <a:latin typeface="Calibri"/>
                        </a:rPr>
                        <a:t>and file sharing</a:t>
                      </a:r>
                    </a:p>
                  </a:txBody>
                  <a:tcPr anchor="ctr" marL="64008" marR="64008" marT="18288" marB="18288">
                    <a:solidFill>
                      <a:srgbClr val="EEF2FF"/>
                    </a:solidFill>
                    <a:lnL w="12700">
                      <a:solidFill>
                        <a:srgbClr val="CBD5E1"/>
                      </a:solidFill>
                    </a:lnL>
                    <a:lnR w="12700">
                      <a:solidFill>
                        <a:srgbClr val="CBD5E1"/>
                      </a:solidFill>
                    </a:lnR>
                    <a:lnT w="12700">
                      <a:solidFill>
                        <a:srgbClr val="CBD5E1"/>
                      </a:solidFill>
                    </a:lnT>
                    <a:lnB w="12700">
                      <a:solidFill>
                        <a:srgbClr val="CBD5E1"/>
                      </a:solidFill>
                    </a:lnB>
                  </a:tcPr>
                </a:tc>
                <a:tc>
                  <a:txBody>
                    <a:bodyPr/>
                    <a:lstStyle/>
                    <a:p>
                      <a:pPr>
                        <a:spcBef>
                          <a:spcPts val="100"/>
                        </a:spcBef>
                        <a:spcAft>
                          <a:spcPts val="100"/>
                        </a:spcAft>
                      </a:pPr>
                      <a:r>
                        <a:rPr sz="950" b="0">
                          <a:solidFill>
                            <a:srgbClr val="1E293B"/>
                          </a:solidFill>
                          <a:latin typeface="Calibri"/>
                        </a:rPr>
                        <a:t>Built for teacher↔student, not for</a:t>
                      </a:r>
                    </a:p>
                    <a:p>
                      <a:pPr>
                        <a:spcBef>
                          <a:spcPts val="100"/>
                        </a:spcBef>
                        <a:spcAft>
                          <a:spcPts val="100"/>
                        </a:spcAft>
                      </a:pPr>
                      <a:r>
                        <a:rPr sz="950" b="0">
                          <a:solidFill>
                            <a:srgbClr val="1E293B"/>
                          </a:solidFill>
                          <a:latin typeface="Calibri"/>
                        </a:rPr>
                        <a:t>staff duties, approvals or events</a:t>
                      </a:r>
                    </a:p>
                  </a:txBody>
                  <a:tcPr anchor="ctr" marL="64008" marR="64008" marT="18288" marB="18288">
                    <a:solidFill>
                      <a:srgbClr val="EEF2FF"/>
                    </a:solidFill>
                    <a:lnL w="12700">
                      <a:solidFill>
                        <a:srgbClr val="CBD5E1"/>
                      </a:solidFill>
                    </a:lnL>
                    <a:lnR w="12700">
                      <a:solidFill>
                        <a:srgbClr val="CBD5E1"/>
                      </a:solidFill>
                    </a:lnR>
                    <a:lnT w="12700">
                      <a:solidFill>
                        <a:srgbClr val="CBD5E1"/>
                      </a:solidFill>
                    </a:lnT>
                    <a:lnB w="12700">
                      <a:solidFill>
                        <a:srgbClr val="CBD5E1"/>
                      </a:solidFill>
                    </a:lnB>
                  </a:tcPr>
                </a:tc>
                <a:tc>
                  <a:txBody>
                    <a:bodyPr/>
                    <a:lstStyle/>
                    <a:p>
                      <a:pPr>
                        <a:spcBef>
                          <a:spcPts val="100"/>
                        </a:spcBef>
                        <a:spcAft>
                          <a:spcPts val="100"/>
                        </a:spcAft>
                      </a:pPr>
                      <a:r>
                        <a:rPr sz="950" b="0">
                          <a:solidFill>
                            <a:srgbClr val="1E293B"/>
                          </a:solidFill>
                          <a:latin typeface="Calibri"/>
                        </a:rPr>
                        <a:t>Covers the staff-side operations that</a:t>
                      </a:r>
                    </a:p>
                    <a:p>
                      <a:pPr>
                        <a:spcBef>
                          <a:spcPts val="100"/>
                        </a:spcBef>
                        <a:spcAft>
                          <a:spcPts val="100"/>
                        </a:spcAft>
                      </a:pPr>
                      <a:r>
                        <a:rPr sz="950" b="0">
                          <a:solidFill>
                            <a:srgbClr val="1E293B"/>
                          </a:solidFill>
                          <a:latin typeface="Calibri"/>
                        </a:rPr>
                        <a:t>Classroom does not touch</a:t>
                      </a:r>
                    </a:p>
                  </a:txBody>
                  <a:tcPr anchor="ctr" marL="64008" marR="64008" marT="18288" marB="18288">
                    <a:solidFill>
                      <a:srgbClr val="EEF2FF"/>
                    </a:solidFill>
                    <a:lnL w="12700">
                      <a:solidFill>
                        <a:srgbClr val="CBD5E1"/>
                      </a:solidFill>
                    </a:lnL>
                    <a:lnR w="12700">
                      <a:solidFill>
                        <a:srgbClr val="CBD5E1"/>
                      </a:solidFill>
                    </a:lnR>
                    <a:lnT w="12700">
                      <a:solidFill>
                        <a:srgbClr val="CBD5E1"/>
                      </a:solidFill>
                    </a:lnT>
                    <a:lnB w="12700">
                      <a:solidFill>
                        <a:srgbClr val="CBD5E1"/>
                      </a:solidFill>
                    </a:lnB>
                  </a:tcPr>
                </a:tc>
              </a:tr>
              <a:tr h="652272">
                <a:tc>
                  <a:txBody>
                    <a:bodyPr/>
                    <a:lstStyle/>
                    <a:p>
                      <a:pPr>
                        <a:spcBef>
                          <a:spcPts val="100"/>
                        </a:spcBef>
                        <a:spcAft>
                          <a:spcPts val="100"/>
                        </a:spcAft>
                      </a:pPr>
                      <a:r>
                        <a:rPr sz="950" b="1">
                          <a:solidFill>
                            <a:srgbClr val="1E293B"/>
                          </a:solidFill>
                          <a:latin typeface="Calibri"/>
                        </a:rPr>
                        <a:t>Generic AI chatbots</a:t>
                      </a:r>
                    </a:p>
                    <a:p>
                      <a:pPr>
                        <a:spcBef>
                          <a:spcPts val="100"/>
                        </a:spcBef>
                        <a:spcAft>
                          <a:spcPts val="100"/>
                        </a:spcAft>
                      </a:pPr>
                      <a:r>
                        <a:rPr sz="950" b="1">
                          <a:solidFill>
                            <a:srgbClr val="1E293B"/>
                          </a:solidFill>
                          <a:latin typeface="Calibri"/>
                        </a:rPr>
                        <a:t>(ChatGPT etc.)</a:t>
                      </a:r>
                    </a:p>
                  </a:txBody>
                  <a:tcPr anchor="ctr" marL="64008" marR="64008" marT="18288" marB="18288">
                    <a:solidFill>
                      <a:srgbClr val="FFFFFF"/>
                    </a:solidFill>
                    <a:lnL w="12700">
                      <a:solidFill>
                        <a:srgbClr val="CBD5E1"/>
                      </a:solidFill>
                    </a:lnL>
                    <a:lnR w="12700">
                      <a:solidFill>
                        <a:srgbClr val="CBD5E1"/>
                      </a:solidFill>
                    </a:lnR>
                    <a:lnT w="12700">
                      <a:solidFill>
                        <a:srgbClr val="CBD5E1"/>
                      </a:solidFill>
                    </a:lnT>
                    <a:lnB w="12700">
                      <a:solidFill>
                        <a:srgbClr val="CBD5E1"/>
                      </a:solidFill>
                    </a:lnB>
                  </a:tcPr>
                </a:tc>
                <a:tc>
                  <a:txBody>
                    <a:bodyPr/>
                    <a:lstStyle/>
                    <a:p>
                      <a:pPr>
                        <a:spcBef>
                          <a:spcPts val="100"/>
                        </a:spcBef>
                        <a:spcAft>
                          <a:spcPts val="100"/>
                        </a:spcAft>
                      </a:pPr>
                      <a:r>
                        <a:rPr sz="950" b="0">
                          <a:solidFill>
                            <a:srgbClr val="1E293B"/>
                          </a:solidFill>
                          <a:latin typeface="Calibri"/>
                        </a:rPr>
                        <a:t>Very good natural-language</a:t>
                      </a:r>
                    </a:p>
                    <a:p>
                      <a:pPr>
                        <a:spcBef>
                          <a:spcPts val="100"/>
                        </a:spcBef>
                        <a:spcAft>
                          <a:spcPts val="100"/>
                        </a:spcAft>
                      </a:pPr>
                      <a:r>
                        <a:rPr sz="950" b="0">
                          <a:solidFill>
                            <a:srgbClr val="1E293B"/>
                          </a:solidFill>
                          <a:latin typeface="Calibri"/>
                        </a:rPr>
                        <a:t>answers</a:t>
                      </a:r>
                    </a:p>
                  </a:txBody>
                  <a:tcPr anchor="ctr" marL="64008" marR="64008" marT="18288" marB="18288">
                    <a:solidFill>
                      <a:srgbClr val="FFFFFF"/>
                    </a:solidFill>
                    <a:lnL w="12700">
                      <a:solidFill>
                        <a:srgbClr val="CBD5E1"/>
                      </a:solidFill>
                    </a:lnL>
                    <a:lnR w="12700">
                      <a:solidFill>
                        <a:srgbClr val="CBD5E1"/>
                      </a:solidFill>
                    </a:lnR>
                    <a:lnT w="12700">
                      <a:solidFill>
                        <a:srgbClr val="CBD5E1"/>
                      </a:solidFill>
                    </a:lnT>
                    <a:lnB w="12700">
                      <a:solidFill>
                        <a:srgbClr val="CBD5E1"/>
                      </a:solidFill>
                    </a:lnB>
                  </a:tcPr>
                </a:tc>
                <a:tc>
                  <a:txBody>
                    <a:bodyPr/>
                    <a:lstStyle/>
                    <a:p>
                      <a:pPr>
                        <a:spcBef>
                          <a:spcPts val="100"/>
                        </a:spcBef>
                        <a:spcAft>
                          <a:spcPts val="100"/>
                        </a:spcAft>
                      </a:pPr>
                      <a:r>
                        <a:rPr sz="950" b="0">
                          <a:solidFill>
                            <a:srgbClr val="1E293B"/>
                          </a:solidFill>
                          <a:latin typeface="Calibri"/>
                        </a:rPr>
                        <a:t>Knows nothing about your tasks,</a:t>
                      </a:r>
                    </a:p>
                    <a:p>
                      <a:pPr>
                        <a:spcBef>
                          <a:spcPts val="100"/>
                        </a:spcBef>
                        <a:spcAft>
                          <a:spcPts val="100"/>
                        </a:spcAft>
                      </a:pPr>
                      <a:r>
                        <a:rPr sz="950" b="0">
                          <a:solidFill>
                            <a:srgbClr val="1E293B"/>
                          </a:solidFill>
                          <a:latin typeface="Calibri"/>
                        </a:rPr>
                        <a:t>deadlines or pending approvals</a:t>
                      </a:r>
                    </a:p>
                  </a:txBody>
                  <a:tcPr anchor="ctr" marL="64008" marR="64008" marT="18288" marB="18288">
                    <a:solidFill>
                      <a:srgbClr val="FFFFFF"/>
                    </a:solidFill>
                    <a:lnL w="12700">
                      <a:solidFill>
                        <a:srgbClr val="CBD5E1"/>
                      </a:solidFill>
                    </a:lnL>
                    <a:lnR w="12700">
                      <a:solidFill>
                        <a:srgbClr val="CBD5E1"/>
                      </a:solidFill>
                    </a:lnR>
                    <a:lnT w="12700">
                      <a:solidFill>
                        <a:srgbClr val="CBD5E1"/>
                      </a:solidFill>
                    </a:lnT>
                    <a:lnB w="12700">
                      <a:solidFill>
                        <a:srgbClr val="CBD5E1"/>
                      </a:solidFill>
                    </a:lnB>
                  </a:tcPr>
                </a:tc>
                <a:tc>
                  <a:txBody>
                    <a:bodyPr/>
                    <a:lstStyle/>
                    <a:p>
                      <a:pPr>
                        <a:spcBef>
                          <a:spcPts val="100"/>
                        </a:spcBef>
                        <a:spcAft>
                          <a:spcPts val="100"/>
                        </a:spcAft>
                      </a:pPr>
                      <a:r>
                        <a:rPr sz="950" b="0">
                          <a:solidFill>
                            <a:srgbClr val="1E293B"/>
                          </a:solidFill>
                          <a:latin typeface="Calibri"/>
                        </a:rPr>
                        <a:t>Gemini + live Firestore context, so it</a:t>
                      </a:r>
                    </a:p>
                    <a:p>
                      <a:pPr>
                        <a:spcBef>
                          <a:spcPts val="100"/>
                        </a:spcBef>
                        <a:spcAft>
                          <a:spcPts val="100"/>
                        </a:spcAft>
                      </a:pPr>
                      <a:r>
                        <a:rPr sz="950" b="0">
                          <a:solidFill>
                            <a:srgbClr val="1E293B"/>
                          </a:solidFill>
                          <a:latin typeface="Calibri"/>
                        </a:rPr>
                        <a:t>answers about YOUR actual work</a:t>
                      </a:r>
                    </a:p>
                  </a:txBody>
                  <a:tcPr anchor="ctr" marL="64008" marR="64008" marT="18288" marB="18288">
                    <a:solidFill>
                      <a:srgbClr val="FFFFFF"/>
                    </a:solidFill>
                    <a:lnL w="12700">
                      <a:solidFill>
                        <a:srgbClr val="CBD5E1"/>
                      </a:solidFill>
                    </a:lnL>
                    <a:lnR w="12700">
                      <a:solidFill>
                        <a:srgbClr val="CBD5E1"/>
                      </a:solidFill>
                    </a:lnR>
                    <a:lnT w="12700">
                      <a:solidFill>
                        <a:srgbClr val="CBD5E1"/>
                      </a:solidFill>
                    </a:lnT>
                    <a:lnB w="12700">
                      <a:solidFill>
                        <a:srgbClr val="CBD5E1"/>
                      </a:solidFill>
                    </a:lnB>
                  </a:tcPr>
                </a:tc>
              </a:tr>
            </a:tbl>
          </a:graphicData>
        </a:graphic>
      </p:graphicFrame>
      <p:sp>
        <p:nvSpPr>
          <p:cNvPr id="9" name="Rounded Rectangle 8"/>
          <p:cNvSpPr/>
          <p:nvPr/>
        </p:nvSpPr>
        <p:spPr>
          <a:xfrm>
            <a:off x="411480" y="5943600"/>
            <a:ext cx="11365992" cy="411480"/>
          </a:xfrm>
          <a:prstGeom prst="roundRect">
            <a:avLst/>
          </a:prstGeom>
          <a:solidFill>
            <a:srgbClr val="ECFDF5"/>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27432" bIns="27432"/>
          <a:lstStyle/>
          <a:p>
            <a:pPr algn="l">
              <a:spcAft>
                <a:spcPts val="0"/>
              </a:spcAft>
            </a:pPr>
            <a:r>
              <a:rPr sz="1150" b="1">
                <a:solidFill>
                  <a:srgbClr val="10B981"/>
                </a:solidFill>
                <a:latin typeface="Calibri"/>
              </a:rPr>
              <a:t>Research gap:  </a:t>
            </a:r>
            <a:r>
              <a:rPr sz="1150" b="0">
                <a:solidFill>
                  <a:srgbClr val="1E293B"/>
                </a:solidFill>
                <a:latin typeface="Calibri"/>
              </a:rPr>
              <a:t>no single free system combines hierarchy-based task workflow + two-stage approvals + academic calendar intelligence + an AI assistant that reads live institutional data.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3F6FC"/>
        </a:solidFill>
        <a:effectLst/>
      </p:bgPr>
    </p:bg>
    <p:spTree>
      <p:nvGrpSpPr>
        <p:cNvPr id="1" name=""/>
        <p:cNvGrpSpPr/>
        <p:nvPr/>
      </p:nvGrpSpPr>
      <p:grpSpPr/>
      <p:sp>
        <p:nvSpPr>
          <p:cNvPr id="2" name="Rectangle 1"/>
          <p:cNvSpPr/>
          <p:nvPr/>
        </p:nvSpPr>
        <p:spPr>
          <a:xfrm>
            <a:off x="0" y="0"/>
            <a:ext cx="12191695" cy="1078992"/>
          </a:xfrm>
          <a:prstGeom prst="rect">
            <a:avLst/>
          </a:prstGeom>
          <a:solidFill>
            <a:srgbClr val="0B1E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78992"/>
            <a:ext cx="12191695" cy="411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411480" y="91440"/>
            <a:ext cx="10058400" cy="9144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27432" bIns="27432"/>
          <a:lstStyle/>
          <a:p>
            <a:pPr algn="l">
              <a:spcBef>
                <a:spcPts val="0"/>
              </a:spcBef>
              <a:spcAft>
                <a:spcPts val="100"/>
              </a:spcAft>
            </a:pPr>
            <a:r>
              <a:rPr sz="1050" b="1" i="0">
                <a:solidFill>
                  <a:srgbClr val="06B6D4"/>
                </a:solidFill>
                <a:latin typeface="Calibri"/>
              </a:rPr>
              <a:t>SLIDE 5</a:t>
            </a:r>
          </a:p>
          <a:p>
            <a:pPr algn="l">
              <a:spcBef>
                <a:spcPts val="0"/>
              </a:spcBef>
              <a:spcAft>
                <a:spcPts val="0"/>
              </a:spcAft>
            </a:pPr>
            <a:r>
              <a:rPr sz="2500" b="1" i="0">
                <a:solidFill>
                  <a:srgbClr val="FFFFFF"/>
                </a:solidFill>
                <a:latin typeface="Calibri"/>
              </a:rPr>
              <a:t>System Design — Three-Tier Architecture</a:t>
            </a:r>
          </a:p>
        </p:txBody>
      </p:sp>
      <p:sp>
        <p:nvSpPr>
          <p:cNvPr id="5" name="Rounded Rectangle 4"/>
          <p:cNvSpPr/>
          <p:nvPr/>
        </p:nvSpPr>
        <p:spPr>
          <a:xfrm>
            <a:off x="10972800" y="274320"/>
            <a:ext cx="822960" cy="512064"/>
          </a:xfrm>
          <a:prstGeom prst="roundRect">
            <a:avLst/>
          </a:prstGeom>
          <a:solidFill>
            <a:srgbClr val="143363"/>
          </a:solidFill>
          <a:ln w="15875">
            <a:solidFill>
              <a:srgbClr val="06B6D4"/>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spcBef>
                <a:spcPts val="0"/>
              </a:spcBef>
              <a:spcAft>
                <a:spcPts val="0"/>
              </a:spcAft>
            </a:pPr>
            <a:r>
              <a:rPr sz="1150" b="1" i="0">
                <a:solidFill>
                  <a:srgbClr val="FFFFFF"/>
                </a:solidFill>
                <a:latin typeface="Calibri"/>
              </a:rPr>
              <a:t>5 / 10</a:t>
            </a:r>
          </a:p>
        </p:txBody>
      </p:sp>
      <p:sp>
        <p:nvSpPr>
          <p:cNvPr id="6" name="Rectangle 5"/>
          <p:cNvSpPr/>
          <p:nvPr/>
        </p:nvSpPr>
        <p:spPr>
          <a:xfrm>
            <a:off x="411480" y="6446520"/>
            <a:ext cx="11365992" cy="29260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27432" bIns="27432"/>
          <a:lstStyle/>
          <a:p>
            <a:pPr algn="ctr">
              <a:spcAft>
                <a:spcPts val="0"/>
              </a:spcAft>
            </a:pPr>
            <a:r>
              <a:rPr sz="850">
                <a:solidFill>
                  <a:srgbClr val="64748B"/>
                </a:solidFill>
                <a:latin typeface="Calibri"/>
              </a:rPr>
              <a:t>HieraSync AI  •  Smart College Workflow &amp; Event Management System        </a:t>
            </a:r>
            <a:r>
              <a:rPr sz="850">
                <a:solidFill>
                  <a:srgbClr val="64748B"/>
                </a:solidFill>
                <a:latin typeface="Calibri"/>
              </a:rPr>
              <a:t>github.com/Atulgupta07/Hiera_Sync</a:t>
            </a:r>
          </a:p>
        </p:txBody>
      </p:sp>
      <p:sp>
        <p:nvSpPr>
          <p:cNvPr id="7" name="Rounded Rectangle 6"/>
          <p:cNvSpPr/>
          <p:nvPr/>
        </p:nvSpPr>
        <p:spPr>
          <a:xfrm>
            <a:off x="411480" y="1371600"/>
            <a:ext cx="3383280" cy="3246120"/>
          </a:xfrm>
          <a:prstGeom prst="roundRect">
            <a:avLst/>
          </a:prstGeom>
          <a:solidFill>
            <a:srgbClr val="FFFFFF"/>
          </a:solidFill>
          <a:ln w="19050">
            <a:solidFill>
              <a:srgbClr val="4F46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411480" y="1371600"/>
            <a:ext cx="3383280" cy="658368"/>
          </a:xfrm>
          <a:prstGeom prst="roundRect">
            <a:avLst/>
          </a:prstGeom>
          <a:solidFill>
            <a:srgbClr val="4F46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21208" y="1408176"/>
            <a:ext cx="3163824" cy="58521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spcBef>
                <a:spcPts val="0"/>
              </a:spcBef>
              <a:spcAft>
                <a:spcPts val="100"/>
              </a:spcAft>
            </a:pPr>
            <a:r>
              <a:rPr sz="850" b="1" i="0">
                <a:solidFill>
                  <a:srgbClr val="FFFFFF"/>
                </a:solidFill>
                <a:latin typeface="Calibri"/>
              </a:rPr>
              <a:t>TIER 1  —  PRESENTATION</a:t>
            </a:r>
          </a:p>
          <a:p>
            <a:pPr algn="ctr">
              <a:spcBef>
                <a:spcPts val="0"/>
              </a:spcBef>
              <a:spcAft>
                <a:spcPts val="0"/>
              </a:spcAft>
            </a:pPr>
            <a:r>
              <a:rPr sz="1300" b="1" i="0">
                <a:solidFill>
                  <a:srgbClr val="FFFFFF"/>
                </a:solidFill>
                <a:latin typeface="Calibri"/>
              </a:rPr>
              <a:t>Client / Browser</a:t>
            </a:r>
          </a:p>
        </p:txBody>
      </p:sp>
      <p:sp>
        <p:nvSpPr>
          <p:cNvPr id="10" name="Rounded Rectangle 9"/>
          <p:cNvSpPr/>
          <p:nvPr/>
        </p:nvSpPr>
        <p:spPr>
          <a:xfrm>
            <a:off x="576072" y="2157984"/>
            <a:ext cx="3054096" cy="420624"/>
          </a:xfrm>
          <a:prstGeom prst="roundRect">
            <a:avLst/>
          </a:prstGeom>
          <a:solidFill>
            <a:srgbClr val="F3F6FC"/>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27432" bIns="27432"/>
          <a:lstStyle/>
          <a:p>
            <a:pPr algn="ctr">
              <a:spcBef>
                <a:spcPts val="0"/>
              </a:spcBef>
              <a:spcAft>
                <a:spcPts val="0"/>
              </a:spcAft>
            </a:pPr>
            <a:r>
              <a:rPr sz="950" b="0" i="0">
                <a:solidFill>
                  <a:srgbClr val="1E293B"/>
                </a:solidFill>
                <a:latin typeface="Calibri"/>
              </a:rPr>
              <a:t>React 19 Single Page App</a:t>
            </a:r>
          </a:p>
        </p:txBody>
      </p:sp>
      <p:sp>
        <p:nvSpPr>
          <p:cNvPr id="11" name="Rounded Rectangle 10"/>
          <p:cNvSpPr/>
          <p:nvPr/>
        </p:nvSpPr>
        <p:spPr>
          <a:xfrm>
            <a:off x="576072" y="2633472"/>
            <a:ext cx="3054096" cy="420624"/>
          </a:xfrm>
          <a:prstGeom prst="roundRect">
            <a:avLst/>
          </a:prstGeom>
          <a:solidFill>
            <a:srgbClr val="F3F6FC"/>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27432" bIns="27432"/>
          <a:lstStyle/>
          <a:p>
            <a:pPr algn="ctr">
              <a:spcBef>
                <a:spcPts val="0"/>
              </a:spcBef>
              <a:spcAft>
                <a:spcPts val="0"/>
              </a:spcAft>
            </a:pPr>
            <a:r>
              <a:rPr sz="950" b="0" i="0">
                <a:solidFill>
                  <a:srgbClr val="1E293B"/>
                </a:solidFill>
                <a:latin typeface="Calibri"/>
              </a:rPr>
              <a:t>17 screens • Redux Toolkit store</a:t>
            </a:r>
          </a:p>
        </p:txBody>
      </p:sp>
      <p:sp>
        <p:nvSpPr>
          <p:cNvPr id="12" name="Rounded Rectangle 11"/>
          <p:cNvSpPr/>
          <p:nvPr/>
        </p:nvSpPr>
        <p:spPr>
          <a:xfrm>
            <a:off x="576072" y="3108960"/>
            <a:ext cx="3054096" cy="420624"/>
          </a:xfrm>
          <a:prstGeom prst="roundRect">
            <a:avLst/>
          </a:prstGeom>
          <a:solidFill>
            <a:srgbClr val="F3F6FC"/>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27432" bIns="27432"/>
          <a:lstStyle/>
          <a:p>
            <a:pPr algn="ctr">
              <a:spcBef>
                <a:spcPts val="0"/>
              </a:spcBef>
              <a:spcAft>
                <a:spcPts val="0"/>
              </a:spcAft>
            </a:pPr>
            <a:r>
              <a:rPr sz="950" b="0" i="0">
                <a:solidFill>
                  <a:srgbClr val="1E293B"/>
                </a:solidFill>
                <a:latin typeface="Calibri"/>
              </a:rPr>
              <a:t>ProtectedRoute + AuthContext</a:t>
            </a:r>
          </a:p>
        </p:txBody>
      </p:sp>
      <p:sp>
        <p:nvSpPr>
          <p:cNvPr id="13" name="Rounded Rectangle 12"/>
          <p:cNvSpPr/>
          <p:nvPr/>
        </p:nvSpPr>
        <p:spPr>
          <a:xfrm>
            <a:off x="576072" y="3584448"/>
            <a:ext cx="3054096" cy="420624"/>
          </a:xfrm>
          <a:prstGeom prst="roundRect">
            <a:avLst/>
          </a:prstGeom>
          <a:solidFill>
            <a:srgbClr val="F3F6FC"/>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27432" bIns="27432"/>
          <a:lstStyle/>
          <a:p>
            <a:pPr algn="ctr">
              <a:spcBef>
                <a:spcPts val="0"/>
              </a:spcBef>
              <a:spcAft>
                <a:spcPts val="0"/>
              </a:spcAft>
            </a:pPr>
            <a:r>
              <a:rPr sz="950" b="0" i="0">
                <a:solidFill>
                  <a:srgbClr val="1E293B"/>
                </a:solidFill>
                <a:latin typeface="Calibri"/>
              </a:rPr>
              <a:t>FullCalendar • Recharts • dnd-kit</a:t>
            </a:r>
          </a:p>
        </p:txBody>
      </p:sp>
      <p:sp>
        <p:nvSpPr>
          <p:cNvPr id="14" name="Rounded Rectangle 13"/>
          <p:cNvSpPr/>
          <p:nvPr/>
        </p:nvSpPr>
        <p:spPr>
          <a:xfrm>
            <a:off x="576072" y="4059935"/>
            <a:ext cx="3054096" cy="420624"/>
          </a:xfrm>
          <a:prstGeom prst="roundRect">
            <a:avLst/>
          </a:prstGeom>
          <a:solidFill>
            <a:srgbClr val="F3F6FC"/>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27432" bIns="27432"/>
          <a:lstStyle/>
          <a:p>
            <a:pPr algn="ctr">
              <a:spcBef>
                <a:spcPts val="0"/>
              </a:spcBef>
              <a:spcAft>
                <a:spcPts val="0"/>
              </a:spcAft>
            </a:pPr>
            <a:r>
              <a:rPr sz="950" b="0" i="0">
                <a:solidFill>
                  <a:srgbClr val="1E293B"/>
                </a:solidFill>
                <a:latin typeface="Calibri"/>
              </a:rPr>
              <a:t>Tailwind CSS 4 responsive UI</a:t>
            </a:r>
          </a:p>
        </p:txBody>
      </p:sp>
      <p:sp>
        <p:nvSpPr>
          <p:cNvPr id="15" name="Rounded Rectangle 14"/>
          <p:cNvSpPr/>
          <p:nvPr/>
        </p:nvSpPr>
        <p:spPr>
          <a:xfrm>
            <a:off x="4407408" y="1371600"/>
            <a:ext cx="3383280" cy="3246120"/>
          </a:xfrm>
          <a:prstGeom prst="roundRect">
            <a:avLst/>
          </a:prstGeom>
          <a:solidFill>
            <a:srgbClr val="FFFFFF"/>
          </a:solidFill>
          <a:ln w="19050">
            <a:solidFill>
              <a:srgbClr val="06B6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4407408" y="1371600"/>
            <a:ext cx="3383280" cy="658368"/>
          </a:xfrm>
          <a:prstGeom prst="round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517136" y="1408176"/>
            <a:ext cx="3163824" cy="58521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spcBef>
                <a:spcPts val="0"/>
              </a:spcBef>
              <a:spcAft>
                <a:spcPts val="100"/>
              </a:spcAft>
            </a:pPr>
            <a:r>
              <a:rPr sz="850" b="1" i="0">
                <a:solidFill>
                  <a:srgbClr val="FFFFFF"/>
                </a:solidFill>
                <a:latin typeface="Calibri"/>
              </a:rPr>
              <a:t>TIER 2  —  APPLICATION</a:t>
            </a:r>
          </a:p>
          <a:p>
            <a:pPr algn="ctr">
              <a:spcBef>
                <a:spcPts val="0"/>
              </a:spcBef>
              <a:spcAft>
                <a:spcPts val="0"/>
              </a:spcAft>
            </a:pPr>
            <a:r>
              <a:rPr sz="1300" b="1" i="0">
                <a:solidFill>
                  <a:srgbClr val="FFFFFF"/>
                </a:solidFill>
                <a:latin typeface="Calibri"/>
              </a:rPr>
              <a:t>FastAPI Server</a:t>
            </a:r>
          </a:p>
        </p:txBody>
      </p:sp>
      <p:sp>
        <p:nvSpPr>
          <p:cNvPr id="18" name="Rounded Rectangle 17"/>
          <p:cNvSpPr/>
          <p:nvPr/>
        </p:nvSpPr>
        <p:spPr>
          <a:xfrm>
            <a:off x="4572000" y="2157984"/>
            <a:ext cx="3054096" cy="420624"/>
          </a:xfrm>
          <a:prstGeom prst="roundRect">
            <a:avLst/>
          </a:prstGeom>
          <a:solidFill>
            <a:srgbClr val="F3F6FC"/>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27432" bIns="27432"/>
          <a:lstStyle/>
          <a:p>
            <a:pPr algn="ctr">
              <a:spcBef>
                <a:spcPts val="0"/>
              </a:spcBef>
              <a:spcAft>
                <a:spcPts val="0"/>
              </a:spcAft>
            </a:pPr>
            <a:r>
              <a:rPr sz="950" b="0" i="0">
                <a:solidFill>
                  <a:srgbClr val="1E293B"/>
                </a:solidFill>
                <a:latin typeface="Calibri"/>
              </a:rPr>
              <a:t>20 routers  →  95 REST endpoints</a:t>
            </a:r>
          </a:p>
        </p:txBody>
      </p:sp>
      <p:sp>
        <p:nvSpPr>
          <p:cNvPr id="19" name="Rounded Rectangle 18"/>
          <p:cNvSpPr/>
          <p:nvPr/>
        </p:nvSpPr>
        <p:spPr>
          <a:xfrm>
            <a:off x="4572000" y="2633472"/>
            <a:ext cx="3054096" cy="420624"/>
          </a:xfrm>
          <a:prstGeom prst="roundRect">
            <a:avLst/>
          </a:prstGeom>
          <a:solidFill>
            <a:srgbClr val="F3F6FC"/>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27432" bIns="27432"/>
          <a:lstStyle/>
          <a:p>
            <a:pPr algn="ctr">
              <a:spcBef>
                <a:spcPts val="0"/>
              </a:spcBef>
              <a:spcAft>
                <a:spcPts val="0"/>
              </a:spcAft>
            </a:pPr>
            <a:r>
              <a:rPr sz="950" b="0" i="0">
                <a:solidFill>
                  <a:srgbClr val="1E293B"/>
                </a:solidFill>
                <a:latin typeface="Calibri"/>
              </a:rPr>
              <a:t>JWT verify + check_role() guard</a:t>
            </a:r>
          </a:p>
        </p:txBody>
      </p:sp>
      <p:sp>
        <p:nvSpPr>
          <p:cNvPr id="20" name="Rounded Rectangle 19"/>
          <p:cNvSpPr/>
          <p:nvPr/>
        </p:nvSpPr>
        <p:spPr>
          <a:xfrm>
            <a:off x="4572000" y="3108960"/>
            <a:ext cx="3054096" cy="420624"/>
          </a:xfrm>
          <a:prstGeom prst="roundRect">
            <a:avLst/>
          </a:prstGeom>
          <a:solidFill>
            <a:srgbClr val="F3F6FC"/>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27432" bIns="27432"/>
          <a:lstStyle/>
          <a:p>
            <a:pPr algn="ctr">
              <a:spcBef>
                <a:spcPts val="0"/>
              </a:spcBef>
              <a:spcAft>
                <a:spcPts val="0"/>
              </a:spcAft>
            </a:pPr>
            <a:r>
              <a:rPr sz="950" b="0" i="0">
                <a:solidFill>
                  <a:srgbClr val="1E293B"/>
                </a:solidFill>
                <a:latin typeface="Calibri"/>
              </a:rPr>
              <a:t>APScheduler background jobs</a:t>
            </a:r>
          </a:p>
        </p:txBody>
      </p:sp>
      <p:sp>
        <p:nvSpPr>
          <p:cNvPr id="21" name="Rounded Rectangle 20"/>
          <p:cNvSpPr/>
          <p:nvPr/>
        </p:nvSpPr>
        <p:spPr>
          <a:xfrm>
            <a:off x="4572000" y="3584448"/>
            <a:ext cx="3054096" cy="420624"/>
          </a:xfrm>
          <a:prstGeom prst="roundRect">
            <a:avLst/>
          </a:prstGeom>
          <a:solidFill>
            <a:srgbClr val="F3F6FC"/>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27432" bIns="27432"/>
          <a:lstStyle/>
          <a:p>
            <a:pPr algn="ctr">
              <a:spcBef>
                <a:spcPts val="0"/>
              </a:spcBef>
              <a:spcAft>
                <a:spcPts val="0"/>
              </a:spcAft>
            </a:pPr>
            <a:r>
              <a:rPr sz="950" b="0" i="0">
                <a:solidFill>
                  <a:srgbClr val="1E293B"/>
                </a:solidFill>
                <a:latin typeface="Calibri"/>
              </a:rPr>
              <a:t>Document parser (PDF/DOCX/XLSX)</a:t>
            </a:r>
          </a:p>
        </p:txBody>
      </p:sp>
      <p:sp>
        <p:nvSpPr>
          <p:cNvPr id="22" name="Rounded Rectangle 21"/>
          <p:cNvSpPr/>
          <p:nvPr/>
        </p:nvSpPr>
        <p:spPr>
          <a:xfrm>
            <a:off x="4572000" y="4059935"/>
            <a:ext cx="3054096" cy="420624"/>
          </a:xfrm>
          <a:prstGeom prst="roundRect">
            <a:avLst/>
          </a:prstGeom>
          <a:solidFill>
            <a:srgbClr val="F3F6FC"/>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27432" bIns="27432"/>
          <a:lstStyle/>
          <a:p>
            <a:pPr algn="ctr">
              <a:spcBef>
                <a:spcPts val="0"/>
              </a:spcBef>
              <a:spcAft>
                <a:spcPts val="0"/>
              </a:spcAft>
            </a:pPr>
            <a:r>
              <a:rPr sz="950" b="0" i="0">
                <a:solidFill>
                  <a:srgbClr val="1E293B"/>
                </a:solidFill>
                <a:latin typeface="Calibri"/>
              </a:rPr>
              <a:t>Risk engine + AI service layer</a:t>
            </a:r>
          </a:p>
        </p:txBody>
      </p:sp>
      <p:sp>
        <p:nvSpPr>
          <p:cNvPr id="23" name="Rounded Rectangle 22"/>
          <p:cNvSpPr/>
          <p:nvPr/>
        </p:nvSpPr>
        <p:spPr>
          <a:xfrm>
            <a:off x="8403336" y="1371600"/>
            <a:ext cx="3383280" cy="3246120"/>
          </a:xfrm>
          <a:prstGeom prst="roundRect">
            <a:avLst/>
          </a:prstGeom>
          <a:solidFill>
            <a:srgbClr val="FFFFFF"/>
          </a:solidFill>
          <a:ln w="1905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8403336" y="1371600"/>
            <a:ext cx="3383280" cy="658368"/>
          </a:xfrm>
          <a:prstGeom prst="round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8513063" y="1408176"/>
            <a:ext cx="3163824" cy="58521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spcBef>
                <a:spcPts val="0"/>
              </a:spcBef>
              <a:spcAft>
                <a:spcPts val="100"/>
              </a:spcAft>
            </a:pPr>
            <a:r>
              <a:rPr sz="850" b="1" i="0">
                <a:solidFill>
                  <a:srgbClr val="FFFFFF"/>
                </a:solidFill>
                <a:latin typeface="Calibri"/>
              </a:rPr>
              <a:t>TIER 3  —  DATA &amp; SERVICES</a:t>
            </a:r>
          </a:p>
          <a:p>
            <a:pPr algn="ctr">
              <a:spcBef>
                <a:spcPts val="0"/>
              </a:spcBef>
              <a:spcAft>
                <a:spcPts val="0"/>
              </a:spcAft>
            </a:pPr>
            <a:r>
              <a:rPr sz="1300" b="1" i="0">
                <a:solidFill>
                  <a:srgbClr val="FFFFFF"/>
                </a:solidFill>
                <a:latin typeface="Calibri"/>
              </a:rPr>
              <a:t>Firebase + External APIs</a:t>
            </a:r>
          </a:p>
        </p:txBody>
      </p:sp>
      <p:sp>
        <p:nvSpPr>
          <p:cNvPr id="26" name="Rounded Rectangle 25"/>
          <p:cNvSpPr/>
          <p:nvPr/>
        </p:nvSpPr>
        <p:spPr>
          <a:xfrm>
            <a:off x="8567928" y="2157984"/>
            <a:ext cx="3054096" cy="420624"/>
          </a:xfrm>
          <a:prstGeom prst="roundRect">
            <a:avLst/>
          </a:prstGeom>
          <a:solidFill>
            <a:srgbClr val="F3F6FC"/>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27432" bIns="27432"/>
          <a:lstStyle/>
          <a:p>
            <a:pPr algn="ctr">
              <a:spcBef>
                <a:spcPts val="0"/>
              </a:spcBef>
              <a:spcAft>
                <a:spcPts val="0"/>
              </a:spcAft>
            </a:pPr>
            <a:r>
              <a:rPr sz="950" b="0" i="0">
                <a:solidFill>
                  <a:srgbClr val="1E293B"/>
                </a:solidFill>
                <a:latin typeface="Calibri"/>
              </a:rPr>
              <a:t>Firestore NoSQL collections</a:t>
            </a:r>
          </a:p>
        </p:txBody>
      </p:sp>
      <p:sp>
        <p:nvSpPr>
          <p:cNvPr id="27" name="Rounded Rectangle 26"/>
          <p:cNvSpPr/>
          <p:nvPr/>
        </p:nvSpPr>
        <p:spPr>
          <a:xfrm>
            <a:off x="8567928" y="2633472"/>
            <a:ext cx="3054096" cy="420624"/>
          </a:xfrm>
          <a:prstGeom prst="roundRect">
            <a:avLst/>
          </a:prstGeom>
          <a:solidFill>
            <a:srgbClr val="F3F6FC"/>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27432" bIns="27432"/>
          <a:lstStyle/>
          <a:p>
            <a:pPr algn="ctr">
              <a:spcBef>
                <a:spcPts val="0"/>
              </a:spcBef>
              <a:spcAft>
                <a:spcPts val="0"/>
              </a:spcAft>
            </a:pPr>
            <a:r>
              <a:rPr sz="950" b="0" i="0">
                <a:solidFill>
                  <a:srgbClr val="1E293B"/>
                </a:solidFill>
                <a:latin typeface="Calibri"/>
              </a:rPr>
              <a:t>Firebase Auth • Firebase Storage</a:t>
            </a:r>
          </a:p>
        </p:txBody>
      </p:sp>
      <p:sp>
        <p:nvSpPr>
          <p:cNvPr id="28" name="Rounded Rectangle 27"/>
          <p:cNvSpPr/>
          <p:nvPr/>
        </p:nvSpPr>
        <p:spPr>
          <a:xfrm>
            <a:off x="8567928" y="3108960"/>
            <a:ext cx="3054096" cy="420624"/>
          </a:xfrm>
          <a:prstGeom prst="roundRect">
            <a:avLst/>
          </a:prstGeom>
          <a:solidFill>
            <a:srgbClr val="F3F6FC"/>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27432" bIns="27432"/>
          <a:lstStyle/>
          <a:p>
            <a:pPr algn="ctr">
              <a:spcBef>
                <a:spcPts val="0"/>
              </a:spcBef>
              <a:spcAft>
                <a:spcPts val="0"/>
              </a:spcAft>
            </a:pPr>
            <a:r>
              <a:rPr sz="950" b="0" i="0">
                <a:solidFill>
                  <a:srgbClr val="1E293B"/>
                </a:solidFill>
                <a:latin typeface="Calibri"/>
              </a:rPr>
              <a:t>Google Gemini 1.5 Flash API</a:t>
            </a:r>
          </a:p>
        </p:txBody>
      </p:sp>
      <p:sp>
        <p:nvSpPr>
          <p:cNvPr id="29" name="Rounded Rectangle 28"/>
          <p:cNvSpPr/>
          <p:nvPr/>
        </p:nvSpPr>
        <p:spPr>
          <a:xfrm>
            <a:off x="8567928" y="3584448"/>
            <a:ext cx="3054096" cy="420624"/>
          </a:xfrm>
          <a:prstGeom prst="roundRect">
            <a:avLst/>
          </a:prstGeom>
          <a:solidFill>
            <a:srgbClr val="F3F6FC"/>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27432" bIns="27432"/>
          <a:lstStyle/>
          <a:p>
            <a:pPr algn="ctr">
              <a:spcBef>
                <a:spcPts val="0"/>
              </a:spcBef>
              <a:spcAft>
                <a:spcPts val="0"/>
              </a:spcAft>
            </a:pPr>
            <a:r>
              <a:rPr sz="950" b="0" i="0">
                <a:solidFill>
                  <a:srgbClr val="1E293B"/>
                </a:solidFill>
                <a:latin typeface="Calibri"/>
              </a:rPr>
              <a:t>WhatsApp Cloud API v22.0</a:t>
            </a:r>
          </a:p>
        </p:txBody>
      </p:sp>
      <p:sp>
        <p:nvSpPr>
          <p:cNvPr id="30" name="Rounded Rectangle 29"/>
          <p:cNvSpPr/>
          <p:nvPr/>
        </p:nvSpPr>
        <p:spPr>
          <a:xfrm>
            <a:off x="8567928" y="4059935"/>
            <a:ext cx="3054096" cy="420624"/>
          </a:xfrm>
          <a:prstGeom prst="roundRect">
            <a:avLst/>
          </a:prstGeom>
          <a:solidFill>
            <a:srgbClr val="F3F6FC"/>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27432" bIns="27432"/>
          <a:lstStyle/>
          <a:p>
            <a:pPr algn="ctr">
              <a:spcBef>
                <a:spcPts val="0"/>
              </a:spcBef>
              <a:spcAft>
                <a:spcPts val="0"/>
              </a:spcAft>
            </a:pPr>
            <a:r>
              <a:rPr sz="950" b="0" i="0">
                <a:solidFill>
                  <a:srgbClr val="1E293B"/>
                </a:solidFill>
                <a:latin typeface="Calibri"/>
              </a:rPr>
              <a:t>SMTP e-mail notifications</a:t>
            </a:r>
          </a:p>
        </p:txBody>
      </p:sp>
      <p:cxnSp>
        <p:nvCxnSpPr>
          <p:cNvPr id="31" name="Connector 30"/>
          <p:cNvCxnSpPr/>
          <p:nvPr/>
        </p:nvCxnSpPr>
        <p:spPr>
          <a:xfrm>
            <a:off x="3813048" y="2788920"/>
            <a:ext cx="566928" cy="0"/>
          </a:xfrm>
          <a:prstGeom prst="line">
            <a:avLst/>
          </a:prstGeom>
          <a:ln w="31750">
            <a:solidFill>
              <a:srgbClr val="0B1E3B"/>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flipH="1">
            <a:off x="3813048" y="3246120"/>
            <a:ext cx="566928" cy="0"/>
          </a:xfrm>
          <a:prstGeom prst="line">
            <a:avLst/>
          </a:prstGeom>
          <a:ln w="25400">
            <a:solidFill>
              <a:srgbClr val="64748B"/>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a:off x="7808975" y="2788920"/>
            <a:ext cx="566929" cy="0"/>
          </a:xfrm>
          <a:prstGeom prst="line">
            <a:avLst/>
          </a:prstGeom>
          <a:ln w="31750">
            <a:solidFill>
              <a:srgbClr val="0B1E3B"/>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flipH="1">
            <a:off x="7808975" y="3246120"/>
            <a:ext cx="566929" cy="0"/>
          </a:xfrm>
          <a:prstGeom prst="line">
            <a:avLst/>
          </a:prstGeom>
          <a:ln w="25400">
            <a:solidFill>
              <a:srgbClr val="64748B"/>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35" name="Rectangle 34"/>
          <p:cNvSpPr/>
          <p:nvPr/>
        </p:nvSpPr>
        <p:spPr>
          <a:xfrm>
            <a:off x="3803904" y="2304288"/>
            <a:ext cx="621792" cy="4114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spcBef>
                <a:spcPts val="0"/>
              </a:spcBef>
              <a:spcAft>
                <a:spcPts val="0"/>
              </a:spcAft>
            </a:pPr>
            <a:r>
              <a:rPr sz="750" b="1" i="0">
                <a:solidFill>
                  <a:srgbClr val="0B1E3B"/>
                </a:solidFill>
                <a:latin typeface="Calibri"/>
              </a:rPr>
              <a:t>HTTPS</a:t>
            </a:r>
          </a:p>
          <a:p>
            <a:pPr algn="ctr">
              <a:spcBef>
                <a:spcPts val="0"/>
              </a:spcBef>
              <a:spcAft>
                <a:spcPts val="0"/>
              </a:spcAft>
            </a:pPr>
            <a:r>
              <a:rPr sz="650" b="0" i="0">
                <a:solidFill>
                  <a:srgbClr val="64748B"/>
                </a:solidFill>
                <a:latin typeface="Calibri"/>
              </a:rPr>
              <a:t>REST / JSON</a:t>
            </a:r>
          </a:p>
        </p:txBody>
      </p:sp>
      <p:sp>
        <p:nvSpPr>
          <p:cNvPr id="36" name="Rectangle 35"/>
          <p:cNvSpPr/>
          <p:nvPr/>
        </p:nvSpPr>
        <p:spPr>
          <a:xfrm>
            <a:off x="7799831" y="2304288"/>
            <a:ext cx="621792" cy="4114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spcBef>
                <a:spcPts val="0"/>
              </a:spcBef>
              <a:spcAft>
                <a:spcPts val="0"/>
              </a:spcAft>
            </a:pPr>
            <a:r>
              <a:rPr sz="750" b="1" i="0">
                <a:solidFill>
                  <a:srgbClr val="0B1E3B"/>
                </a:solidFill>
                <a:latin typeface="Calibri"/>
              </a:rPr>
              <a:t>Admin</a:t>
            </a:r>
          </a:p>
          <a:p>
            <a:pPr algn="ctr">
              <a:spcBef>
                <a:spcPts val="0"/>
              </a:spcBef>
              <a:spcAft>
                <a:spcPts val="0"/>
              </a:spcAft>
            </a:pPr>
            <a:r>
              <a:rPr sz="650" b="0" i="0">
                <a:solidFill>
                  <a:srgbClr val="64748B"/>
                </a:solidFill>
                <a:latin typeface="Calibri"/>
              </a:rPr>
              <a:t>SDK / HTTPS</a:t>
            </a:r>
          </a:p>
        </p:txBody>
      </p:sp>
      <p:sp>
        <p:nvSpPr>
          <p:cNvPr id="37" name="Rounded Rectangle 36"/>
          <p:cNvSpPr/>
          <p:nvPr/>
        </p:nvSpPr>
        <p:spPr>
          <a:xfrm>
            <a:off x="411480" y="4754880"/>
            <a:ext cx="11365992" cy="777240"/>
          </a:xfrm>
          <a:prstGeom prst="roundRect">
            <a:avLst/>
          </a:prstGeom>
          <a:solidFill>
            <a:srgbClr val="FFFFFF"/>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548640" y="4828032"/>
            <a:ext cx="1371600" cy="6400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spcBef>
                <a:spcPts val="0"/>
              </a:spcBef>
              <a:spcAft>
                <a:spcPts val="0"/>
              </a:spcAft>
            </a:pPr>
            <a:r>
              <a:rPr sz="900" b="1" i="0">
                <a:solidFill>
                  <a:srgbClr val="0B1E3B"/>
                </a:solidFill>
                <a:latin typeface="Calibri"/>
              </a:rPr>
              <a:t>REQUEST</a:t>
            </a:r>
          </a:p>
          <a:p>
            <a:pPr algn="l">
              <a:spcBef>
                <a:spcPts val="0"/>
              </a:spcBef>
              <a:spcAft>
                <a:spcPts val="0"/>
              </a:spcAft>
            </a:pPr>
            <a:r>
              <a:rPr sz="900" b="1" i="0">
                <a:solidFill>
                  <a:srgbClr val="0B1E3B"/>
                </a:solidFill>
                <a:latin typeface="Calibri"/>
              </a:rPr>
              <a:t>FLOW</a:t>
            </a:r>
          </a:p>
        </p:txBody>
      </p:sp>
      <p:sp>
        <p:nvSpPr>
          <p:cNvPr id="39" name="Rounded Rectangle 38"/>
          <p:cNvSpPr/>
          <p:nvPr/>
        </p:nvSpPr>
        <p:spPr>
          <a:xfrm>
            <a:off x="1783080" y="4864608"/>
            <a:ext cx="1490472" cy="566928"/>
          </a:xfrm>
          <a:prstGeom prst="roundRect">
            <a:avLst/>
          </a:prstGeom>
          <a:solidFill>
            <a:srgbClr val="EEF2FF"/>
          </a:solidFill>
          <a:ln w="12700">
            <a:solidFill>
              <a:srgbClr val="4F46E5"/>
            </a:solidFill>
          </a:ln>
          <a:effectLst/>
        </p:spPr>
        <p:style>
          <a:lnRef idx="1">
            <a:schemeClr val="accent1"/>
          </a:lnRef>
          <a:fillRef idx="3">
            <a:schemeClr val="accent1"/>
          </a:fillRef>
          <a:effectRef idx="2">
            <a:schemeClr val="accent1"/>
          </a:effectRef>
          <a:fontRef idx="minor">
            <a:schemeClr val="lt1"/>
          </a:fontRef>
        </p:style>
        <p:txBody>
          <a:bodyPr rtlCol="0" anchor="ctr" wrap="square" lIns="27432" rIns="27432" tIns="27432" bIns="27432"/>
          <a:lstStyle/>
          <a:p>
            <a:pPr algn="ctr">
              <a:spcBef>
                <a:spcPts val="0"/>
              </a:spcBef>
              <a:spcAft>
                <a:spcPts val="0"/>
              </a:spcAft>
            </a:pPr>
            <a:r>
              <a:rPr sz="800" b="0" i="0">
                <a:solidFill>
                  <a:srgbClr val="0B1E3B"/>
                </a:solidFill>
                <a:latin typeface="Calibri"/>
              </a:rPr>
              <a:t>1  User clicks in
React screen</a:t>
            </a:r>
          </a:p>
        </p:txBody>
      </p:sp>
      <p:cxnSp>
        <p:nvCxnSpPr>
          <p:cNvPr id="40" name="Connector 39"/>
          <p:cNvCxnSpPr/>
          <p:nvPr/>
        </p:nvCxnSpPr>
        <p:spPr>
          <a:xfrm>
            <a:off x="3273552" y="5148072"/>
            <a:ext cx="118872" cy="0"/>
          </a:xfrm>
          <a:prstGeom prst="line">
            <a:avLst/>
          </a:prstGeom>
          <a:ln w="19050">
            <a:solidFill>
              <a:srgbClr val="4F46E5"/>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41" name="Rounded Rectangle 40"/>
          <p:cNvSpPr/>
          <p:nvPr/>
        </p:nvSpPr>
        <p:spPr>
          <a:xfrm>
            <a:off x="3392424" y="4864608"/>
            <a:ext cx="1490472" cy="566928"/>
          </a:xfrm>
          <a:prstGeom prst="roundRect">
            <a:avLst/>
          </a:prstGeom>
          <a:solidFill>
            <a:srgbClr val="EEF2FF"/>
          </a:solidFill>
          <a:ln w="12700">
            <a:solidFill>
              <a:srgbClr val="4F46E5"/>
            </a:solidFill>
          </a:ln>
          <a:effectLst/>
        </p:spPr>
        <p:style>
          <a:lnRef idx="1">
            <a:schemeClr val="accent1"/>
          </a:lnRef>
          <a:fillRef idx="3">
            <a:schemeClr val="accent1"/>
          </a:fillRef>
          <a:effectRef idx="2">
            <a:schemeClr val="accent1"/>
          </a:effectRef>
          <a:fontRef idx="minor">
            <a:schemeClr val="lt1"/>
          </a:fontRef>
        </p:style>
        <p:txBody>
          <a:bodyPr rtlCol="0" anchor="ctr" wrap="square" lIns="27432" rIns="27432" tIns="27432" bIns="27432"/>
          <a:lstStyle/>
          <a:p>
            <a:pPr algn="ctr">
              <a:spcBef>
                <a:spcPts val="0"/>
              </a:spcBef>
              <a:spcAft>
                <a:spcPts val="0"/>
              </a:spcAft>
            </a:pPr>
            <a:r>
              <a:rPr sz="800" b="0" i="0">
                <a:solidFill>
                  <a:srgbClr val="0B1E3B"/>
                </a:solidFill>
                <a:latin typeface="Calibri"/>
              </a:rPr>
              <a:t>2  fetch() with
Bearer JWT</a:t>
            </a:r>
          </a:p>
        </p:txBody>
      </p:sp>
      <p:cxnSp>
        <p:nvCxnSpPr>
          <p:cNvPr id="42" name="Connector 41"/>
          <p:cNvCxnSpPr/>
          <p:nvPr/>
        </p:nvCxnSpPr>
        <p:spPr>
          <a:xfrm>
            <a:off x="4882896" y="5148072"/>
            <a:ext cx="118872" cy="0"/>
          </a:xfrm>
          <a:prstGeom prst="line">
            <a:avLst/>
          </a:prstGeom>
          <a:ln w="19050">
            <a:solidFill>
              <a:srgbClr val="4F46E5"/>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43" name="Rounded Rectangle 42"/>
          <p:cNvSpPr/>
          <p:nvPr/>
        </p:nvSpPr>
        <p:spPr>
          <a:xfrm>
            <a:off x="5001768" y="4864608"/>
            <a:ext cx="1490472" cy="566928"/>
          </a:xfrm>
          <a:prstGeom prst="roundRect">
            <a:avLst/>
          </a:prstGeom>
          <a:solidFill>
            <a:srgbClr val="EEF2FF"/>
          </a:solidFill>
          <a:ln w="12700">
            <a:solidFill>
              <a:srgbClr val="4F46E5"/>
            </a:solidFill>
          </a:ln>
          <a:effectLst/>
        </p:spPr>
        <p:style>
          <a:lnRef idx="1">
            <a:schemeClr val="accent1"/>
          </a:lnRef>
          <a:fillRef idx="3">
            <a:schemeClr val="accent1"/>
          </a:fillRef>
          <a:effectRef idx="2">
            <a:schemeClr val="accent1"/>
          </a:effectRef>
          <a:fontRef idx="minor">
            <a:schemeClr val="lt1"/>
          </a:fontRef>
        </p:style>
        <p:txBody>
          <a:bodyPr rtlCol="0" anchor="ctr" wrap="square" lIns="27432" rIns="27432" tIns="27432" bIns="27432"/>
          <a:lstStyle/>
          <a:p>
            <a:pPr algn="ctr">
              <a:spcBef>
                <a:spcPts val="0"/>
              </a:spcBef>
              <a:spcAft>
                <a:spcPts val="0"/>
              </a:spcAft>
            </a:pPr>
            <a:r>
              <a:rPr sz="800" b="0" i="0">
                <a:solidFill>
                  <a:srgbClr val="0B1E3B"/>
                </a:solidFill>
                <a:latin typeface="Calibri"/>
              </a:rPr>
              <a:t>3  FastAPI checks
token + role</a:t>
            </a:r>
          </a:p>
        </p:txBody>
      </p:sp>
      <p:cxnSp>
        <p:nvCxnSpPr>
          <p:cNvPr id="44" name="Connector 43"/>
          <p:cNvCxnSpPr/>
          <p:nvPr/>
        </p:nvCxnSpPr>
        <p:spPr>
          <a:xfrm>
            <a:off x="6492240" y="5148072"/>
            <a:ext cx="118872" cy="0"/>
          </a:xfrm>
          <a:prstGeom prst="line">
            <a:avLst/>
          </a:prstGeom>
          <a:ln w="19050">
            <a:solidFill>
              <a:srgbClr val="4F46E5"/>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45" name="Rounded Rectangle 44"/>
          <p:cNvSpPr/>
          <p:nvPr/>
        </p:nvSpPr>
        <p:spPr>
          <a:xfrm>
            <a:off x="6611112" y="4864608"/>
            <a:ext cx="1490472" cy="566928"/>
          </a:xfrm>
          <a:prstGeom prst="roundRect">
            <a:avLst/>
          </a:prstGeom>
          <a:solidFill>
            <a:srgbClr val="EEF2FF"/>
          </a:solidFill>
          <a:ln w="12700">
            <a:solidFill>
              <a:srgbClr val="4F46E5"/>
            </a:solidFill>
          </a:ln>
          <a:effectLst/>
        </p:spPr>
        <p:style>
          <a:lnRef idx="1">
            <a:schemeClr val="accent1"/>
          </a:lnRef>
          <a:fillRef idx="3">
            <a:schemeClr val="accent1"/>
          </a:fillRef>
          <a:effectRef idx="2">
            <a:schemeClr val="accent1"/>
          </a:effectRef>
          <a:fontRef idx="minor">
            <a:schemeClr val="lt1"/>
          </a:fontRef>
        </p:style>
        <p:txBody>
          <a:bodyPr rtlCol="0" anchor="ctr" wrap="square" lIns="27432" rIns="27432" tIns="27432" bIns="27432"/>
          <a:lstStyle/>
          <a:p>
            <a:pPr algn="ctr">
              <a:spcBef>
                <a:spcPts val="0"/>
              </a:spcBef>
              <a:spcAft>
                <a:spcPts val="0"/>
              </a:spcAft>
            </a:pPr>
            <a:r>
              <a:rPr sz="800" b="0" i="0">
                <a:solidFill>
                  <a:srgbClr val="0B1E3B"/>
                </a:solidFill>
                <a:latin typeface="Calibri"/>
              </a:rPr>
              <a:t>4  Firestore read
/ write</a:t>
            </a:r>
          </a:p>
        </p:txBody>
      </p:sp>
      <p:cxnSp>
        <p:nvCxnSpPr>
          <p:cNvPr id="46" name="Connector 45"/>
          <p:cNvCxnSpPr/>
          <p:nvPr/>
        </p:nvCxnSpPr>
        <p:spPr>
          <a:xfrm>
            <a:off x="8101583" y="5148072"/>
            <a:ext cx="118873" cy="0"/>
          </a:xfrm>
          <a:prstGeom prst="line">
            <a:avLst/>
          </a:prstGeom>
          <a:ln w="19050">
            <a:solidFill>
              <a:srgbClr val="4F46E5"/>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47" name="Rounded Rectangle 46"/>
          <p:cNvSpPr/>
          <p:nvPr/>
        </p:nvSpPr>
        <p:spPr>
          <a:xfrm>
            <a:off x="8220456" y="4864608"/>
            <a:ext cx="1490472" cy="566928"/>
          </a:xfrm>
          <a:prstGeom prst="roundRect">
            <a:avLst/>
          </a:prstGeom>
          <a:solidFill>
            <a:srgbClr val="EEF2FF"/>
          </a:solidFill>
          <a:ln w="12700">
            <a:solidFill>
              <a:srgbClr val="4F46E5"/>
            </a:solidFill>
          </a:ln>
          <a:effectLst/>
        </p:spPr>
        <p:style>
          <a:lnRef idx="1">
            <a:schemeClr val="accent1"/>
          </a:lnRef>
          <a:fillRef idx="3">
            <a:schemeClr val="accent1"/>
          </a:fillRef>
          <a:effectRef idx="2">
            <a:schemeClr val="accent1"/>
          </a:effectRef>
          <a:fontRef idx="minor">
            <a:schemeClr val="lt1"/>
          </a:fontRef>
        </p:style>
        <p:txBody>
          <a:bodyPr rtlCol="0" anchor="ctr" wrap="square" lIns="27432" rIns="27432" tIns="27432" bIns="27432"/>
          <a:lstStyle/>
          <a:p>
            <a:pPr algn="ctr">
              <a:spcBef>
                <a:spcPts val="0"/>
              </a:spcBef>
              <a:spcAft>
                <a:spcPts val="0"/>
              </a:spcAft>
            </a:pPr>
            <a:r>
              <a:rPr sz="800" b="0" i="0">
                <a:solidFill>
                  <a:srgbClr val="0B1E3B"/>
                </a:solidFill>
                <a:latin typeface="Calibri"/>
              </a:rPr>
              <a:t>5  Notify • WhatsApp
• Gemini</a:t>
            </a:r>
          </a:p>
        </p:txBody>
      </p:sp>
      <p:cxnSp>
        <p:nvCxnSpPr>
          <p:cNvPr id="48" name="Connector 47"/>
          <p:cNvCxnSpPr/>
          <p:nvPr/>
        </p:nvCxnSpPr>
        <p:spPr>
          <a:xfrm>
            <a:off x="9710928" y="5148072"/>
            <a:ext cx="118872" cy="0"/>
          </a:xfrm>
          <a:prstGeom prst="line">
            <a:avLst/>
          </a:prstGeom>
          <a:ln w="19050">
            <a:solidFill>
              <a:srgbClr val="4F46E5"/>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49" name="Rounded Rectangle 48"/>
          <p:cNvSpPr/>
          <p:nvPr/>
        </p:nvSpPr>
        <p:spPr>
          <a:xfrm>
            <a:off x="9829800" y="4864608"/>
            <a:ext cx="1490472" cy="566928"/>
          </a:xfrm>
          <a:prstGeom prst="roundRect">
            <a:avLst/>
          </a:prstGeom>
          <a:solidFill>
            <a:srgbClr val="EEF2FF"/>
          </a:solidFill>
          <a:ln w="12700">
            <a:solidFill>
              <a:srgbClr val="4F46E5"/>
            </a:solidFill>
          </a:ln>
          <a:effectLst/>
        </p:spPr>
        <p:style>
          <a:lnRef idx="1">
            <a:schemeClr val="accent1"/>
          </a:lnRef>
          <a:fillRef idx="3">
            <a:schemeClr val="accent1"/>
          </a:fillRef>
          <a:effectRef idx="2">
            <a:schemeClr val="accent1"/>
          </a:effectRef>
          <a:fontRef idx="minor">
            <a:schemeClr val="lt1"/>
          </a:fontRef>
        </p:style>
        <p:txBody>
          <a:bodyPr rtlCol="0" anchor="ctr" wrap="square" lIns="27432" rIns="27432" tIns="27432" bIns="27432"/>
          <a:lstStyle/>
          <a:p>
            <a:pPr algn="ctr">
              <a:spcBef>
                <a:spcPts val="0"/>
              </a:spcBef>
              <a:spcAft>
                <a:spcPts val="0"/>
              </a:spcAft>
            </a:pPr>
            <a:r>
              <a:rPr sz="800" b="0" i="0">
                <a:solidFill>
                  <a:srgbClr val="0B1E3B"/>
                </a:solidFill>
                <a:latin typeface="Calibri"/>
              </a:rPr>
              <a:t>6  JSON back →
UI updates</a:t>
            </a:r>
          </a:p>
        </p:txBody>
      </p:sp>
      <p:sp>
        <p:nvSpPr>
          <p:cNvPr id="50" name="Rounded Rectangle 49"/>
          <p:cNvSpPr/>
          <p:nvPr/>
        </p:nvSpPr>
        <p:spPr>
          <a:xfrm>
            <a:off x="411480" y="5669280"/>
            <a:ext cx="11365992" cy="658368"/>
          </a:xfrm>
          <a:prstGeom prst="roundRect">
            <a:avLst/>
          </a:prstGeom>
          <a:solidFill>
            <a:srgbClr val="0B1E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Rectangle 50"/>
          <p:cNvSpPr/>
          <p:nvPr/>
        </p:nvSpPr>
        <p:spPr>
          <a:xfrm>
            <a:off x="548640" y="5724144"/>
            <a:ext cx="1828800" cy="5486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spcBef>
                <a:spcPts val="0"/>
              </a:spcBef>
              <a:spcAft>
                <a:spcPts val="0"/>
              </a:spcAft>
            </a:pPr>
            <a:r>
              <a:rPr sz="900" b="1" i="0">
                <a:solidFill>
                  <a:srgbClr val="06B6D4"/>
                </a:solidFill>
                <a:latin typeface="Calibri"/>
              </a:rPr>
              <a:t>CROSS-CUTTING</a:t>
            </a:r>
          </a:p>
        </p:txBody>
      </p:sp>
      <p:sp>
        <p:nvSpPr>
          <p:cNvPr id="52" name="Rounded Rectangle 51"/>
          <p:cNvSpPr/>
          <p:nvPr/>
        </p:nvSpPr>
        <p:spPr>
          <a:xfrm>
            <a:off x="2148840" y="5788152"/>
            <a:ext cx="1572768" cy="420624"/>
          </a:xfrm>
          <a:prstGeom prst="roundRect">
            <a:avLst/>
          </a:prstGeom>
          <a:solidFill>
            <a:srgbClr val="143363"/>
          </a:solidFill>
          <a:ln w="12700">
            <a:solidFill>
              <a:srgbClr val="2A4A80"/>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27432" bIns="27432"/>
          <a:lstStyle/>
          <a:p>
            <a:pPr algn="ctr">
              <a:spcBef>
                <a:spcPts val="0"/>
              </a:spcBef>
              <a:spcAft>
                <a:spcPts val="0"/>
              </a:spcAft>
            </a:pPr>
            <a:r>
              <a:rPr sz="800" b="0" i="0">
                <a:solidFill>
                  <a:srgbClr val="FFFFFF"/>
                </a:solidFill>
                <a:latin typeface="Calibri"/>
              </a:rPr>
              <a:t>JWT HS256 · 30 min</a:t>
            </a:r>
          </a:p>
        </p:txBody>
      </p:sp>
      <p:sp>
        <p:nvSpPr>
          <p:cNvPr id="53" name="Rounded Rectangle 52"/>
          <p:cNvSpPr/>
          <p:nvPr/>
        </p:nvSpPr>
        <p:spPr>
          <a:xfrm>
            <a:off x="3776472" y="5788152"/>
            <a:ext cx="1572768" cy="420624"/>
          </a:xfrm>
          <a:prstGeom prst="roundRect">
            <a:avLst/>
          </a:prstGeom>
          <a:solidFill>
            <a:srgbClr val="143363"/>
          </a:solidFill>
          <a:ln w="12700">
            <a:solidFill>
              <a:srgbClr val="2A4A80"/>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27432" bIns="27432"/>
          <a:lstStyle/>
          <a:p>
            <a:pPr algn="ctr">
              <a:spcBef>
                <a:spcPts val="0"/>
              </a:spcBef>
              <a:spcAft>
                <a:spcPts val="0"/>
              </a:spcAft>
            </a:pPr>
            <a:r>
              <a:rPr sz="800" b="0" i="0">
                <a:solidFill>
                  <a:srgbClr val="FFFFFF"/>
                </a:solidFill>
                <a:latin typeface="Calibri"/>
              </a:rPr>
              <a:t>check_role() RBAC</a:t>
            </a:r>
          </a:p>
        </p:txBody>
      </p:sp>
      <p:sp>
        <p:nvSpPr>
          <p:cNvPr id="54" name="Rounded Rectangle 53"/>
          <p:cNvSpPr/>
          <p:nvPr/>
        </p:nvSpPr>
        <p:spPr>
          <a:xfrm>
            <a:off x="5404104" y="5788152"/>
            <a:ext cx="1572768" cy="420624"/>
          </a:xfrm>
          <a:prstGeom prst="roundRect">
            <a:avLst/>
          </a:prstGeom>
          <a:solidFill>
            <a:srgbClr val="143363"/>
          </a:solidFill>
          <a:ln w="12700">
            <a:solidFill>
              <a:srgbClr val="2A4A80"/>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27432" bIns="27432"/>
          <a:lstStyle/>
          <a:p>
            <a:pPr algn="ctr">
              <a:spcBef>
                <a:spcPts val="0"/>
              </a:spcBef>
              <a:spcAft>
                <a:spcPts val="0"/>
              </a:spcAft>
            </a:pPr>
            <a:r>
              <a:rPr sz="800" b="0" i="0">
                <a:solidFill>
                  <a:srgbClr val="FFFFFF"/>
                </a:solidFill>
                <a:latin typeface="Calibri"/>
              </a:rPr>
              <a:t>CORS middleware</a:t>
            </a:r>
          </a:p>
        </p:txBody>
      </p:sp>
      <p:sp>
        <p:nvSpPr>
          <p:cNvPr id="55" name="Rounded Rectangle 54"/>
          <p:cNvSpPr/>
          <p:nvPr/>
        </p:nvSpPr>
        <p:spPr>
          <a:xfrm>
            <a:off x="7031736" y="5788152"/>
            <a:ext cx="1572768" cy="420624"/>
          </a:xfrm>
          <a:prstGeom prst="roundRect">
            <a:avLst/>
          </a:prstGeom>
          <a:solidFill>
            <a:srgbClr val="143363"/>
          </a:solidFill>
          <a:ln w="12700">
            <a:solidFill>
              <a:srgbClr val="2A4A80"/>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27432" bIns="27432"/>
          <a:lstStyle/>
          <a:p>
            <a:pPr algn="ctr">
              <a:spcBef>
                <a:spcPts val="0"/>
              </a:spcBef>
              <a:spcAft>
                <a:spcPts val="0"/>
              </a:spcAft>
            </a:pPr>
            <a:r>
              <a:rPr sz="800" b="0" i="0">
                <a:solidFill>
                  <a:srgbClr val="FFFFFF"/>
                </a:solidFill>
                <a:latin typeface="Calibri"/>
              </a:rPr>
              <a:t>APScheduler · every 5 min</a:t>
            </a:r>
          </a:p>
        </p:txBody>
      </p:sp>
      <p:sp>
        <p:nvSpPr>
          <p:cNvPr id="56" name="Rounded Rectangle 55"/>
          <p:cNvSpPr/>
          <p:nvPr/>
        </p:nvSpPr>
        <p:spPr>
          <a:xfrm>
            <a:off x="8659368" y="5788152"/>
            <a:ext cx="1572768" cy="420624"/>
          </a:xfrm>
          <a:prstGeom prst="roundRect">
            <a:avLst/>
          </a:prstGeom>
          <a:solidFill>
            <a:srgbClr val="143363"/>
          </a:solidFill>
          <a:ln w="12700">
            <a:solidFill>
              <a:srgbClr val="2A4A80"/>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27432" bIns="27432"/>
          <a:lstStyle/>
          <a:p>
            <a:pPr algn="ctr">
              <a:spcBef>
                <a:spcPts val="0"/>
              </a:spcBef>
              <a:spcAft>
                <a:spcPts val="0"/>
              </a:spcAft>
            </a:pPr>
            <a:r>
              <a:rPr sz="800" b="0" i="0">
                <a:solidFill>
                  <a:srgbClr val="FFFFFF"/>
                </a:solidFill>
                <a:latin typeface="Calibri"/>
              </a:rPr>
              <a:t>Central logging</a:t>
            </a:r>
          </a:p>
        </p:txBody>
      </p:sp>
      <p:sp>
        <p:nvSpPr>
          <p:cNvPr id="57" name="Rounded Rectangle 56"/>
          <p:cNvSpPr/>
          <p:nvPr/>
        </p:nvSpPr>
        <p:spPr>
          <a:xfrm>
            <a:off x="10287000" y="5788152"/>
            <a:ext cx="1572768" cy="420624"/>
          </a:xfrm>
          <a:prstGeom prst="roundRect">
            <a:avLst/>
          </a:prstGeom>
          <a:solidFill>
            <a:srgbClr val="143363"/>
          </a:solidFill>
          <a:ln w="12700">
            <a:solidFill>
              <a:srgbClr val="2A4A80"/>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27432" bIns="27432"/>
          <a:lstStyle/>
          <a:p>
            <a:pPr algn="ctr">
              <a:spcBef>
                <a:spcPts val="0"/>
              </a:spcBef>
              <a:spcAft>
                <a:spcPts val="0"/>
              </a:spcAft>
            </a:pPr>
            <a:r>
              <a:rPr sz="800" b="0" i="0">
                <a:solidFill>
                  <a:srgbClr val="FFFFFF"/>
                </a:solidFill>
                <a:latin typeface="Calibri"/>
              </a:rPr>
              <a:t>503 handlers for API errors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3F6FC"/>
        </a:solidFill>
        <a:effectLst/>
      </p:bgPr>
    </p:bg>
    <p:spTree>
      <p:nvGrpSpPr>
        <p:cNvPr id="1" name=""/>
        <p:cNvGrpSpPr/>
        <p:nvPr/>
      </p:nvGrpSpPr>
      <p:grpSpPr/>
      <p:sp>
        <p:nvSpPr>
          <p:cNvPr id="2" name="Rectangle 1"/>
          <p:cNvSpPr/>
          <p:nvPr/>
        </p:nvSpPr>
        <p:spPr>
          <a:xfrm>
            <a:off x="0" y="0"/>
            <a:ext cx="12191695" cy="1078992"/>
          </a:xfrm>
          <a:prstGeom prst="rect">
            <a:avLst/>
          </a:prstGeom>
          <a:solidFill>
            <a:srgbClr val="0B1E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78992"/>
            <a:ext cx="12191695" cy="411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411480" y="91440"/>
            <a:ext cx="10058400" cy="9144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27432" bIns="27432"/>
          <a:lstStyle/>
          <a:p>
            <a:pPr algn="l">
              <a:spcBef>
                <a:spcPts val="0"/>
              </a:spcBef>
              <a:spcAft>
                <a:spcPts val="100"/>
              </a:spcAft>
            </a:pPr>
            <a:r>
              <a:rPr sz="1050" b="1" i="0">
                <a:solidFill>
                  <a:srgbClr val="06B6D4"/>
                </a:solidFill>
                <a:latin typeface="Calibri"/>
              </a:rPr>
              <a:t>SLIDE 6</a:t>
            </a:r>
          </a:p>
          <a:p>
            <a:pPr algn="l">
              <a:spcBef>
                <a:spcPts val="0"/>
              </a:spcBef>
              <a:spcAft>
                <a:spcPts val="0"/>
              </a:spcAft>
            </a:pPr>
            <a:r>
              <a:rPr sz="2500" b="1" i="0">
                <a:solidFill>
                  <a:srgbClr val="FFFFFF"/>
                </a:solidFill>
                <a:latin typeface="Calibri"/>
              </a:rPr>
              <a:t>Technology Used</a:t>
            </a:r>
          </a:p>
        </p:txBody>
      </p:sp>
      <p:sp>
        <p:nvSpPr>
          <p:cNvPr id="5" name="Rounded Rectangle 4"/>
          <p:cNvSpPr/>
          <p:nvPr/>
        </p:nvSpPr>
        <p:spPr>
          <a:xfrm>
            <a:off x="10972800" y="274320"/>
            <a:ext cx="822960" cy="512064"/>
          </a:xfrm>
          <a:prstGeom prst="roundRect">
            <a:avLst/>
          </a:prstGeom>
          <a:solidFill>
            <a:srgbClr val="143363"/>
          </a:solidFill>
          <a:ln w="15875">
            <a:solidFill>
              <a:srgbClr val="06B6D4"/>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spcBef>
                <a:spcPts val="0"/>
              </a:spcBef>
              <a:spcAft>
                <a:spcPts val="0"/>
              </a:spcAft>
            </a:pPr>
            <a:r>
              <a:rPr sz="1150" b="1" i="0">
                <a:solidFill>
                  <a:srgbClr val="FFFFFF"/>
                </a:solidFill>
                <a:latin typeface="Calibri"/>
              </a:rPr>
              <a:t>6 / 10</a:t>
            </a:r>
          </a:p>
        </p:txBody>
      </p:sp>
      <p:sp>
        <p:nvSpPr>
          <p:cNvPr id="6" name="Rectangle 5"/>
          <p:cNvSpPr/>
          <p:nvPr/>
        </p:nvSpPr>
        <p:spPr>
          <a:xfrm>
            <a:off x="411480" y="6446520"/>
            <a:ext cx="11365992" cy="29260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27432" bIns="27432"/>
          <a:lstStyle/>
          <a:p>
            <a:pPr algn="ctr">
              <a:spcAft>
                <a:spcPts val="0"/>
              </a:spcAft>
            </a:pPr>
            <a:r>
              <a:rPr sz="850">
                <a:solidFill>
                  <a:srgbClr val="64748B"/>
                </a:solidFill>
                <a:latin typeface="Calibri"/>
              </a:rPr>
              <a:t>HieraSync AI  •  Smart College Workflow &amp; Event Management System        </a:t>
            </a:r>
            <a:r>
              <a:rPr sz="850">
                <a:solidFill>
                  <a:srgbClr val="64748B"/>
                </a:solidFill>
                <a:latin typeface="Calibri"/>
              </a:rPr>
              <a:t>github.com/Atulgupta07/Hiera_Sync</a:t>
            </a:r>
          </a:p>
        </p:txBody>
      </p:sp>
      <p:graphicFrame>
        <p:nvGraphicFramePr>
          <p:cNvPr id="7" name="Table 6"/>
          <p:cNvGraphicFramePr>
            <a:graphicFrameLocks noGrp="1"/>
          </p:cNvGraphicFramePr>
          <p:nvPr/>
        </p:nvGraphicFramePr>
        <p:xfrm>
          <a:off x="411480" y="1280160"/>
          <a:ext cx="11365992" cy="5029200"/>
        </p:xfrm>
        <a:graphic>
          <a:graphicData uri="http://schemas.openxmlformats.org/drawingml/2006/table">
            <a:tbl>
              <a:tblPr>
                <a:tableStyleId>{5C22544A-7EE6-4342-B048-85BDC9FD1C3A}</a:tableStyleId>
              </a:tblPr>
              <a:tblGrid>
                <a:gridCol w="1234440"/>
                <a:gridCol w="6858000"/>
                <a:gridCol w="3273552"/>
              </a:tblGrid>
              <a:tr h="628650">
                <a:tc>
                  <a:txBody>
                    <a:bodyPr/>
                    <a:lstStyle/>
                    <a:p>
                      <a:pPr>
                        <a:spcBef>
                          <a:spcPts val="100"/>
                        </a:spcBef>
                        <a:spcAft>
                          <a:spcPts val="100"/>
                        </a:spcAft>
                      </a:pPr>
                      <a:r>
                        <a:rPr sz="1100" b="1">
                          <a:solidFill>
                            <a:srgbClr val="FFFFFF"/>
                          </a:solidFill>
                          <a:latin typeface="Calibri"/>
                        </a:rPr>
                        <a:t>Layer</a:t>
                      </a:r>
                    </a:p>
                  </a:txBody>
                  <a:tcPr anchor="ctr" marL="64008" marR="64008" marT="18288" marB="18288">
                    <a:solidFill>
                      <a:srgbClr val="0B1E3B"/>
                    </a:solidFill>
                    <a:lnL w="12700">
                      <a:solidFill>
                        <a:srgbClr val="CBD5E1"/>
                      </a:solidFill>
                    </a:lnL>
                    <a:lnR w="12700">
                      <a:solidFill>
                        <a:srgbClr val="CBD5E1"/>
                      </a:solidFill>
                    </a:lnR>
                    <a:lnT w="12700">
                      <a:solidFill>
                        <a:srgbClr val="CBD5E1"/>
                      </a:solidFill>
                    </a:lnT>
                    <a:lnB w="12700">
                      <a:solidFill>
                        <a:srgbClr val="CBD5E1"/>
                      </a:solidFill>
                    </a:lnB>
                  </a:tcPr>
                </a:tc>
                <a:tc>
                  <a:txBody>
                    <a:bodyPr/>
                    <a:lstStyle/>
                    <a:p>
                      <a:pPr>
                        <a:spcBef>
                          <a:spcPts val="100"/>
                        </a:spcBef>
                        <a:spcAft>
                          <a:spcPts val="100"/>
                        </a:spcAft>
                      </a:pPr>
                      <a:r>
                        <a:rPr sz="1100" b="1">
                          <a:solidFill>
                            <a:srgbClr val="FFFFFF"/>
                          </a:solidFill>
                          <a:latin typeface="Calibri"/>
                        </a:rPr>
                        <a:t>Technologies used in the project</a:t>
                      </a:r>
                    </a:p>
                  </a:txBody>
                  <a:tcPr anchor="ctr" marL="64008" marR="64008" marT="18288" marB="18288">
                    <a:solidFill>
                      <a:srgbClr val="0B1E3B"/>
                    </a:solidFill>
                    <a:lnL w="12700">
                      <a:solidFill>
                        <a:srgbClr val="CBD5E1"/>
                      </a:solidFill>
                    </a:lnL>
                    <a:lnR w="12700">
                      <a:solidFill>
                        <a:srgbClr val="CBD5E1"/>
                      </a:solidFill>
                    </a:lnR>
                    <a:lnT w="12700">
                      <a:solidFill>
                        <a:srgbClr val="CBD5E1"/>
                      </a:solidFill>
                    </a:lnT>
                    <a:lnB w="12700">
                      <a:solidFill>
                        <a:srgbClr val="CBD5E1"/>
                      </a:solidFill>
                    </a:lnB>
                  </a:tcPr>
                </a:tc>
                <a:tc>
                  <a:txBody>
                    <a:bodyPr/>
                    <a:lstStyle/>
                    <a:p>
                      <a:pPr>
                        <a:spcBef>
                          <a:spcPts val="100"/>
                        </a:spcBef>
                        <a:spcAft>
                          <a:spcPts val="100"/>
                        </a:spcAft>
                      </a:pPr>
                      <a:r>
                        <a:rPr sz="1100" b="1">
                          <a:solidFill>
                            <a:srgbClr val="FFFFFF"/>
                          </a:solidFill>
                          <a:latin typeface="Calibri"/>
                        </a:rPr>
                        <a:t>Why it was chosen</a:t>
                      </a:r>
                    </a:p>
                  </a:txBody>
                  <a:tcPr anchor="ctr" marL="64008" marR="64008" marT="18288" marB="18288">
                    <a:solidFill>
                      <a:srgbClr val="0B1E3B"/>
                    </a:solidFill>
                    <a:lnL w="12700">
                      <a:solidFill>
                        <a:srgbClr val="CBD5E1"/>
                      </a:solidFill>
                    </a:lnL>
                    <a:lnR w="12700">
                      <a:solidFill>
                        <a:srgbClr val="CBD5E1"/>
                      </a:solidFill>
                    </a:lnR>
                    <a:lnT w="12700">
                      <a:solidFill>
                        <a:srgbClr val="CBD5E1"/>
                      </a:solidFill>
                    </a:lnT>
                    <a:lnB w="12700">
                      <a:solidFill>
                        <a:srgbClr val="CBD5E1"/>
                      </a:solidFill>
                    </a:lnB>
                  </a:tcPr>
                </a:tc>
              </a:tr>
              <a:tr h="628650">
                <a:tc>
                  <a:txBody>
                    <a:bodyPr/>
                    <a:lstStyle/>
                    <a:p>
                      <a:pPr>
                        <a:spcBef>
                          <a:spcPts val="100"/>
                        </a:spcBef>
                        <a:spcAft>
                          <a:spcPts val="100"/>
                        </a:spcAft>
                      </a:pPr>
                      <a:r>
                        <a:rPr sz="950" b="1">
                          <a:solidFill>
                            <a:srgbClr val="1E293B"/>
                          </a:solidFill>
                          <a:latin typeface="Calibri"/>
                        </a:rPr>
                        <a:t>Frontend</a:t>
                      </a:r>
                    </a:p>
                  </a:txBody>
                  <a:tcPr anchor="ctr" marL="64008" marR="64008" marT="18288" marB="18288">
                    <a:solidFill>
                      <a:srgbClr val="FFFFFF"/>
                    </a:solidFill>
                    <a:lnL w="12700">
                      <a:solidFill>
                        <a:srgbClr val="CBD5E1"/>
                      </a:solidFill>
                    </a:lnL>
                    <a:lnR w="12700">
                      <a:solidFill>
                        <a:srgbClr val="CBD5E1"/>
                      </a:solidFill>
                    </a:lnR>
                    <a:lnT w="12700">
                      <a:solidFill>
                        <a:srgbClr val="CBD5E1"/>
                      </a:solidFill>
                    </a:lnT>
                    <a:lnB w="12700">
                      <a:solidFill>
                        <a:srgbClr val="CBD5E1"/>
                      </a:solidFill>
                    </a:lnB>
                  </a:tcPr>
                </a:tc>
                <a:tc>
                  <a:txBody>
                    <a:bodyPr/>
                    <a:lstStyle/>
                    <a:p>
                      <a:pPr>
                        <a:spcBef>
                          <a:spcPts val="100"/>
                        </a:spcBef>
                        <a:spcAft>
                          <a:spcPts val="100"/>
                        </a:spcAft>
                      </a:pPr>
                      <a:r>
                        <a:rPr sz="950" b="0">
                          <a:solidFill>
                            <a:srgbClr val="1E293B"/>
                          </a:solidFill>
                          <a:latin typeface="Calibri"/>
                        </a:rPr>
                        <a:t>React 19.2, TypeScript 6, Vite 8, Tailwind CSS 4, Redux Toolkit, React Router 7,</a:t>
                      </a:r>
                    </a:p>
                    <a:p>
                      <a:pPr>
                        <a:spcBef>
                          <a:spcPts val="100"/>
                        </a:spcBef>
                        <a:spcAft>
                          <a:spcPts val="100"/>
                        </a:spcAft>
                      </a:pPr>
                      <a:r>
                        <a:rPr sz="950" b="0">
                          <a:solidFill>
                            <a:srgbClr val="1E293B"/>
                          </a:solidFill>
                          <a:latin typeface="Calibri"/>
                        </a:rPr>
                        <a:t>FullCalendar 6, Recharts 3, dnd-kit (drag &amp; drop), Framer Motion, Lucide icons</a:t>
                      </a:r>
                    </a:p>
                  </a:txBody>
                  <a:tcPr anchor="ctr" marL="64008" marR="64008" marT="18288" marB="18288">
                    <a:solidFill>
                      <a:srgbClr val="FFFFFF"/>
                    </a:solidFill>
                    <a:lnL w="12700">
                      <a:solidFill>
                        <a:srgbClr val="CBD5E1"/>
                      </a:solidFill>
                    </a:lnL>
                    <a:lnR w="12700">
                      <a:solidFill>
                        <a:srgbClr val="CBD5E1"/>
                      </a:solidFill>
                    </a:lnR>
                    <a:lnT w="12700">
                      <a:solidFill>
                        <a:srgbClr val="CBD5E1"/>
                      </a:solidFill>
                    </a:lnT>
                    <a:lnB w="12700">
                      <a:solidFill>
                        <a:srgbClr val="CBD5E1"/>
                      </a:solidFill>
                    </a:lnB>
                  </a:tcPr>
                </a:tc>
                <a:tc>
                  <a:txBody>
                    <a:bodyPr/>
                    <a:lstStyle/>
                    <a:p>
                      <a:pPr>
                        <a:spcBef>
                          <a:spcPts val="100"/>
                        </a:spcBef>
                        <a:spcAft>
                          <a:spcPts val="100"/>
                        </a:spcAft>
                      </a:pPr>
                      <a:r>
                        <a:rPr sz="950" b="0">
                          <a:solidFill>
                            <a:srgbClr val="1E293B"/>
                          </a:solidFill>
                          <a:latin typeface="Calibri"/>
                        </a:rPr>
                        <a:t>Fast dev server, type safety,</a:t>
                      </a:r>
                    </a:p>
                    <a:p>
                      <a:pPr>
                        <a:spcBef>
                          <a:spcPts val="100"/>
                        </a:spcBef>
                        <a:spcAft>
                          <a:spcPts val="100"/>
                        </a:spcAft>
                      </a:pPr>
                      <a:r>
                        <a:rPr sz="950" b="0">
                          <a:solidFill>
                            <a:srgbClr val="1E293B"/>
                          </a:solidFill>
                          <a:latin typeface="Calibri"/>
                        </a:rPr>
                        <a:t>ready-made calendar &amp; charts</a:t>
                      </a:r>
                    </a:p>
                  </a:txBody>
                  <a:tcPr anchor="ctr" marL="64008" marR="64008" marT="18288" marB="18288">
                    <a:solidFill>
                      <a:srgbClr val="FFFFFF"/>
                    </a:solidFill>
                    <a:lnL w="12700">
                      <a:solidFill>
                        <a:srgbClr val="CBD5E1"/>
                      </a:solidFill>
                    </a:lnL>
                    <a:lnR w="12700">
                      <a:solidFill>
                        <a:srgbClr val="CBD5E1"/>
                      </a:solidFill>
                    </a:lnR>
                    <a:lnT w="12700">
                      <a:solidFill>
                        <a:srgbClr val="CBD5E1"/>
                      </a:solidFill>
                    </a:lnT>
                    <a:lnB w="12700">
                      <a:solidFill>
                        <a:srgbClr val="CBD5E1"/>
                      </a:solidFill>
                    </a:lnB>
                  </a:tcPr>
                </a:tc>
              </a:tr>
              <a:tr h="628650">
                <a:tc>
                  <a:txBody>
                    <a:bodyPr/>
                    <a:lstStyle/>
                    <a:p>
                      <a:pPr>
                        <a:spcBef>
                          <a:spcPts val="100"/>
                        </a:spcBef>
                        <a:spcAft>
                          <a:spcPts val="100"/>
                        </a:spcAft>
                      </a:pPr>
                      <a:r>
                        <a:rPr sz="950" b="1">
                          <a:solidFill>
                            <a:srgbClr val="1E293B"/>
                          </a:solidFill>
                          <a:latin typeface="Calibri"/>
                        </a:rPr>
                        <a:t>Backend</a:t>
                      </a:r>
                    </a:p>
                  </a:txBody>
                  <a:tcPr anchor="ctr" marL="64008" marR="64008" marT="18288" marB="18288">
                    <a:solidFill>
                      <a:srgbClr val="EEF2FF"/>
                    </a:solidFill>
                    <a:lnL w="12700">
                      <a:solidFill>
                        <a:srgbClr val="CBD5E1"/>
                      </a:solidFill>
                    </a:lnL>
                    <a:lnR w="12700">
                      <a:solidFill>
                        <a:srgbClr val="CBD5E1"/>
                      </a:solidFill>
                    </a:lnR>
                    <a:lnT w="12700">
                      <a:solidFill>
                        <a:srgbClr val="CBD5E1"/>
                      </a:solidFill>
                    </a:lnT>
                    <a:lnB w="12700">
                      <a:solidFill>
                        <a:srgbClr val="CBD5E1"/>
                      </a:solidFill>
                    </a:lnB>
                  </a:tcPr>
                </a:tc>
                <a:tc>
                  <a:txBody>
                    <a:bodyPr/>
                    <a:lstStyle/>
                    <a:p>
                      <a:pPr>
                        <a:spcBef>
                          <a:spcPts val="100"/>
                        </a:spcBef>
                        <a:spcAft>
                          <a:spcPts val="100"/>
                        </a:spcAft>
                      </a:pPr>
                      <a:r>
                        <a:rPr sz="950" b="0">
                          <a:solidFill>
                            <a:srgbClr val="1E293B"/>
                          </a:solidFill>
                          <a:latin typeface="Calibri"/>
                        </a:rPr>
                        <a:t>Python + FastAPI, Uvicorn ASGI server, Pydantic v2 schemas, pydantic-settings,</a:t>
                      </a:r>
                    </a:p>
                    <a:p>
                      <a:pPr>
                        <a:spcBef>
                          <a:spcPts val="100"/>
                        </a:spcBef>
                        <a:spcAft>
                          <a:spcPts val="100"/>
                        </a:spcAft>
                      </a:pPr>
                      <a:r>
                        <a:rPr sz="950" b="0">
                          <a:solidFill>
                            <a:srgbClr val="1E293B"/>
                          </a:solidFill>
                          <a:latin typeface="Calibri"/>
                        </a:rPr>
                        <a:t>modular router architecture (20 routers)</a:t>
                      </a:r>
                    </a:p>
                  </a:txBody>
                  <a:tcPr anchor="ctr" marL="64008" marR="64008" marT="18288" marB="18288">
                    <a:solidFill>
                      <a:srgbClr val="EEF2FF"/>
                    </a:solidFill>
                    <a:lnL w="12700">
                      <a:solidFill>
                        <a:srgbClr val="CBD5E1"/>
                      </a:solidFill>
                    </a:lnL>
                    <a:lnR w="12700">
                      <a:solidFill>
                        <a:srgbClr val="CBD5E1"/>
                      </a:solidFill>
                    </a:lnR>
                    <a:lnT w="12700">
                      <a:solidFill>
                        <a:srgbClr val="CBD5E1"/>
                      </a:solidFill>
                    </a:lnT>
                    <a:lnB w="12700">
                      <a:solidFill>
                        <a:srgbClr val="CBD5E1"/>
                      </a:solidFill>
                    </a:lnB>
                  </a:tcPr>
                </a:tc>
                <a:tc>
                  <a:txBody>
                    <a:bodyPr/>
                    <a:lstStyle/>
                    <a:p>
                      <a:pPr>
                        <a:spcBef>
                          <a:spcPts val="100"/>
                        </a:spcBef>
                        <a:spcAft>
                          <a:spcPts val="100"/>
                        </a:spcAft>
                      </a:pPr>
                      <a:r>
                        <a:rPr sz="950" b="0">
                          <a:solidFill>
                            <a:srgbClr val="1E293B"/>
                          </a:solidFill>
                          <a:latin typeface="Calibri"/>
                        </a:rPr>
                        <a:t>Async, very fast, and gives free</a:t>
                      </a:r>
                    </a:p>
                    <a:p>
                      <a:pPr>
                        <a:spcBef>
                          <a:spcPts val="100"/>
                        </a:spcBef>
                        <a:spcAft>
                          <a:spcPts val="100"/>
                        </a:spcAft>
                      </a:pPr>
                      <a:r>
                        <a:rPr sz="950" b="0">
                          <a:solidFill>
                            <a:srgbClr val="1E293B"/>
                          </a:solidFill>
                          <a:latin typeface="Calibri"/>
                        </a:rPr>
                        <a:t>Swagger API docs at /docs</a:t>
                      </a:r>
                    </a:p>
                  </a:txBody>
                  <a:tcPr anchor="ctr" marL="64008" marR="64008" marT="18288" marB="18288">
                    <a:solidFill>
                      <a:srgbClr val="EEF2FF"/>
                    </a:solidFill>
                    <a:lnL w="12700">
                      <a:solidFill>
                        <a:srgbClr val="CBD5E1"/>
                      </a:solidFill>
                    </a:lnL>
                    <a:lnR w="12700">
                      <a:solidFill>
                        <a:srgbClr val="CBD5E1"/>
                      </a:solidFill>
                    </a:lnR>
                    <a:lnT w="12700">
                      <a:solidFill>
                        <a:srgbClr val="CBD5E1"/>
                      </a:solidFill>
                    </a:lnT>
                    <a:lnB w="12700">
                      <a:solidFill>
                        <a:srgbClr val="CBD5E1"/>
                      </a:solidFill>
                    </a:lnB>
                  </a:tcPr>
                </a:tc>
              </a:tr>
              <a:tr h="628650">
                <a:tc>
                  <a:txBody>
                    <a:bodyPr/>
                    <a:lstStyle/>
                    <a:p>
                      <a:pPr>
                        <a:spcBef>
                          <a:spcPts val="100"/>
                        </a:spcBef>
                        <a:spcAft>
                          <a:spcPts val="100"/>
                        </a:spcAft>
                      </a:pPr>
                      <a:r>
                        <a:rPr sz="950" b="1">
                          <a:solidFill>
                            <a:srgbClr val="1E293B"/>
                          </a:solidFill>
                          <a:latin typeface="Calibri"/>
                        </a:rPr>
                        <a:t>Database</a:t>
                      </a:r>
                    </a:p>
                  </a:txBody>
                  <a:tcPr anchor="ctr" marL="64008" marR="64008" marT="18288" marB="18288">
                    <a:solidFill>
                      <a:srgbClr val="FFFFFF"/>
                    </a:solidFill>
                    <a:lnL w="12700">
                      <a:solidFill>
                        <a:srgbClr val="CBD5E1"/>
                      </a:solidFill>
                    </a:lnL>
                    <a:lnR w="12700">
                      <a:solidFill>
                        <a:srgbClr val="CBD5E1"/>
                      </a:solidFill>
                    </a:lnR>
                    <a:lnT w="12700">
                      <a:solidFill>
                        <a:srgbClr val="CBD5E1"/>
                      </a:solidFill>
                    </a:lnT>
                    <a:lnB w="12700">
                      <a:solidFill>
                        <a:srgbClr val="CBD5E1"/>
                      </a:solidFill>
                    </a:lnB>
                  </a:tcPr>
                </a:tc>
                <a:tc>
                  <a:txBody>
                    <a:bodyPr/>
                    <a:lstStyle/>
                    <a:p>
                      <a:pPr>
                        <a:spcBef>
                          <a:spcPts val="100"/>
                        </a:spcBef>
                        <a:spcAft>
                          <a:spcPts val="100"/>
                        </a:spcAft>
                      </a:pPr>
                      <a:r>
                        <a:rPr sz="950" b="0">
                          <a:solidFill>
                            <a:srgbClr val="1E293B"/>
                          </a:solidFill>
                          <a:latin typeface="Calibri"/>
                        </a:rPr>
                        <a:t>Firebase Firestore (NoSQL document DB) — collections for users, tasks, events,</a:t>
                      </a:r>
                    </a:p>
                    <a:p>
                      <a:pPr>
                        <a:spcBef>
                          <a:spcPts val="100"/>
                        </a:spcBef>
                        <a:spcAft>
                          <a:spcPts val="100"/>
                        </a:spcAft>
                      </a:pPr>
                      <a:r>
                        <a:rPr sz="950" b="0">
                          <a:solidFill>
                            <a:srgbClr val="1E293B"/>
                          </a:solidFill>
                          <a:latin typeface="Calibri"/>
                        </a:rPr>
                        <a:t>approvals, requests, goals, notifications, join_requests</a:t>
                      </a:r>
                    </a:p>
                  </a:txBody>
                  <a:tcPr anchor="ctr" marL="64008" marR="64008" marT="18288" marB="18288">
                    <a:solidFill>
                      <a:srgbClr val="FFFFFF"/>
                    </a:solidFill>
                    <a:lnL w="12700">
                      <a:solidFill>
                        <a:srgbClr val="CBD5E1"/>
                      </a:solidFill>
                    </a:lnL>
                    <a:lnR w="12700">
                      <a:solidFill>
                        <a:srgbClr val="CBD5E1"/>
                      </a:solidFill>
                    </a:lnR>
                    <a:lnT w="12700">
                      <a:solidFill>
                        <a:srgbClr val="CBD5E1"/>
                      </a:solidFill>
                    </a:lnT>
                    <a:lnB w="12700">
                      <a:solidFill>
                        <a:srgbClr val="CBD5E1"/>
                      </a:solidFill>
                    </a:lnB>
                  </a:tcPr>
                </a:tc>
                <a:tc>
                  <a:txBody>
                    <a:bodyPr/>
                    <a:lstStyle/>
                    <a:p>
                      <a:pPr>
                        <a:spcBef>
                          <a:spcPts val="100"/>
                        </a:spcBef>
                        <a:spcAft>
                          <a:spcPts val="100"/>
                        </a:spcAft>
                      </a:pPr>
                      <a:r>
                        <a:rPr sz="950" b="0">
                          <a:solidFill>
                            <a:srgbClr val="1E293B"/>
                          </a:solidFill>
                          <a:latin typeface="Calibri"/>
                        </a:rPr>
                        <a:t>Real-time, schema-flexible,</a:t>
                      </a:r>
                    </a:p>
                    <a:p>
                      <a:pPr>
                        <a:spcBef>
                          <a:spcPts val="100"/>
                        </a:spcBef>
                        <a:spcAft>
                          <a:spcPts val="100"/>
                        </a:spcAft>
                      </a:pPr>
                      <a:r>
                        <a:rPr sz="950" b="0">
                          <a:solidFill>
                            <a:srgbClr val="1E293B"/>
                          </a:solidFill>
                          <a:latin typeface="Calibri"/>
                        </a:rPr>
                        <a:t>no server to maintain, free tier</a:t>
                      </a:r>
                    </a:p>
                  </a:txBody>
                  <a:tcPr anchor="ctr" marL="64008" marR="64008" marT="18288" marB="18288">
                    <a:solidFill>
                      <a:srgbClr val="FFFFFF"/>
                    </a:solidFill>
                    <a:lnL w="12700">
                      <a:solidFill>
                        <a:srgbClr val="CBD5E1"/>
                      </a:solidFill>
                    </a:lnL>
                    <a:lnR w="12700">
                      <a:solidFill>
                        <a:srgbClr val="CBD5E1"/>
                      </a:solidFill>
                    </a:lnR>
                    <a:lnT w="12700">
                      <a:solidFill>
                        <a:srgbClr val="CBD5E1"/>
                      </a:solidFill>
                    </a:lnT>
                    <a:lnB w="12700">
                      <a:solidFill>
                        <a:srgbClr val="CBD5E1"/>
                      </a:solidFill>
                    </a:lnB>
                  </a:tcPr>
                </a:tc>
              </a:tr>
              <a:tr h="628650">
                <a:tc>
                  <a:txBody>
                    <a:bodyPr/>
                    <a:lstStyle/>
                    <a:p>
                      <a:pPr>
                        <a:spcBef>
                          <a:spcPts val="100"/>
                        </a:spcBef>
                        <a:spcAft>
                          <a:spcPts val="100"/>
                        </a:spcAft>
                      </a:pPr>
                      <a:r>
                        <a:rPr sz="950" b="1">
                          <a:solidFill>
                            <a:srgbClr val="1E293B"/>
                          </a:solidFill>
                          <a:latin typeface="Calibri"/>
                        </a:rPr>
                        <a:t>Security</a:t>
                      </a:r>
                    </a:p>
                  </a:txBody>
                  <a:tcPr anchor="ctr" marL="64008" marR="64008" marT="18288" marB="18288">
                    <a:solidFill>
                      <a:srgbClr val="EEF2FF"/>
                    </a:solidFill>
                    <a:lnL w="12700">
                      <a:solidFill>
                        <a:srgbClr val="CBD5E1"/>
                      </a:solidFill>
                    </a:lnL>
                    <a:lnR w="12700">
                      <a:solidFill>
                        <a:srgbClr val="CBD5E1"/>
                      </a:solidFill>
                    </a:lnR>
                    <a:lnT w="12700">
                      <a:solidFill>
                        <a:srgbClr val="CBD5E1"/>
                      </a:solidFill>
                    </a:lnT>
                    <a:lnB w="12700">
                      <a:solidFill>
                        <a:srgbClr val="CBD5E1"/>
                      </a:solidFill>
                    </a:lnB>
                  </a:tcPr>
                </a:tc>
                <a:tc>
                  <a:txBody>
                    <a:bodyPr/>
                    <a:lstStyle/>
                    <a:p>
                      <a:pPr>
                        <a:spcBef>
                          <a:spcPts val="100"/>
                        </a:spcBef>
                        <a:spcAft>
                          <a:spcPts val="100"/>
                        </a:spcAft>
                      </a:pPr>
                      <a:r>
                        <a:rPr sz="950" b="0">
                          <a:solidFill>
                            <a:srgbClr val="1E293B"/>
                          </a:solidFill>
                          <a:latin typeface="Calibri"/>
                        </a:rPr>
                        <a:t>Firebase Authentication, JWT (python-jose, HS256, 30-min expiry),</a:t>
                      </a:r>
                    </a:p>
                    <a:p>
                      <a:pPr>
                        <a:spcBef>
                          <a:spcPts val="100"/>
                        </a:spcBef>
                        <a:spcAft>
                          <a:spcPts val="100"/>
                        </a:spcAft>
                      </a:pPr>
                      <a:r>
                        <a:rPr sz="950" b="0">
                          <a:solidFill>
                            <a:srgbClr val="1E293B"/>
                          </a:solidFill>
                          <a:latin typeface="Calibri"/>
                        </a:rPr>
                        <a:t>passlib + bcrypt password hashing, check_role() RBAC dependency</a:t>
                      </a:r>
                    </a:p>
                  </a:txBody>
                  <a:tcPr anchor="ctr" marL="64008" marR="64008" marT="18288" marB="18288">
                    <a:solidFill>
                      <a:srgbClr val="EEF2FF"/>
                    </a:solidFill>
                    <a:lnL w="12700">
                      <a:solidFill>
                        <a:srgbClr val="CBD5E1"/>
                      </a:solidFill>
                    </a:lnL>
                    <a:lnR w="12700">
                      <a:solidFill>
                        <a:srgbClr val="CBD5E1"/>
                      </a:solidFill>
                    </a:lnR>
                    <a:lnT w="12700">
                      <a:solidFill>
                        <a:srgbClr val="CBD5E1"/>
                      </a:solidFill>
                    </a:lnT>
                    <a:lnB w="12700">
                      <a:solidFill>
                        <a:srgbClr val="CBD5E1"/>
                      </a:solidFill>
                    </a:lnB>
                  </a:tcPr>
                </a:tc>
                <a:tc>
                  <a:txBody>
                    <a:bodyPr/>
                    <a:lstStyle/>
                    <a:p>
                      <a:pPr>
                        <a:spcBef>
                          <a:spcPts val="100"/>
                        </a:spcBef>
                        <a:spcAft>
                          <a:spcPts val="100"/>
                        </a:spcAft>
                      </a:pPr>
                      <a:r>
                        <a:rPr sz="950" b="0">
                          <a:solidFill>
                            <a:srgbClr val="1E293B"/>
                          </a:solidFill>
                          <a:latin typeface="Calibri"/>
                        </a:rPr>
                        <a:t>Industry-standard auth; one guard</a:t>
                      </a:r>
                    </a:p>
                    <a:p>
                      <a:pPr>
                        <a:spcBef>
                          <a:spcPts val="100"/>
                        </a:spcBef>
                        <a:spcAft>
                          <a:spcPts val="100"/>
                        </a:spcAft>
                      </a:pPr>
                      <a:r>
                        <a:rPr sz="950" b="0">
                          <a:solidFill>
                            <a:srgbClr val="1E293B"/>
                          </a:solidFill>
                          <a:latin typeface="Calibri"/>
                        </a:rPr>
                        <a:t>protects every endpoint</a:t>
                      </a:r>
                    </a:p>
                  </a:txBody>
                  <a:tcPr anchor="ctr" marL="64008" marR="64008" marT="18288" marB="18288">
                    <a:solidFill>
                      <a:srgbClr val="EEF2FF"/>
                    </a:solidFill>
                    <a:lnL w="12700">
                      <a:solidFill>
                        <a:srgbClr val="CBD5E1"/>
                      </a:solidFill>
                    </a:lnL>
                    <a:lnR w="12700">
                      <a:solidFill>
                        <a:srgbClr val="CBD5E1"/>
                      </a:solidFill>
                    </a:lnR>
                    <a:lnT w="12700">
                      <a:solidFill>
                        <a:srgbClr val="CBD5E1"/>
                      </a:solidFill>
                    </a:lnT>
                    <a:lnB w="12700">
                      <a:solidFill>
                        <a:srgbClr val="CBD5E1"/>
                      </a:solidFill>
                    </a:lnB>
                  </a:tcPr>
                </a:tc>
              </a:tr>
              <a:tr h="628650">
                <a:tc>
                  <a:txBody>
                    <a:bodyPr/>
                    <a:lstStyle/>
                    <a:p>
                      <a:pPr>
                        <a:spcBef>
                          <a:spcPts val="100"/>
                        </a:spcBef>
                        <a:spcAft>
                          <a:spcPts val="100"/>
                        </a:spcAft>
                      </a:pPr>
                      <a:r>
                        <a:rPr sz="950" b="1">
                          <a:solidFill>
                            <a:srgbClr val="1E293B"/>
                          </a:solidFill>
                          <a:latin typeface="Calibri"/>
                        </a:rPr>
                        <a:t>AI &amp;</a:t>
                      </a:r>
                    </a:p>
                    <a:p>
                      <a:pPr>
                        <a:spcBef>
                          <a:spcPts val="100"/>
                        </a:spcBef>
                        <a:spcAft>
                          <a:spcPts val="100"/>
                        </a:spcAft>
                      </a:pPr>
                      <a:r>
                        <a:rPr sz="950" b="1">
                          <a:solidFill>
                            <a:srgbClr val="1E293B"/>
                          </a:solidFill>
                          <a:latin typeface="Calibri"/>
                        </a:rPr>
                        <a:t>Integrations</a:t>
                      </a:r>
                    </a:p>
                  </a:txBody>
                  <a:tcPr anchor="ctr" marL="64008" marR="64008" marT="18288" marB="18288">
                    <a:solidFill>
                      <a:srgbClr val="FFFFFF"/>
                    </a:solidFill>
                    <a:lnL w="12700">
                      <a:solidFill>
                        <a:srgbClr val="CBD5E1"/>
                      </a:solidFill>
                    </a:lnL>
                    <a:lnR w="12700">
                      <a:solidFill>
                        <a:srgbClr val="CBD5E1"/>
                      </a:solidFill>
                    </a:lnR>
                    <a:lnT w="12700">
                      <a:solidFill>
                        <a:srgbClr val="CBD5E1"/>
                      </a:solidFill>
                    </a:lnT>
                    <a:lnB w="12700">
                      <a:solidFill>
                        <a:srgbClr val="CBD5E1"/>
                      </a:solidFill>
                    </a:lnB>
                  </a:tcPr>
                </a:tc>
                <a:tc>
                  <a:txBody>
                    <a:bodyPr/>
                    <a:lstStyle/>
                    <a:p>
                      <a:pPr>
                        <a:spcBef>
                          <a:spcPts val="100"/>
                        </a:spcBef>
                        <a:spcAft>
                          <a:spcPts val="100"/>
                        </a:spcAft>
                      </a:pPr>
                      <a:r>
                        <a:rPr sz="950" b="0">
                          <a:solidFill>
                            <a:srgbClr val="1E293B"/>
                          </a:solidFill>
                          <a:latin typeface="Calibri"/>
                        </a:rPr>
                        <a:t>Google Gemini 1.5 Flash REST API with a local fallback engine,</a:t>
                      </a:r>
                    </a:p>
                    <a:p>
                      <a:pPr>
                        <a:spcBef>
                          <a:spcPts val="100"/>
                        </a:spcBef>
                        <a:spcAft>
                          <a:spcPts val="100"/>
                        </a:spcAft>
                      </a:pPr>
                      <a:r>
                        <a:rPr sz="950" b="0">
                          <a:solidFill>
                            <a:srgbClr val="1E293B"/>
                          </a:solidFill>
                          <a:latin typeface="Calibri"/>
                        </a:rPr>
                        <a:t>WhatsApp Cloud API v22.0, SMTP e-mail, APScheduler background jobs</a:t>
                      </a:r>
                    </a:p>
                  </a:txBody>
                  <a:tcPr anchor="ctr" marL="64008" marR="64008" marT="18288" marB="18288">
                    <a:solidFill>
                      <a:srgbClr val="FFFFFF"/>
                    </a:solidFill>
                    <a:lnL w="12700">
                      <a:solidFill>
                        <a:srgbClr val="CBD5E1"/>
                      </a:solidFill>
                    </a:lnL>
                    <a:lnR w="12700">
                      <a:solidFill>
                        <a:srgbClr val="CBD5E1"/>
                      </a:solidFill>
                    </a:lnR>
                    <a:lnT w="12700">
                      <a:solidFill>
                        <a:srgbClr val="CBD5E1"/>
                      </a:solidFill>
                    </a:lnT>
                    <a:lnB w="12700">
                      <a:solidFill>
                        <a:srgbClr val="CBD5E1"/>
                      </a:solidFill>
                    </a:lnB>
                  </a:tcPr>
                </a:tc>
                <a:tc>
                  <a:txBody>
                    <a:bodyPr/>
                    <a:lstStyle/>
                    <a:p>
                      <a:pPr>
                        <a:spcBef>
                          <a:spcPts val="100"/>
                        </a:spcBef>
                        <a:spcAft>
                          <a:spcPts val="100"/>
                        </a:spcAft>
                      </a:pPr>
                      <a:r>
                        <a:rPr sz="950" b="0">
                          <a:solidFill>
                            <a:srgbClr val="1E293B"/>
                          </a:solidFill>
                          <a:latin typeface="Calibri"/>
                        </a:rPr>
                        <a:t>Real AI answers; system still works</a:t>
                      </a:r>
                    </a:p>
                    <a:p>
                      <a:pPr>
                        <a:spcBef>
                          <a:spcPts val="100"/>
                        </a:spcBef>
                        <a:spcAft>
                          <a:spcPts val="100"/>
                        </a:spcAft>
                      </a:pPr>
                      <a:r>
                        <a:rPr sz="950" b="0">
                          <a:solidFill>
                            <a:srgbClr val="1E293B"/>
                          </a:solidFill>
                          <a:latin typeface="Calibri"/>
                        </a:rPr>
                        <a:t>even if the AI key is missing</a:t>
                      </a:r>
                    </a:p>
                  </a:txBody>
                  <a:tcPr anchor="ctr" marL="64008" marR="64008" marT="18288" marB="18288">
                    <a:solidFill>
                      <a:srgbClr val="FFFFFF"/>
                    </a:solidFill>
                    <a:lnL w="12700">
                      <a:solidFill>
                        <a:srgbClr val="CBD5E1"/>
                      </a:solidFill>
                    </a:lnL>
                    <a:lnR w="12700">
                      <a:solidFill>
                        <a:srgbClr val="CBD5E1"/>
                      </a:solidFill>
                    </a:lnR>
                    <a:lnT w="12700">
                      <a:solidFill>
                        <a:srgbClr val="CBD5E1"/>
                      </a:solidFill>
                    </a:lnT>
                    <a:lnB w="12700">
                      <a:solidFill>
                        <a:srgbClr val="CBD5E1"/>
                      </a:solidFill>
                    </a:lnB>
                  </a:tcPr>
                </a:tc>
              </a:tr>
              <a:tr h="628650">
                <a:tc>
                  <a:txBody>
                    <a:bodyPr/>
                    <a:lstStyle/>
                    <a:p>
                      <a:pPr>
                        <a:spcBef>
                          <a:spcPts val="100"/>
                        </a:spcBef>
                        <a:spcAft>
                          <a:spcPts val="100"/>
                        </a:spcAft>
                      </a:pPr>
                      <a:r>
                        <a:rPr sz="950" b="1">
                          <a:solidFill>
                            <a:srgbClr val="1E293B"/>
                          </a:solidFill>
                          <a:latin typeface="Calibri"/>
                        </a:rPr>
                        <a:t>Files &amp;</a:t>
                      </a:r>
                    </a:p>
                    <a:p>
                      <a:pPr>
                        <a:spcBef>
                          <a:spcPts val="100"/>
                        </a:spcBef>
                        <a:spcAft>
                          <a:spcPts val="100"/>
                        </a:spcAft>
                      </a:pPr>
                      <a:r>
                        <a:rPr sz="950" b="1">
                          <a:solidFill>
                            <a:srgbClr val="1E293B"/>
                          </a:solidFill>
                          <a:latin typeface="Calibri"/>
                        </a:rPr>
                        <a:t>Reports</a:t>
                      </a:r>
                    </a:p>
                  </a:txBody>
                  <a:tcPr anchor="ctr" marL="64008" marR="64008" marT="18288" marB="18288">
                    <a:solidFill>
                      <a:srgbClr val="EEF2FF"/>
                    </a:solidFill>
                    <a:lnL w="12700">
                      <a:solidFill>
                        <a:srgbClr val="CBD5E1"/>
                      </a:solidFill>
                    </a:lnL>
                    <a:lnR w="12700">
                      <a:solidFill>
                        <a:srgbClr val="CBD5E1"/>
                      </a:solidFill>
                    </a:lnR>
                    <a:lnT w="12700">
                      <a:solidFill>
                        <a:srgbClr val="CBD5E1"/>
                      </a:solidFill>
                    </a:lnT>
                    <a:lnB w="12700">
                      <a:solidFill>
                        <a:srgbClr val="CBD5E1"/>
                      </a:solidFill>
                    </a:lnB>
                  </a:tcPr>
                </a:tc>
                <a:tc>
                  <a:txBody>
                    <a:bodyPr/>
                    <a:lstStyle/>
                    <a:p>
                      <a:pPr>
                        <a:spcBef>
                          <a:spcPts val="100"/>
                        </a:spcBef>
                        <a:spcAft>
                          <a:spcPts val="100"/>
                        </a:spcAft>
                      </a:pPr>
                      <a:r>
                        <a:rPr sz="950" b="0">
                          <a:solidFill>
                            <a:srgbClr val="1E293B"/>
                          </a:solidFill>
                          <a:latin typeface="Calibri"/>
                        </a:rPr>
                        <a:t>pypdf, python-docx, openpyxl for parsing PDF / Word / Excel calendars;</a:t>
                      </a:r>
                    </a:p>
                    <a:p>
                      <a:pPr>
                        <a:spcBef>
                          <a:spcPts val="100"/>
                        </a:spcBef>
                        <a:spcAft>
                          <a:spcPts val="100"/>
                        </a:spcAft>
                      </a:pPr>
                      <a:r>
                        <a:rPr sz="950" b="0">
                          <a:solidFill>
                            <a:srgbClr val="1E293B"/>
                          </a:solidFill>
                          <a:latin typeface="Calibri"/>
                        </a:rPr>
                        <a:t>Firebase Storage for attachments; CSV &amp; report export endpoints</a:t>
                      </a:r>
                    </a:p>
                  </a:txBody>
                  <a:tcPr anchor="ctr" marL="64008" marR="64008" marT="18288" marB="18288">
                    <a:solidFill>
                      <a:srgbClr val="EEF2FF"/>
                    </a:solidFill>
                    <a:lnL w="12700">
                      <a:solidFill>
                        <a:srgbClr val="CBD5E1"/>
                      </a:solidFill>
                    </a:lnL>
                    <a:lnR w="12700">
                      <a:solidFill>
                        <a:srgbClr val="CBD5E1"/>
                      </a:solidFill>
                    </a:lnR>
                    <a:lnT w="12700">
                      <a:solidFill>
                        <a:srgbClr val="CBD5E1"/>
                      </a:solidFill>
                    </a:lnT>
                    <a:lnB w="12700">
                      <a:solidFill>
                        <a:srgbClr val="CBD5E1"/>
                      </a:solidFill>
                    </a:lnB>
                  </a:tcPr>
                </a:tc>
                <a:tc>
                  <a:txBody>
                    <a:bodyPr/>
                    <a:lstStyle/>
                    <a:p>
                      <a:pPr>
                        <a:spcBef>
                          <a:spcPts val="100"/>
                        </a:spcBef>
                        <a:spcAft>
                          <a:spcPts val="100"/>
                        </a:spcAft>
                      </a:pPr>
                      <a:r>
                        <a:rPr sz="950" b="0">
                          <a:solidFill>
                            <a:srgbClr val="1E293B"/>
                          </a:solidFill>
                          <a:latin typeface="Calibri"/>
                        </a:rPr>
                        <a:t>Accepts whatever format the office</a:t>
                      </a:r>
                    </a:p>
                    <a:p>
                      <a:pPr>
                        <a:spcBef>
                          <a:spcPts val="100"/>
                        </a:spcBef>
                        <a:spcAft>
                          <a:spcPts val="100"/>
                        </a:spcAft>
                      </a:pPr>
                      <a:r>
                        <a:rPr sz="950" b="0">
                          <a:solidFill>
                            <a:srgbClr val="1E293B"/>
                          </a:solidFill>
                          <a:latin typeface="Calibri"/>
                        </a:rPr>
                        <a:t>already has</a:t>
                      </a:r>
                    </a:p>
                  </a:txBody>
                  <a:tcPr anchor="ctr" marL="64008" marR="64008" marT="18288" marB="18288">
                    <a:solidFill>
                      <a:srgbClr val="EEF2FF"/>
                    </a:solidFill>
                    <a:lnL w="12700">
                      <a:solidFill>
                        <a:srgbClr val="CBD5E1"/>
                      </a:solidFill>
                    </a:lnL>
                    <a:lnR w="12700">
                      <a:solidFill>
                        <a:srgbClr val="CBD5E1"/>
                      </a:solidFill>
                    </a:lnR>
                    <a:lnT w="12700">
                      <a:solidFill>
                        <a:srgbClr val="CBD5E1"/>
                      </a:solidFill>
                    </a:lnT>
                    <a:lnB w="12700">
                      <a:solidFill>
                        <a:srgbClr val="CBD5E1"/>
                      </a:solidFill>
                    </a:lnB>
                  </a:tcPr>
                </a:tc>
              </a:tr>
              <a:tr h="628650">
                <a:tc>
                  <a:txBody>
                    <a:bodyPr/>
                    <a:lstStyle/>
                    <a:p>
                      <a:pPr>
                        <a:spcBef>
                          <a:spcPts val="100"/>
                        </a:spcBef>
                        <a:spcAft>
                          <a:spcPts val="100"/>
                        </a:spcAft>
                      </a:pPr>
                      <a:r>
                        <a:rPr sz="950" b="1">
                          <a:solidFill>
                            <a:srgbClr val="1E293B"/>
                          </a:solidFill>
                          <a:latin typeface="Calibri"/>
                        </a:rPr>
                        <a:t>Tools &amp;</a:t>
                      </a:r>
                    </a:p>
                    <a:p>
                      <a:pPr>
                        <a:spcBef>
                          <a:spcPts val="100"/>
                        </a:spcBef>
                        <a:spcAft>
                          <a:spcPts val="100"/>
                        </a:spcAft>
                      </a:pPr>
                      <a:r>
                        <a:rPr sz="950" b="1">
                          <a:solidFill>
                            <a:srgbClr val="1E293B"/>
                          </a:solidFill>
                          <a:latin typeface="Calibri"/>
                        </a:rPr>
                        <a:t>Deployment</a:t>
                      </a:r>
                    </a:p>
                  </a:txBody>
                  <a:tcPr anchor="ctr" marL="64008" marR="64008" marT="18288" marB="18288">
                    <a:solidFill>
                      <a:srgbClr val="FFFFFF"/>
                    </a:solidFill>
                    <a:lnL w="12700">
                      <a:solidFill>
                        <a:srgbClr val="CBD5E1"/>
                      </a:solidFill>
                    </a:lnL>
                    <a:lnR w="12700">
                      <a:solidFill>
                        <a:srgbClr val="CBD5E1"/>
                      </a:solidFill>
                    </a:lnR>
                    <a:lnT w="12700">
                      <a:solidFill>
                        <a:srgbClr val="CBD5E1"/>
                      </a:solidFill>
                    </a:lnT>
                    <a:lnB w="12700">
                      <a:solidFill>
                        <a:srgbClr val="CBD5E1"/>
                      </a:solidFill>
                    </a:lnB>
                  </a:tcPr>
                </a:tc>
                <a:tc>
                  <a:txBody>
                    <a:bodyPr/>
                    <a:lstStyle/>
                    <a:p>
                      <a:pPr>
                        <a:spcBef>
                          <a:spcPts val="100"/>
                        </a:spcBef>
                        <a:spcAft>
                          <a:spcPts val="100"/>
                        </a:spcAft>
                      </a:pPr>
                      <a:r>
                        <a:rPr sz="950" b="0">
                          <a:solidFill>
                            <a:srgbClr val="1E293B"/>
                          </a:solidFill>
                          <a:latin typeface="Calibri"/>
                        </a:rPr>
                        <a:t>Git &amp; GitHub, VS Code, Oxlint, Swagger UI; backend → Cloud Run / Render,</a:t>
                      </a:r>
                    </a:p>
                    <a:p>
                      <a:pPr>
                        <a:spcBef>
                          <a:spcPts val="100"/>
                        </a:spcBef>
                        <a:spcAft>
                          <a:spcPts val="100"/>
                        </a:spcAft>
                      </a:pPr>
                      <a:r>
                        <a:rPr sz="950" b="0">
                          <a:solidFill>
                            <a:srgbClr val="1E293B"/>
                          </a:solidFill>
                          <a:latin typeface="Calibri"/>
                        </a:rPr>
                        <a:t>frontend → Vercel / Firebase Hosting</a:t>
                      </a:r>
                    </a:p>
                  </a:txBody>
                  <a:tcPr anchor="ctr" marL="64008" marR="64008" marT="18288" marB="18288">
                    <a:solidFill>
                      <a:srgbClr val="FFFFFF"/>
                    </a:solidFill>
                    <a:lnL w="12700">
                      <a:solidFill>
                        <a:srgbClr val="CBD5E1"/>
                      </a:solidFill>
                    </a:lnL>
                    <a:lnR w="12700">
                      <a:solidFill>
                        <a:srgbClr val="CBD5E1"/>
                      </a:solidFill>
                    </a:lnR>
                    <a:lnT w="12700">
                      <a:solidFill>
                        <a:srgbClr val="CBD5E1"/>
                      </a:solidFill>
                    </a:lnT>
                    <a:lnB w="12700">
                      <a:solidFill>
                        <a:srgbClr val="CBD5E1"/>
                      </a:solidFill>
                    </a:lnB>
                  </a:tcPr>
                </a:tc>
                <a:tc>
                  <a:txBody>
                    <a:bodyPr/>
                    <a:lstStyle/>
                    <a:p>
                      <a:pPr>
                        <a:spcBef>
                          <a:spcPts val="100"/>
                        </a:spcBef>
                        <a:spcAft>
                          <a:spcPts val="100"/>
                        </a:spcAft>
                      </a:pPr>
                      <a:r>
                        <a:rPr sz="950" b="0">
                          <a:solidFill>
                            <a:srgbClr val="1E293B"/>
                          </a:solidFill>
                          <a:latin typeface="Calibri"/>
                        </a:rPr>
                        <a:t>Free hosting tiers suitable for a</a:t>
                      </a:r>
                    </a:p>
                    <a:p>
                      <a:pPr>
                        <a:spcBef>
                          <a:spcPts val="100"/>
                        </a:spcBef>
                        <a:spcAft>
                          <a:spcPts val="100"/>
                        </a:spcAft>
                      </a:pPr>
                      <a:r>
                        <a:rPr sz="950" b="0">
                          <a:solidFill>
                            <a:srgbClr val="1E293B"/>
                          </a:solidFill>
                          <a:latin typeface="Calibri"/>
                        </a:rPr>
                        <a:t>college deployment</a:t>
                      </a:r>
                    </a:p>
                  </a:txBody>
                  <a:tcPr anchor="ctr" marL="64008" marR="64008" marT="18288" marB="18288">
                    <a:solidFill>
                      <a:srgbClr val="FFFFFF"/>
                    </a:solidFill>
                    <a:lnL w="12700">
                      <a:solidFill>
                        <a:srgbClr val="CBD5E1"/>
                      </a:solidFill>
                    </a:lnL>
                    <a:lnR w="12700">
                      <a:solidFill>
                        <a:srgbClr val="CBD5E1"/>
                      </a:solidFill>
                    </a:lnR>
                    <a:lnT w="12700">
                      <a:solidFill>
                        <a:srgbClr val="CBD5E1"/>
                      </a:solidFill>
                    </a:lnT>
                    <a:lnB w="12700">
                      <a:solidFill>
                        <a:srgbClr val="CBD5E1"/>
                      </a:solidFill>
                    </a:lnB>
                  </a:tcPr>
                </a:tc>
              </a:tr>
            </a:tbl>
          </a:graphicData>
        </a:graphic>
      </p:graphicFrame>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3F6FC"/>
        </a:solidFill>
        <a:effectLst/>
      </p:bgPr>
    </p:bg>
    <p:spTree>
      <p:nvGrpSpPr>
        <p:cNvPr id="1" name=""/>
        <p:cNvGrpSpPr/>
        <p:nvPr/>
      </p:nvGrpSpPr>
      <p:grpSpPr/>
      <p:sp>
        <p:nvSpPr>
          <p:cNvPr id="2" name="Rectangle 1"/>
          <p:cNvSpPr/>
          <p:nvPr/>
        </p:nvSpPr>
        <p:spPr>
          <a:xfrm>
            <a:off x="0" y="0"/>
            <a:ext cx="12191695" cy="1078992"/>
          </a:xfrm>
          <a:prstGeom prst="rect">
            <a:avLst/>
          </a:prstGeom>
          <a:solidFill>
            <a:srgbClr val="0B1E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78992"/>
            <a:ext cx="12191695" cy="411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411480" y="91440"/>
            <a:ext cx="10058400" cy="9144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27432" bIns="27432"/>
          <a:lstStyle/>
          <a:p>
            <a:pPr algn="l">
              <a:spcBef>
                <a:spcPts val="0"/>
              </a:spcBef>
              <a:spcAft>
                <a:spcPts val="100"/>
              </a:spcAft>
            </a:pPr>
            <a:r>
              <a:rPr sz="1050" b="1" i="0">
                <a:solidFill>
                  <a:srgbClr val="06B6D4"/>
                </a:solidFill>
                <a:latin typeface="Calibri"/>
              </a:rPr>
              <a:t>SLIDE 7</a:t>
            </a:r>
          </a:p>
          <a:p>
            <a:pPr algn="l">
              <a:spcBef>
                <a:spcPts val="0"/>
              </a:spcBef>
              <a:spcAft>
                <a:spcPts val="0"/>
              </a:spcAft>
            </a:pPr>
            <a:r>
              <a:rPr sz="2500" b="1" i="0">
                <a:solidFill>
                  <a:srgbClr val="FFFFFF"/>
                </a:solidFill>
                <a:latin typeface="Calibri"/>
              </a:rPr>
              <a:t>Developed Modules — 20 Modules, 95 Endpoints</a:t>
            </a:r>
          </a:p>
        </p:txBody>
      </p:sp>
      <p:sp>
        <p:nvSpPr>
          <p:cNvPr id="5" name="Rounded Rectangle 4"/>
          <p:cNvSpPr/>
          <p:nvPr/>
        </p:nvSpPr>
        <p:spPr>
          <a:xfrm>
            <a:off x="10972800" y="274320"/>
            <a:ext cx="822960" cy="512064"/>
          </a:xfrm>
          <a:prstGeom prst="roundRect">
            <a:avLst/>
          </a:prstGeom>
          <a:solidFill>
            <a:srgbClr val="143363"/>
          </a:solidFill>
          <a:ln w="15875">
            <a:solidFill>
              <a:srgbClr val="06B6D4"/>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spcBef>
                <a:spcPts val="0"/>
              </a:spcBef>
              <a:spcAft>
                <a:spcPts val="0"/>
              </a:spcAft>
            </a:pPr>
            <a:r>
              <a:rPr sz="1150" b="1" i="0">
                <a:solidFill>
                  <a:srgbClr val="FFFFFF"/>
                </a:solidFill>
                <a:latin typeface="Calibri"/>
              </a:rPr>
              <a:t>7 / 10</a:t>
            </a:r>
          </a:p>
        </p:txBody>
      </p:sp>
      <p:sp>
        <p:nvSpPr>
          <p:cNvPr id="6" name="Rectangle 5"/>
          <p:cNvSpPr/>
          <p:nvPr/>
        </p:nvSpPr>
        <p:spPr>
          <a:xfrm>
            <a:off x="411480" y="6446520"/>
            <a:ext cx="11365992" cy="29260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27432" bIns="27432"/>
          <a:lstStyle/>
          <a:p>
            <a:pPr algn="ctr">
              <a:spcAft>
                <a:spcPts val="0"/>
              </a:spcAft>
            </a:pPr>
            <a:r>
              <a:rPr sz="850">
                <a:solidFill>
                  <a:srgbClr val="64748B"/>
                </a:solidFill>
                <a:latin typeface="Calibri"/>
              </a:rPr>
              <a:t>HieraSync AI  •  Smart College Workflow &amp; Event Management System        </a:t>
            </a:r>
            <a:r>
              <a:rPr sz="850">
                <a:solidFill>
                  <a:srgbClr val="64748B"/>
                </a:solidFill>
                <a:latin typeface="Calibri"/>
              </a:rPr>
              <a:t>github.com/Atulgupta07/Hiera_Sync</a:t>
            </a:r>
          </a:p>
        </p:txBody>
      </p:sp>
      <p:graphicFrame>
        <p:nvGraphicFramePr>
          <p:cNvPr id="7" name="Table 6"/>
          <p:cNvGraphicFramePr>
            <a:graphicFrameLocks noGrp="1"/>
          </p:cNvGraphicFramePr>
          <p:nvPr/>
        </p:nvGraphicFramePr>
        <p:xfrm>
          <a:off x="411480" y="1261872"/>
          <a:ext cx="11365992" cy="4626864"/>
        </p:xfrm>
        <a:graphic>
          <a:graphicData uri="http://schemas.openxmlformats.org/drawingml/2006/table">
            <a:tbl>
              <a:tblPr>
                <a:tableStyleId>{5C22544A-7EE6-4342-B048-85BDC9FD1C3A}</a:tableStyleId>
              </a:tblPr>
              <a:tblGrid>
                <a:gridCol w="2514600"/>
                <a:gridCol w="566928"/>
                <a:gridCol w="8284464"/>
              </a:tblGrid>
              <a:tr h="330490">
                <a:tc>
                  <a:txBody>
                    <a:bodyPr/>
                    <a:lstStyle/>
                    <a:p>
                      <a:pPr>
                        <a:spcBef>
                          <a:spcPts val="100"/>
                        </a:spcBef>
                        <a:spcAft>
                          <a:spcPts val="100"/>
                        </a:spcAft>
                      </a:pPr>
                      <a:r>
                        <a:rPr sz="1050" b="1">
                          <a:solidFill>
                            <a:srgbClr val="FFFFFF"/>
                          </a:solidFill>
                          <a:latin typeface="Calibri"/>
                        </a:rPr>
                        <a:t>Module</a:t>
                      </a:r>
                    </a:p>
                  </a:txBody>
                  <a:tcPr anchor="ctr" marL="64008" marR="64008" marT="18288" marB="18288">
                    <a:solidFill>
                      <a:srgbClr val="0B1E3B"/>
                    </a:solidFill>
                    <a:lnL w="12700">
                      <a:solidFill>
                        <a:srgbClr val="CBD5E1"/>
                      </a:solidFill>
                    </a:lnL>
                    <a:lnR w="12700">
                      <a:solidFill>
                        <a:srgbClr val="CBD5E1"/>
                      </a:solidFill>
                    </a:lnR>
                    <a:lnT w="12700">
                      <a:solidFill>
                        <a:srgbClr val="CBD5E1"/>
                      </a:solidFill>
                    </a:lnT>
                    <a:lnB w="12700">
                      <a:solidFill>
                        <a:srgbClr val="CBD5E1"/>
                      </a:solidFill>
                    </a:lnB>
                  </a:tcPr>
                </a:tc>
                <a:tc>
                  <a:txBody>
                    <a:bodyPr/>
                    <a:lstStyle/>
                    <a:p>
                      <a:pPr>
                        <a:spcBef>
                          <a:spcPts val="100"/>
                        </a:spcBef>
                        <a:spcAft>
                          <a:spcPts val="100"/>
                        </a:spcAft>
                      </a:pPr>
                      <a:r>
                        <a:rPr sz="1050" b="1">
                          <a:solidFill>
                            <a:srgbClr val="FFFFFF"/>
                          </a:solidFill>
                          <a:latin typeface="Calibri"/>
                        </a:rPr>
                        <a:t>API</a:t>
                      </a:r>
                    </a:p>
                  </a:txBody>
                  <a:tcPr anchor="ctr" marL="64008" marR="64008" marT="18288" marB="18288">
                    <a:solidFill>
                      <a:srgbClr val="0B1E3B"/>
                    </a:solidFill>
                    <a:lnL w="12700">
                      <a:solidFill>
                        <a:srgbClr val="CBD5E1"/>
                      </a:solidFill>
                    </a:lnL>
                    <a:lnR w="12700">
                      <a:solidFill>
                        <a:srgbClr val="CBD5E1"/>
                      </a:solidFill>
                    </a:lnR>
                    <a:lnT w="12700">
                      <a:solidFill>
                        <a:srgbClr val="CBD5E1"/>
                      </a:solidFill>
                    </a:lnT>
                    <a:lnB w="12700">
                      <a:solidFill>
                        <a:srgbClr val="CBD5E1"/>
                      </a:solidFill>
                    </a:lnB>
                  </a:tcPr>
                </a:tc>
                <a:tc>
                  <a:txBody>
                    <a:bodyPr/>
                    <a:lstStyle/>
                    <a:p>
                      <a:pPr>
                        <a:spcBef>
                          <a:spcPts val="100"/>
                        </a:spcBef>
                        <a:spcAft>
                          <a:spcPts val="100"/>
                        </a:spcAft>
                      </a:pPr>
                      <a:r>
                        <a:rPr sz="1050" b="1">
                          <a:solidFill>
                            <a:srgbClr val="FFFFFF"/>
                          </a:solidFill>
                          <a:latin typeface="Calibri"/>
                        </a:rPr>
                        <a:t>What it does in the system</a:t>
                      </a:r>
                    </a:p>
                  </a:txBody>
                  <a:tcPr anchor="ctr" marL="64008" marR="64008" marT="18288" marB="18288">
                    <a:solidFill>
                      <a:srgbClr val="0B1E3B"/>
                    </a:solidFill>
                    <a:lnL w="12700">
                      <a:solidFill>
                        <a:srgbClr val="CBD5E1"/>
                      </a:solidFill>
                    </a:lnL>
                    <a:lnR w="12700">
                      <a:solidFill>
                        <a:srgbClr val="CBD5E1"/>
                      </a:solidFill>
                    </a:lnR>
                    <a:lnT w="12700">
                      <a:solidFill>
                        <a:srgbClr val="CBD5E1"/>
                      </a:solidFill>
                    </a:lnT>
                    <a:lnB w="12700">
                      <a:solidFill>
                        <a:srgbClr val="CBD5E1"/>
                      </a:solidFill>
                    </a:lnB>
                  </a:tcPr>
                </a:tc>
              </a:tr>
              <a:tr h="330490">
                <a:tc>
                  <a:txBody>
                    <a:bodyPr/>
                    <a:lstStyle/>
                    <a:p>
                      <a:pPr>
                        <a:spcBef>
                          <a:spcPts val="100"/>
                        </a:spcBef>
                        <a:spcAft>
                          <a:spcPts val="100"/>
                        </a:spcAft>
                      </a:pPr>
                      <a:r>
                        <a:rPr sz="950" b="1">
                          <a:solidFill>
                            <a:srgbClr val="1E293B"/>
                          </a:solidFill>
                          <a:latin typeface="Calibri"/>
                        </a:rPr>
                        <a:t>Authentication &amp; Employees</a:t>
                      </a:r>
                    </a:p>
                  </a:txBody>
                  <a:tcPr anchor="ctr" marL="64008" marR="64008" marT="18288" marB="18288">
                    <a:solidFill>
                      <a:srgbClr val="FFFFFF"/>
                    </a:solidFill>
                    <a:lnL w="12700">
                      <a:solidFill>
                        <a:srgbClr val="CBD5E1"/>
                      </a:solidFill>
                    </a:lnL>
                    <a:lnR w="12700">
                      <a:solidFill>
                        <a:srgbClr val="CBD5E1"/>
                      </a:solidFill>
                    </a:lnR>
                    <a:lnT w="12700">
                      <a:solidFill>
                        <a:srgbClr val="CBD5E1"/>
                      </a:solidFill>
                    </a:lnT>
                    <a:lnB w="12700">
                      <a:solidFill>
                        <a:srgbClr val="CBD5E1"/>
                      </a:solidFill>
                    </a:lnB>
                  </a:tcPr>
                </a:tc>
                <a:tc>
                  <a:txBody>
                    <a:bodyPr/>
                    <a:lstStyle/>
                    <a:p>
                      <a:pPr>
                        <a:spcBef>
                          <a:spcPts val="100"/>
                        </a:spcBef>
                        <a:spcAft>
                          <a:spcPts val="100"/>
                        </a:spcAft>
                      </a:pPr>
                      <a:r>
                        <a:rPr sz="950" b="0">
                          <a:solidFill>
                            <a:srgbClr val="1E293B"/>
                          </a:solidFill>
                          <a:latin typeface="Calibri"/>
                        </a:rPr>
                        <a:t>8</a:t>
                      </a:r>
                    </a:p>
                  </a:txBody>
                  <a:tcPr anchor="ctr" marL="64008" marR="64008" marT="18288" marB="18288">
                    <a:solidFill>
                      <a:srgbClr val="FFFFFF"/>
                    </a:solidFill>
                    <a:lnL w="12700">
                      <a:solidFill>
                        <a:srgbClr val="CBD5E1"/>
                      </a:solidFill>
                    </a:lnL>
                    <a:lnR w="12700">
                      <a:solidFill>
                        <a:srgbClr val="CBD5E1"/>
                      </a:solidFill>
                    </a:lnR>
                    <a:lnT w="12700">
                      <a:solidFill>
                        <a:srgbClr val="CBD5E1"/>
                      </a:solidFill>
                    </a:lnT>
                    <a:lnB w="12700">
                      <a:solidFill>
                        <a:srgbClr val="CBD5E1"/>
                      </a:solidFill>
                    </a:lnB>
                  </a:tcPr>
                </a:tc>
                <a:tc>
                  <a:txBody>
                    <a:bodyPr/>
                    <a:lstStyle/>
                    <a:p>
                      <a:pPr>
                        <a:spcBef>
                          <a:spcPts val="100"/>
                        </a:spcBef>
                        <a:spcAft>
                          <a:spcPts val="100"/>
                        </a:spcAft>
                      </a:pPr>
                      <a:r>
                        <a:rPr sz="950" b="0">
                          <a:solidFill>
                            <a:srgbClr val="1E293B"/>
                          </a:solidFill>
                          <a:latin typeface="Calibri"/>
                        </a:rPr>
                        <a:t>Register, login (JWT), /me profile, forgot-password, employee list &amp; CRUD by role</a:t>
                      </a:r>
                    </a:p>
                  </a:txBody>
                  <a:tcPr anchor="ctr" marL="64008" marR="64008" marT="18288" marB="18288">
                    <a:solidFill>
                      <a:srgbClr val="FFFFFF"/>
                    </a:solidFill>
                    <a:lnL w="12700">
                      <a:solidFill>
                        <a:srgbClr val="CBD5E1"/>
                      </a:solidFill>
                    </a:lnL>
                    <a:lnR w="12700">
                      <a:solidFill>
                        <a:srgbClr val="CBD5E1"/>
                      </a:solidFill>
                    </a:lnR>
                    <a:lnT w="12700">
                      <a:solidFill>
                        <a:srgbClr val="CBD5E1"/>
                      </a:solidFill>
                    </a:lnT>
                    <a:lnB w="12700">
                      <a:solidFill>
                        <a:srgbClr val="CBD5E1"/>
                      </a:solidFill>
                    </a:lnB>
                  </a:tcPr>
                </a:tc>
              </a:tr>
              <a:tr h="330490">
                <a:tc>
                  <a:txBody>
                    <a:bodyPr/>
                    <a:lstStyle/>
                    <a:p>
                      <a:pPr>
                        <a:spcBef>
                          <a:spcPts val="100"/>
                        </a:spcBef>
                        <a:spcAft>
                          <a:spcPts val="100"/>
                        </a:spcAft>
                      </a:pPr>
                      <a:r>
                        <a:rPr sz="950" b="1">
                          <a:solidFill>
                            <a:srgbClr val="1E293B"/>
                          </a:solidFill>
                          <a:latin typeface="Calibri"/>
                        </a:rPr>
                        <a:t>Departments &amp; Join Requests</a:t>
                      </a:r>
                    </a:p>
                  </a:txBody>
                  <a:tcPr anchor="ctr" marL="64008" marR="64008" marT="18288" marB="18288">
                    <a:solidFill>
                      <a:srgbClr val="EEF2FF"/>
                    </a:solidFill>
                    <a:lnL w="12700">
                      <a:solidFill>
                        <a:srgbClr val="CBD5E1"/>
                      </a:solidFill>
                    </a:lnL>
                    <a:lnR w="12700">
                      <a:solidFill>
                        <a:srgbClr val="CBD5E1"/>
                      </a:solidFill>
                    </a:lnR>
                    <a:lnT w="12700">
                      <a:solidFill>
                        <a:srgbClr val="CBD5E1"/>
                      </a:solidFill>
                    </a:lnT>
                    <a:lnB w="12700">
                      <a:solidFill>
                        <a:srgbClr val="CBD5E1"/>
                      </a:solidFill>
                    </a:lnB>
                  </a:tcPr>
                </a:tc>
                <a:tc>
                  <a:txBody>
                    <a:bodyPr/>
                    <a:lstStyle/>
                    <a:p>
                      <a:pPr>
                        <a:spcBef>
                          <a:spcPts val="100"/>
                        </a:spcBef>
                        <a:spcAft>
                          <a:spcPts val="100"/>
                        </a:spcAft>
                      </a:pPr>
                      <a:r>
                        <a:rPr sz="950" b="0">
                          <a:solidFill>
                            <a:srgbClr val="1E293B"/>
                          </a:solidFill>
                          <a:latin typeface="Calibri"/>
                        </a:rPr>
                        <a:t>10</a:t>
                      </a:r>
                    </a:p>
                  </a:txBody>
                  <a:tcPr anchor="ctr" marL="64008" marR="64008" marT="18288" marB="18288">
                    <a:solidFill>
                      <a:srgbClr val="EEF2FF"/>
                    </a:solidFill>
                    <a:lnL w="12700">
                      <a:solidFill>
                        <a:srgbClr val="CBD5E1"/>
                      </a:solidFill>
                    </a:lnL>
                    <a:lnR w="12700">
                      <a:solidFill>
                        <a:srgbClr val="CBD5E1"/>
                      </a:solidFill>
                    </a:lnR>
                    <a:lnT w="12700">
                      <a:solidFill>
                        <a:srgbClr val="CBD5E1"/>
                      </a:solidFill>
                    </a:lnT>
                    <a:lnB w="12700">
                      <a:solidFill>
                        <a:srgbClr val="CBD5E1"/>
                      </a:solidFill>
                    </a:lnB>
                  </a:tcPr>
                </a:tc>
                <a:tc>
                  <a:txBody>
                    <a:bodyPr/>
                    <a:lstStyle/>
                    <a:p>
                      <a:pPr>
                        <a:spcBef>
                          <a:spcPts val="100"/>
                        </a:spcBef>
                        <a:spcAft>
                          <a:spcPts val="100"/>
                        </a:spcAft>
                      </a:pPr>
                      <a:r>
                        <a:rPr sz="950" b="0">
                          <a:solidFill>
                            <a:srgbClr val="1E293B"/>
                          </a:solidFill>
                          <a:latin typeface="Calibri"/>
                        </a:rPr>
                        <a:t>Create department, unique join code, faculty join request → HOD approve / reject</a:t>
                      </a:r>
                    </a:p>
                  </a:txBody>
                  <a:tcPr anchor="ctr" marL="64008" marR="64008" marT="18288" marB="18288">
                    <a:solidFill>
                      <a:srgbClr val="EEF2FF"/>
                    </a:solidFill>
                    <a:lnL w="12700">
                      <a:solidFill>
                        <a:srgbClr val="CBD5E1"/>
                      </a:solidFill>
                    </a:lnL>
                    <a:lnR w="12700">
                      <a:solidFill>
                        <a:srgbClr val="CBD5E1"/>
                      </a:solidFill>
                    </a:lnR>
                    <a:lnT w="12700">
                      <a:solidFill>
                        <a:srgbClr val="CBD5E1"/>
                      </a:solidFill>
                    </a:lnT>
                    <a:lnB w="12700">
                      <a:solidFill>
                        <a:srgbClr val="CBD5E1"/>
                      </a:solidFill>
                    </a:lnB>
                  </a:tcPr>
                </a:tc>
              </a:tr>
              <a:tr h="330490">
                <a:tc>
                  <a:txBody>
                    <a:bodyPr/>
                    <a:lstStyle/>
                    <a:p>
                      <a:pPr>
                        <a:spcBef>
                          <a:spcPts val="100"/>
                        </a:spcBef>
                        <a:spcAft>
                          <a:spcPts val="100"/>
                        </a:spcAft>
                      </a:pPr>
                      <a:r>
                        <a:rPr sz="950" b="1">
                          <a:solidFill>
                            <a:srgbClr val="1E293B"/>
                          </a:solidFill>
                          <a:latin typeface="Calibri"/>
                        </a:rPr>
                        <a:t>Tasks &amp; Reviews</a:t>
                      </a:r>
                    </a:p>
                  </a:txBody>
                  <a:tcPr anchor="ctr" marL="64008" marR="64008" marT="18288" marB="18288">
                    <a:solidFill>
                      <a:srgbClr val="FFFFFF"/>
                    </a:solidFill>
                    <a:lnL w="12700">
                      <a:solidFill>
                        <a:srgbClr val="CBD5E1"/>
                      </a:solidFill>
                    </a:lnL>
                    <a:lnR w="12700">
                      <a:solidFill>
                        <a:srgbClr val="CBD5E1"/>
                      </a:solidFill>
                    </a:lnR>
                    <a:lnT w="12700">
                      <a:solidFill>
                        <a:srgbClr val="CBD5E1"/>
                      </a:solidFill>
                    </a:lnT>
                    <a:lnB w="12700">
                      <a:solidFill>
                        <a:srgbClr val="CBD5E1"/>
                      </a:solidFill>
                    </a:lnB>
                  </a:tcPr>
                </a:tc>
                <a:tc>
                  <a:txBody>
                    <a:bodyPr/>
                    <a:lstStyle/>
                    <a:p>
                      <a:pPr>
                        <a:spcBef>
                          <a:spcPts val="100"/>
                        </a:spcBef>
                        <a:spcAft>
                          <a:spcPts val="100"/>
                        </a:spcAft>
                      </a:pPr>
                      <a:r>
                        <a:rPr sz="950" b="0">
                          <a:solidFill>
                            <a:srgbClr val="1E293B"/>
                          </a:solidFill>
                          <a:latin typeface="Calibri"/>
                        </a:rPr>
                        <a:t>6</a:t>
                      </a:r>
                    </a:p>
                  </a:txBody>
                  <a:tcPr anchor="ctr" marL="64008" marR="64008" marT="18288" marB="18288">
                    <a:solidFill>
                      <a:srgbClr val="FFFFFF"/>
                    </a:solidFill>
                    <a:lnL w="12700">
                      <a:solidFill>
                        <a:srgbClr val="CBD5E1"/>
                      </a:solidFill>
                    </a:lnL>
                    <a:lnR w="12700">
                      <a:solidFill>
                        <a:srgbClr val="CBD5E1"/>
                      </a:solidFill>
                    </a:lnR>
                    <a:lnT w="12700">
                      <a:solidFill>
                        <a:srgbClr val="CBD5E1"/>
                      </a:solidFill>
                    </a:lnT>
                    <a:lnB w="12700">
                      <a:solidFill>
                        <a:srgbClr val="CBD5E1"/>
                      </a:solidFill>
                    </a:lnB>
                  </a:tcPr>
                </a:tc>
                <a:tc>
                  <a:txBody>
                    <a:bodyPr/>
                    <a:lstStyle/>
                    <a:p>
                      <a:pPr>
                        <a:spcBef>
                          <a:spcPts val="100"/>
                        </a:spcBef>
                        <a:spcAft>
                          <a:spcPts val="100"/>
                        </a:spcAft>
                      </a:pPr>
                      <a:r>
                        <a:rPr sz="950" b="0">
                          <a:solidFill>
                            <a:srgbClr val="1E293B"/>
                          </a:solidFill>
                          <a:latin typeface="Calibri"/>
                        </a:rPr>
                        <a:t>Create, update, delete, assign &amp; co-assign tasks; submit for review; AI risk score</a:t>
                      </a:r>
                    </a:p>
                  </a:txBody>
                  <a:tcPr anchor="ctr" marL="64008" marR="64008" marT="18288" marB="18288">
                    <a:solidFill>
                      <a:srgbClr val="FFFFFF"/>
                    </a:solidFill>
                    <a:lnL w="12700">
                      <a:solidFill>
                        <a:srgbClr val="CBD5E1"/>
                      </a:solidFill>
                    </a:lnL>
                    <a:lnR w="12700">
                      <a:solidFill>
                        <a:srgbClr val="CBD5E1"/>
                      </a:solidFill>
                    </a:lnR>
                    <a:lnT w="12700">
                      <a:solidFill>
                        <a:srgbClr val="CBD5E1"/>
                      </a:solidFill>
                    </a:lnT>
                    <a:lnB w="12700">
                      <a:solidFill>
                        <a:srgbClr val="CBD5E1"/>
                      </a:solidFill>
                    </a:lnB>
                  </a:tcPr>
                </a:tc>
              </a:tr>
              <a:tr h="330490">
                <a:tc>
                  <a:txBody>
                    <a:bodyPr/>
                    <a:lstStyle/>
                    <a:p>
                      <a:pPr>
                        <a:spcBef>
                          <a:spcPts val="100"/>
                        </a:spcBef>
                        <a:spcAft>
                          <a:spcPts val="100"/>
                        </a:spcAft>
                      </a:pPr>
                      <a:r>
                        <a:rPr sz="950" b="1">
                          <a:solidFill>
                            <a:srgbClr val="1E293B"/>
                          </a:solidFill>
                          <a:latin typeface="Calibri"/>
                        </a:rPr>
                        <a:t>Comments &amp; Attachments</a:t>
                      </a:r>
                    </a:p>
                  </a:txBody>
                  <a:tcPr anchor="ctr" marL="64008" marR="64008" marT="18288" marB="18288">
                    <a:solidFill>
                      <a:srgbClr val="EEF2FF"/>
                    </a:solidFill>
                    <a:lnL w="12700">
                      <a:solidFill>
                        <a:srgbClr val="CBD5E1"/>
                      </a:solidFill>
                    </a:lnL>
                    <a:lnR w="12700">
                      <a:solidFill>
                        <a:srgbClr val="CBD5E1"/>
                      </a:solidFill>
                    </a:lnR>
                    <a:lnT w="12700">
                      <a:solidFill>
                        <a:srgbClr val="CBD5E1"/>
                      </a:solidFill>
                    </a:lnT>
                    <a:lnB w="12700">
                      <a:solidFill>
                        <a:srgbClr val="CBD5E1"/>
                      </a:solidFill>
                    </a:lnB>
                  </a:tcPr>
                </a:tc>
                <a:tc>
                  <a:txBody>
                    <a:bodyPr/>
                    <a:lstStyle/>
                    <a:p>
                      <a:pPr>
                        <a:spcBef>
                          <a:spcPts val="100"/>
                        </a:spcBef>
                        <a:spcAft>
                          <a:spcPts val="100"/>
                        </a:spcAft>
                      </a:pPr>
                      <a:r>
                        <a:rPr sz="950" b="0">
                          <a:solidFill>
                            <a:srgbClr val="1E293B"/>
                          </a:solidFill>
                          <a:latin typeface="Calibri"/>
                        </a:rPr>
                        <a:t>7</a:t>
                      </a:r>
                    </a:p>
                  </a:txBody>
                  <a:tcPr anchor="ctr" marL="64008" marR="64008" marT="18288" marB="18288">
                    <a:solidFill>
                      <a:srgbClr val="EEF2FF"/>
                    </a:solidFill>
                    <a:lnL w="12700">
                      <a:solidFill>
                        <a:srgbClr val="CBD5E1"/>
                      </a:solidFill>
                    </a:lnL>
                    <a:lnR w="12700">
                      <a:solidFill>
                        <a:srgbClr val="CBD5E1"/>
                      </a:solidFill>
                    </a:lnR>
                    <a:lnT w="12700">
                      <a:solidFill>
                        <a:srgbClr val="CBD5E1"/>
                      </a:solidFill>
                    </a:lnT>
                    <a:lnB w="12700">
                      <a:solidFill>
                        <a:srgbClr val="CBD5E1"/>
                      </a:solidFill>
                    </a:lnB>
                  </a:tcPr>
                </a:tc>
                <a:tc>
                  <a:txBody>
                    <a:bodyPr/>
                    <a:lstStyle/>
                    <a:p>
                      <a:pPr>
                        <a:spcBef>
                          <a:spcPts val="100"/>
                        </a:spcBef>
                        <a:spcAft>
                          <a:spcPts val="100"/>
                        </a:spcAft>
                      </a:pPr>
                      <a:r>
                        <a:rPr sz="950" b="0">
                          <a:solidFill>
                            <a:srgbClr val="1E293B"/>
                          </a:solidFill>
                          <a:latin typeface="Calibri"/>
                        </a:rPr>
                        <a:t>Threaded comments on a task; upload, list, download and delete proof files</a:t>
                      </a:r>
                    </a:p>
                  </a:txBody>
                  <a:tcPr anchor="ctr" marL="64008" marR="64008" marT="18288" marB="18288">
                    <a:solidFill>
                      <a:srgbClr val="EEF2FF"/>
                    </a:solidFill>
                    <a:lnL w="12700">
                      <a:solidFill>
                        <a:srgbClr val="CBD5E1"/>
                      </a:solidFill>
                    </a:lnL>
                    <a:lnR w="12700">
                      <a:solidFill>
                        <a:srgbClr val="CBD5E1"/>
                      </a:solidFill>
                    </a:lnR>
                    <a:lnT w="12700">
                      <a:solidFill>
                        <a:srgbClr val="CBD5E1"/>
                      </a:solidFill>
                    </a:lnT>
                    <a:lnB w="12700">
                      <a:solidFill>
                        <a:srgbClr val="CBD5E1"/>
                      </a:solidFill>
                    </a:lnB>
                  </a:tcPr>
                </a:tc>
              </a:tr>
              <a:tr h="330490">
                <a:tc>
                  <a:txBody>
                    <a:bodyPr/>
                    <a:lstStyle/>
                    <a:p>
                      <a:pPr>
                        <a:spcBef>
                          <a:spcPts val="100"/>
                        </a:spcBef>
                        <a:spcAft>
                          <a:spcPts val="100"/>
                        </a:spcAft>
                      </a:pPr>
                      <a:r>
                        <a:rPr sz="950" b="1">
                          <a:solidFill>
                            <a:srgbClr val="1E293B"/>
                          </a:solidFill>
                          <a:latin typeface="Calibri"/>
                        </a:rPr>
                        <a:t>Task Requests</a:t>
                      </a:r>
                    </a:p>
                  </a:txBody>
                  <a:tcPr anchor="ctr" marL="64008" marR="64008" marT="18288" marB="18288">
                    <a:solidFill>
                      <a:srgbClr val="FFFFFF"/>
                    </a:solidFill>
                    <a:lnL w="12700">
                      <a:solidFill>
                        <a:srgbClr val="CBD5E1"/>
                      </a:solidFill>
                    </a:lnL>
                    <a:lnR w="12700">
                      <a:solidFill>
                        <a:srgbClr val="CBD5E1"/>
                      </a:solidFill>
                    </a:lnR>
                    <a:lnT w="12700">
                      <a:solidFill>
                        <a:srgbClr val="CBD5E1"/>
                      </a:solidFill>
                    </a:lnT>
                    <a:lnB w="12700">
                      <a:solidFill>
                        <a:srgbClr val="CBD5E1"/>
                      </a:solidFill>
                    </a:lnB>
                  </a:tcPr>
                </a:tc>
                <a:tc>
                  <a:txBody>
                    <a:bodyPr/>
                    <a:lstStyle/>
                    <a:p>
                      <a:pPr>
                        <a:spcBef>
                          <a:spcPts val="100"/>
                        </a:spcBef>
                        <a:spcAft>
                          <a:spcPts val="100"/>
                        </a:spcAft>
                      </a:pPr>
                      <a:r>
                        <a:rPr sz="950" b="0">
                          <a:solidFill>
                            <a:srgbClr val="1E293B"/>
                          </a:solidFill>
                          <a:latin typeface="Calibri"/>
                        </a:rPr>
                        <a:t>4</a:t>
                      </a:r>
                    </a:p>
                  </a:txBody>
                  <a:tcPr anchor="ctr" marL="64008" marR="64008" marT="18288" marB="18288">
                    <a:solidFill>
                      <a:srgbClr val="FFFFFF"/>
                    </a:solidFill>
                    <a:lnL w="12700">
                      <a:solidFill>
                        <a:srgbClr val="CBD5E1"/>
                      </a:solidFill>
                    </a:lnL>
                    <a:lnR w="12700">
                      <a:solidFill>
                        <a:srgbClr val="CBD5E1"/>
                      </a:solidFill>
                    </a:lnR>
                    <a:lnT w="12700">
                      <a:solidFill>
                        <a:srgbClr val="CBD5E1"/>
                      </a:solidFill>
                    </a:lnT>
                    <a:lnB w="12700">
                      <a:solidFill>
                        <a:srgbClr val="CBD5E1"/>
                      </a:solidFill>
                    </a:lnB>
                  </a:tcPr>
                </a:tc>
                <a:tc>
                  <a:txBody>
                    <a:bodyPr/>
                    <a:lstStyle/>
                    <a:p>
                      <a:pPr>
                        <a:spcBef>
                          <a:spcPts val="100"/>
                        </a:spcBef>
                        <a:spcAft>
                          <a:spcPts val="100"/>
                        </a:spcAft>
                      </a:pPr>
                      <a:r>
                        <a:rPr sz="950" b="0">
                          <a:solidFill>
                            <a:srgbClr val="1E293B"/>
                          </a:solidFill>
                          <a:latin typeface="Calibri"/>
                        </a:rPr>
                        <a:t>8 request types (leave, resource, deadline extension…); approval auto-creates a task</a:t>
                      </a:r>
                    </a:p>
                  </a:txBody>
                  <a:tcPr anchor="ctr" marL="64008" marR="64008" marT="18288" marB="18288">
                    <a:solidFill>
                      <a:srgbClr val="FFFFFF"/>
                    </a:solidFill>
                    <a:lnL w="12700">
                      <a:solidFill>
                        <a:srgbClr val="CBD5E1"/>
                      </a:solidFill>
                    </a:lnL>
                    <a:lnR w="12700">
                      <a:solidFill>
                        <a:srgbClr val="CBD5E1"/>
                      </a:solidFill>
                    </a:lnR>
                    <a:lnT w="12700">
                      <a:solidFill>
                        <a:srgbClr val="CBD5E1"/>
                      </a:solidFill>
                    </a:lnT>
                    <a:lnB w="12700">
                      <a:solidFill>
                        <a:srgbClr val="CBD5E1"/>
                      </a:solidFill>
                    </a:lnB>
                  </a:tcPr>
                </a:tc>
              </a:tr>
              <a:tr h="330490">
                <a:tc>
                  <a:txBody>
                    <a:bodyPr/>
                    <a:lstStyle/>
                    <a:p>
                      <a:pPr>
                        <a:spcBef>
                          <a:spcPts val="100"/>
                        </a:spcBef>
                        <a:spcAft>
                          <a:spcPts val="100"/>
                        </a:spcAft>
                      </a:pPr>
                      <a:r>
                        <a:rPr sz="950" b="1">
                          <a:solidFill>
                            <a:srgbClr val="1E293B"/>
                          </a:solidFill>
                          <a:latin typeface="Calibri"/>
                        </a:rPr>
                        <a:t>Two-Stage Approvals</a:t>
                      </a:r>
                    </a:p>
                  </a:txBody>
                  <a:tcPr anchor="ctr" marL="64008" marR="64008" marT="18288" marB="18288">
                    <a:solidFill>
                      <a:srgbClr val="EEF2FF"/>
                    </a:solidFill>
                    <a:lnL w="12700">
                      <a:solidFill>
                        <a:srgbClr val="CBD5E1"/>
                      </a:solidFill>
                    </a:lnL>
                    <a:lnR w="12700">
                      <a:solidFill>
                        <a:srgbClr val="CBD5E1"/>
                      </a:solidFill>
                    </a:lnR>
                    <a:lnT w="12700">
                      <a:solidFill>
                        <a:srgbClr val="CBD5E1"/>
                      </a:solidFill>
                    </a:lnT>
                    <a:lnB w="12700">
                      <a:solidFill>
                        <a:srgbClr val="CBD5E1"/>
                      </a:solidFill>
                    </a:lnB>
                  </a:tcPr>
                </a:tc>
                <a:tc>
                  <a:txBody>
                    <a:bodyPr/>
                    <a:lstStyle/>
                    <a:p>
                      <a:pPr>
                        <a:spcBef>
                          <a:spcPts val="100"/>
                        </a:spcBef>
                        <a:spcAft>
                          <a:spcPts val="100"/>
                        </a:spcAft>
                      </a:pPr>
                      <a:r>
                        <a:rPr sz="950" b="0">
                          <a:solidFill>
                            <a:srgbClr val="1E293B"/>
                          </a:solidFill>
                          <a:latin typeface="Calibri"/>
                        </a:rPr>
                        <a:t>5</a:t>
                      </a:r>
                    </a:p>
                  </a:txBody>
                  <a:tcPr anchor="ctr" marL="64008" marR="64008" marT="18288" marB="18288">
                    <a:solidFill>
                      <a:srgbClr val="EEF2FF"/>
                    </a:solidFill>
                    <a:lnL w="12700">
                      <a:solidFill>
                        <a:srgbClr val="CBD5E1"/>
                      </a:solidFill>
                    </a:lnL>
                    <a:lnR w="12700">
                      <a:solidFill>
                        <a:srgbClr val="CBD5E1"/>
                      </a:solidFill>
                    </a:lnR>
                    <a:lnT w="12700">
                      <a:solidFill>
                        <a:srgbClr val="CBD5E1"/>
                      </a:solidFill>
                    </a:lnT>
                    <a:lnB w="12700">
                      <a:solidFill>
                        <a:srgbClr val="CBD5E1"/>
                      </a:solidFill>
                    </a:lnB>
                  </a:tcPr>
                </a:tc>
                <a:tc>
                  <a:txBody>
                    <a:bodyPr/>
                    <a:lstStyle/>
                    <a:p>
                      <a:pPr>
                        <a:spcBef>
                          <a:spcPts val="100"/>
                        </a:spcBef>
                        <a:spcAft>
                          <a:spcPts val="100"/>
                        </a:spcAft>
                      </a:pPr>
                      <a:r>
                        <a:rPr sz="950" b="0">
                          <a:solidFill>
                            <a:srgbClr val="1E293B"/>
                          </a:solidFill>
                          <a:latin typeface="Calibri"/>
                        </a:rPr>
                        <a:t>Raise request → HOD stage → Principal stage; approve / reject with comments &amp; trail</a:t>
                      </a:r>
                    </a:p>
                  </a:txBody>
                  <a:tcPr anchor="ctr" marL="64008" marR="64008" marT="18288" marB="18288">
                    <a:solidFill>
                      <a:srgbClr val="EEF2FF"/>
                    </a:solidFill>
                    <a:lnL w="12700">
                      <a:solidFill>
                        <a:srgbClr val="CBD5E1"/>
                      </a:solidFill>
                    </a:lnL>
                    <a:lnR w="12700">
                      <a:solidFill>
                        <a:srgbClr val="CBD5E1"/>
                      </a:solidFill>
                    </a:lnR>
                    <a:lnT w="12700">
                      <a:solidFill>
                        <a:srgbClr val="CBD5E1"/>
                      </a:solidFill>
                    </a:lnT>
                    <a:lnB w="12700">
                      <a:solidFill>
                        <a:srgbClr val="CBD5E1"/>
                      </a:solidFill>
                    </a:lnB>
                  </a:tcPr>
                </a:tc>
              </a:tr>
              <a:tr h="330490">
                <a:tc>
                  <a:txBody>
                    <a:bodyPr/>
                    <a:lstStyle/>
                    <a:p>
                      <a:pPr>
                        <a:spcBef>
                          <a:spcPts val="100"/>
                        </a:spcBef>
                        <a:spcAft>
                          <a:spcPts val="100"/>
                        </a:spcAft>
                      </a:pPr>
                      <a:r>
                        <a:rPr sz="950" b="1">
                          <a:solidFill>
                            <a:srgbClr val="1E293B"/>
                          </a:solidFill>
                          <a:latin typeface="Calibri"/>
                        </a:rPr>
                        <a:t>Events &amp; Smart Calendar</a:t>
                      </a:r>
                    </a:p>
                  </a:txBody>
                  <a:tcPr anchor="ctr" marL="64008" marR="64008" marT="18288" marB="18288">
                    <a:solidFill>
                      <a:srgbClr val="FFFFFF"/>
                    </a:solidFill>
                    <a:lnL w="12700">
                      <a:solidFill>
                        <a:srgbClr val="CBD5E1"/>
                      </a:solidFill>
                    </a:lnL>
                    <a:lnR w="12700">
                      <a:solidFill>
                        <a:srgbClr val="CBD5E1"/>
                      </a:solidFill>
                    </a:lnR>
                    <a:lnT w="12700">
                      <a:solidFill>
                        <a:srgbClr val="CBD5E1"/>
                      </a:solidFill>
                    </a:lnT>
                    <a:lnB w="12700">
                      <a:solidFill>
                        <a:srgbClr val="CBD5E1"/>
                      </a:solidFill>
                    </a:lnB>
                  </a:tcPr>
                </a:tc>
                <a:tc>
                  <a:txBody>
                    <a:bodyPr/>
                    <a:lstStyle/>
                    <a:p>
                      <a:pPr>
                        <a:spcBef>
                          <a:spcPts val="100"/>
                        </a:spcBef>
                        <a:spcAft>
                          <a:spcPts val="100"/>
                        </a:spcAft>
                      </a:pPr>
                      <a:r>
                        <a:rPr sz="950" b="0">
                          <a:solidFill>
                            <a:srgbClr val="1E293B"/>
                          </a:solidFill>
                          <a:latin typeface="Calibri"/>
                        </a:rPr>
                        <a:t>6</a:t>
                      </a:r>
                    </a:p>
                  </a:txBody>
                  <a:tcPr anchor="ctr" marL="64008" marR="64008" marT="18288" marB="18288">
                    <a:solidFill>
                      <a:srgbClr val="FFFFFF"/>
                    </a:solidFill>
                    <a:lnL w="12700">
                      <a:solidFill>
                        <a:srgbClr val="CBD5E1"/>
                      </a:solidFill>
                    </a:lnL>
                    <a:lnR w="12700">
                      <a:solidFill>
                        <a:srgbClr val="CBD5E1"/>
                      </a:solidFill>
                    </a:lnR>
                    <a:lnT w="12700">
                      <a:solidFill>
                        <a:srgbClr val="CBD5E1"/>
                      </a:solidFill>
                    </a:lnT>
                    <a:lnB w="12700">
                      <a:solidFill>
                        <a:srgbClr val="CBD5E1"/>
                      </a:solidFill>
                    </a:lnB>
                  </a:tcPr>
                </a:tc>
                <a:tc>
                  <a:txBody>
                    <a:bodyPr/>
                    <a:lstStyle/>
                    <a:p>
                      <a:pPr>
                        <a:spcBef>
                          <a:spcPts val="100"/>
                        </a:spcBef>
                        <a:spcAft>
                          <a:spcPts val="100"/>
                        </a:spcAft>
                      </a:pPr>
                      <a:r>
                        <a:rPr sz="950" b="0">
                          <a:solidFill>
                            <a:srgbClr val="1E293B"/>
                          </a:solidFill>
                          <a:latin typeface="Calibri"/>
                        </a:rPr>
                        <a:t>Event CRUD, participants, meeting link, conflict checking, recurring events</a:t>
                      </a:r>
                    </a:p>
                  </a:txBody>
                  <a:tcPr anchor="ctr" marL="64008" marR="64008" marT="18288" marB="18288">
                    <a:solidFill>
                      <a:srgbClr val="FFFFFF"/>
                    </a:solidFill>
                    <a:lnL w="12700">
                      <a:solidFill>
                        <a:srgbClr val="CBD5E1"/>
                      </a:solidFill>
                    </a:lnL>
                    <a:lnR w="12700">
                      <a:solidFill>
                        <a:srgbClr val="CBD5E1"/>
                      </a:solidFill>
                    </a:lnR>
                    <a:lnT w="12700">
                      <a:solidFill>
                        <a:srgbClr val="CBD5E1"/>
                      </a:solidFill>
                    </a:lnT>
                    <a:lnB w="12700">
                      <a:solidFill>
                        <a:srgbClr val="CBD5E1"/>
                      </a:solidFill>
                    </a:lnB>
                  </a:tcPr>
                </a:tc>
              </a:tr>
              <a:tr h="330490">
                <a:tc>
                  <a:txBody>
                    <a:bodyPr/>
                    <a:lstStyle/>
                    <a:p>
                      <a:pPr>
                        <a:spcBef>
                          <a:spcPts val="100"/>
                        </a:spcBef>
                        <a:spcAft>
                          <a:spcPts val="100"/>
                        </a:spcAft>
                      </a:pPr>
                      <a:r>
                        <a:rPr sz="950" b="1">
                          <a:solidFill>
                            <a:srgbClr val="1E293B"/>
                          </a:solidFill>
                          <a:latin typeface="Calibri"/>
                        </a:rPr>
                        <a:t>Institutional Calendar (AI)</a:t>
                      </a:r>
                    </a:p>
                  </a:txBody>
                  <a:tcPr anchor="ctr" marL="64008" marR="64008" marT="18288" marB="18288">
                    <a:solidFill>
                      <a:srgbClr val="EEF2FF"/>
                    </a:solidFill>
                    <a:lnL w="12700">
                      <a:solidFill>
                        <a:srgbClr val="CBD5E1"/>
                      </a:solidFill>
                    </a:lnL>
                    <a:lnR w="12700">
                      <a:solidFill>
                        <a:srgbClr val="CBD5E1"/>
                      </a:solidFill>
                    </a:lnR>
                    <a:lnT w="12700">
                      <a:solidFill>
                        <a:srgbClr val="CBD5E1"/>
                      </a:solidFill>
                    </a:lnT>
                    <a:lnB w="12700">
                      <a:solidFill>
                        <a:srgbClr val="CBD5E1"/>
                      </a:solidFill>
                    </a:lnB>
                  </a:tcPr>
                </a:tc>
                <a:tc>
                  <a:txBody>
                    <a:bodyPr/>
                    <a:lstStyle/>
                    <a:p>
                      <a:pPr>
                        <a:spcBef>
                          <a:spcPts val="100"/>
                        </a:spcBef>
                        <a:spcAft>
                          <a:spcPts val="100"/>
                        </a:spcAft>
                      </a:pPr>
                      <a:r>
                        <a:rPr sz="950" b="0">
                          <a:solidFill>
                            <a:srgbClr val="1E293B"/>
                          </a:solidFill>
                          <a:latin typeface="Calibri"/>
                        </a:rPr>
                        <a:t>8</a:t>
                      </a:r>
                    </a:p>
                  </a:txBody>
                  <a:tcPr anchor="ctr" marL="64008" marR="64008" marT="18288" marB="18288">
                    <a:solidFill>
                      <a:srgbClr val="EEF2FF"/>
                    </a:solidFill>
                    <a:lnL w="12700">
                      <a:solidFill>
                        <a:srgbClr val="CBD5E1"/>
                      </a:solidFill>
                    </a:lnL>
                    <a:lnR w="12700">
                      <a:solidFill>
                        <a:srgbClr val="CBD5E1"/>
                      </a:solidFill>
                    </a:lnR>
                    <a:lnT w="12700">
                      <a:solidFill>
                        <a:srgbClr val="CBD5E1"/>
                      </a:solidFill>
                    </a:lnT>
                    <a:lnB w="12700">
                      <a:solidFill>
                        <a:srgbClr val="CBD5E1"/>
                      </a:solidFill>
                    </a:lnB>
                  </a:tcPr>
                </a:tc>
                <a:tc>
                  <a:txBody>
                    <a:bodyPr/>
                    <a:lstStyle/>
                    <a:p>
                      <a:pPr>
                        <a:spcBef>
                          <a:spcPts val="100"/>
                        </a:spcBef>
                        <a:spcAft>
                          <a:spcPts val="100"/>
                        </a:spcAft>
                      </a:pPr>
                      <a:r>
                        <a:rPr sz="950" b="0">
                          <a:solidFill>
                            <a:srgbClr val="1E293B"/>
                          </a:solidFill>
                          <a:latin typeface="Calibri"/>
                        </a:rPr>
                        <a:t>Upload PDF/DOCX/XLSX → AI extracts &amp; categorises activities → draft → publish → history</a:t>
                      </a:r>
                    </a:p>
                  </a:txBody>
                  <a:tcPr anchor="ctr" marL="64008" marR="64008" marT="18288" marB="18288">
                    <a:solidFill>
                      <a:srgbClr val="EEF2FF"/>
                    </a:solidFill>
                    <a:lnL w="12700">
                      <a:solidFill>
                        <a:srgbClr val="CBD5E1"/>
                      </a:solidFill>
                    </a:lnL>
                    <a:lnR w="12700">
                      <a:solidFill>
                        <a:srgbClr val="CBD5E1"/>
                      </a:solidFill>
                    </a:lnR>
                    <a:lnT w="12700">
                      <a:solidFill>
                        <a:srgbClr val="CBD5E1"/>
                      </a:solidFill>
                    </a:lnT>
                    <a:lnB w="12700">
                      <a:solidFill>
                        <a:srgbClr val="CBD5E1"/>
                      </a:solidFill>
                    </a:lnB>
                  </a:tcPr>
                </a:tc>
              </a:tr>
              <a:tr h="330490">
                <a:tc>
                  <a:txBody>
                    <a:bodyPr/>
                    <a:lstStyle/>
                    <a:p>
                      <a:pPr>
                        <a:spcBef>
                          <a:spcPts val="100"/>
                        </a:spcBef>
                        <a:spcAft>
                          <a:spcPts val="100"/>
                        </a:spcAft>
                      </a:pPr>
                      <a:r>
                        <a:rPr sz="950" b="1">
                          <a:solidFill>
                            <a:srgbClr val="1E293B"/>
                          </a:solidFill>
                          <a:latin typeface="Calibri"/>
                        </a:rPr>
                        <a:t>Department Goals</a:t>
                      </a:r>
                    </a:p>
                  </a:txBody>
                  <a:tcPr anchor="ctr" marL="64008" marR="64008" marT="18288" marB="18288">
                    <a:solidFill>
                      <a:srgbClr val="FFFFFF"/>
                    </a:solidFill>
                    <a:lnL w="12700">
                      <a:solidFill>
                        <a:srgbClr val="CBD5E1"/>
                      </a:solidFill>
                    </a:lnL>
                    <a:lnR w="12700">
                      <a:solidFill>
                        <a:srgbClr val="CBD5E1"/>
                      </a:solidFill>
                    </a:lnR>
                    <a:lnT w="12700">
                      <a:solidFill>
                        <a:srgbClr val="CBD5E1"/>
                      </a:solidFill>
                    </a:lnT>
                    <a:lnB w="12700">
                      <a:solidFill>
                        <a:srgbClr val="CBD5E1"/>
                      </a:solidFill>
                    </a:lnB>
                  </a:tcPr>
                </a:tc>
                <a:tc>
                  <a:txBody>
                    <a:bodyPr/>
                    <a:lstStyle/>
                    <a:p>
                      <a:pPr>
                        <a:spcBef>
                          <a:spcPts val="100"/>
                        </a:spcBef>
                        <a:spcAft>
                          <a:spcPts val="100"/>
                        </a:spcAft>
                      </a:pPr>
                      <a:r>
                        <a:rPr sz="950" b="0">
                          <a:solidFill>
                            <a:srgbClr val="1E293B"/>
                          </a:solidFill>
                          <a:latin typeface="Calibri"/>
                        </a:rPr>
                        <a:t>8</a:t>
                      </a:r>
                    </a:p>
                  </a:txBody>
                  <a:tcPr anchor="ctr" marL="64008" marR="64008" marT="18288" marB="18288">
                    <a:solidFill>
                      <a:srgbClr val="FFFFFF"/>
                    </a:solidFill>
                    <a:lnL w="12700">
                      <a:solidFill>
                        <a:srgbClr val="CBD5E1"/>
                      </a:solidFill>
                    </a:lnL>
                    <a:lnR w="12700">
                      <a:solidFill>
                        <a:srgbClr val="CBD5E1"/>
                      </a:solidFill>
                    </a:lnR>
                    <a:lnT w="12700">
                      <a:solidFill>
                        <a:srgbClr val="CBD5E1"/>
                      </a:solidFill>
                    </a:lnT>
                    <a:lnB w="12700">
                      <a:solidFill>
                        <a:srgbClr val="CBD5E1"/>
                      </a:solidFill>
                    </a:lnB>
                  </a:tcPr>
                </a:tc>
                <a:tc>
                  <a:txBody>
                    <a:bodyPr/>
                    <a:lstStyle/>
                    <a:p>
                      <a:pPr>
                        <a:spcBef>
                          <a:spcPts val="100"/>
                        </a:spcBef>
                        <a:spcAft>
                          <a:spcPts val="100"/>
                        </a:spcAft>
                      </a:pPr>
                      <a:r>
                        <a:rPr sz="950" b="0">
                          <a:solidFill>
                            <a:srgbClr val="1E293B"/>
                          </a:solidFill>
                          <a:latin typeface="Calibri"/>
                        </a:rPr>
                        <a:t>Long-term goals with category, target date, status and milestone tracking</a:t>
                      </a:r>
                    </a:p>
                  </a:txBody>
                  <a:tcPr anchor="ctr" marL="64008" marR="64008" marT="18288" marB="18288">
                    <a:solidFill>
                      <a:srgbClr val="FFFFFF"/>
                    </a:solidFill>
                    <a:lnL w="12700">
                      <a:solidFill>
                        <a:srgbClr val="CBD5E1"/>
                      </a:solidFill>
                    </a:lnL>
                    <a:lnR w="12700">
                      <a:solidFill>
                        <a:srgbClr val="CBD5E1"/>
                      </a:solidFill>
                    </a:lnR>
                    <a:lnT w="12700">
                      <a:solidFill>
                        <a:srgbClr val="CBD5E1"/>
                      </a:solidFill>
                    </a:lnT>
                    <a:lnB w="12700">
                      <a:solidFill>
                        <a:srgbClr val="CBD5E1"/>
                      </a:solidFill>
                    </a:lnB>
                  </a:tcPr>
                </a:tc>
              </a:tr>
              <a:tr h="330490">
                <a:tc>
                  <a:txBody>
                    <a:bodyPr/>
                    <a:lstStyle/>
                    <a:p>
                      <a:pPr>
                        <a:spcBef>
                          <a:spcPts val="100"/>
                        </a:spcBef>
                        <a:spcAft>
                          <a:spcPts val="100"/>
                        </a:spcAft>
                      </a:pPr>
                      <a:r>
                        <a:rPr sz="950" b="1">
                          <a:solidFill>
                            <a:srgbClr val="1E293B"/>
                          </a:solidFill>
                          <a:latin typeface="Calibri"/>
                        </a:rPr>
                        <a:t>AI Assistant</a:t>
                      </a:r>
                    </a:p>
                  </a:txBody>
                  <a:tcPr anchor="ctr" marL="64008" marR="64008" marT="18288" marB="18288">
                    <a:solidFill>
                      <a:srgbClr val="EEF2FF"/>
                    </a:solidFill>
                    <a:lnL w="12700">
                      <a:solidFill>
                        <a:srgbClr val="CBD5E1"/>
                      </a:solidFill>
                    </a:lnL>
                    <a:lnR w="12700">
                      <a:solidFill>
                        <a:srgbClr val="CBD5E1"/>
                      </a:solidFill>
                    </a:lnR>
                    <a:lnT w="12700">
                      <a:solidFill>
                        <a:srgbClr val="CBD5E1"/>
                      </a:solidFill>
                    </a:lnT>
                    <a:lnB w="12700">
                      <a:solidFill>
                        <a:srgbClr val="CBD5E1"/>
                      </a:solidFill>
                    </a:lnB>
                  </a:tcPr>
                </a:tc>
                <a:tc>
                  <a:txBody>
                    <a:bodyPr/>
                    <a:lstStyle/>
                    <a:p>
                      <a:pPr>
                        <a:spcBef>
                          <a:spcPts val="100"/>
                        </a:spcBef>
                        <a:spcAft>
                          <a:spcPts val="100"/>
                        </a:spcAft>
                      </a:pPr>
                      <a:r>
                        <a:rPr sz="950" b="0">
                          <a:solidFill>
                            <a:srgbClr val="1E293B"/>
                          </a:solidFill>
                          <a:latin typeface="Calibri"/>
                        </a:rPr>
                        <a:t>4</a:t>
                      </a:r>
                    </a:p>
                  </a:txBody>
                  <a:tcPr anchor="ctr" marL="64008" marR="64008" marT="18288" marB="18288">
                    <a:solidFill>
                      <a:srgbClr val="EEF2FF"/>
                    </a:solidFill>
                    <a:lnL w="12700">
                      <a:solidFill>
                        <a:srgbClr val="CBD5E1"/>
                      </a:solidFill>
                    </a:lnL>
                    <a:lnR w="12700">
                      <a:solidFill>
                        <a:srgbClr val="CBD5E1"/>
                      </a:solidFill>
                    </a:lnR>
                    <a:lnT w="12700">
                      <a:solidFill>
                        <a:srgbClr val="CBD5E1"/>
                      </a:solidFill>
                    </a:lnT>
                    <a:lnB w="12700">
                      <a:solidFill>
                        <a:srgbClr val="CBD5E1"/>
                      </a:solidFill>
                    </a:lnB>
                  </a:tcPr>
                </a:tc>
                <a:tc>
                  <a:txBody>
                    <a:bodyPr/>
                    <a:lstStyle/>
                    <a:p>
                      <a:pPr>
                        <a:spcBef>
                          <a:spcPts val="100"/>
                        </a:spcBef>
                        <a:spcAft>
                          <a:spcPts val="100"/>
                        </a:spcAft>
                      </a:pPr>
                      <a:r>
                        <a:rPr sz="950" b="0">
                          <a:solidFill>
                            <a:srgbClr val="1E293B"/>
                          </a:solidFill>
                          <a:latin typeface="Calibri"/>
                        </a:rPr>
                        <a:t>Dashboard summary, Gemini chat on live data, AI report generation, checklist suggestions</a:t>
                      </a:r>
                    </a:p>
                  </a:txBody>
                  <a:tcPr anchor="ctr" marL="64008" marR="64008" marT="18288" marB="18288">
                    <a:solidFill>
                      <a:srgbClr val="EEF2FF"/>
                    </a:solidFill>
                    <a:lnL w="12700">
                      <a:solidFill>
                        <a:srgbClr val="CBD5E1"/>
                      </a:solidFill>
                    </a:lnL>
                    <a:lnR w="12700">
                      <a:solidFill>
                        <a:srgbClr val="CBD5E1"/>
                      </a:solidFill>
                    </a:lnR>
                    <a:lnT w="12700">
                      <a:solidFill>
                        <a:srgbClr val="CBD5E1"/>
                      </a:solidFill>
                    </a:lnT>
                    <a:lnB w="12700">
                      <a:solidFill>
                        <a:srgbClr val="CBD5E1"/>
                      </a:solidFill>
                    </a:lnB>
                  </a:tcPr>
                </a:tc>
              </a:tr>
              <a:tr h="330490">
                <a:tc>
                  <a:txBody>
                    <a:bodyPr/>
                    <a:lstStyle/>
                    <a:p>
                      <a:pPr>
                        <a:spcBef>
                          <a:spcPts val="100"/>
                        </a:spcBef>
                        <a:spcAft>
                          <a:spcPts val="100"/>
                        </a:spcAft>
                      </a:pPr>
                      <a:r>
                        <a:rPr sz="950" b="1">
                          <a:solidFill>
                            <a:srgbClr val="1E293B"/>
                          </a:solidFill>
                          <a:latin typeface="Calibri"/>
                        </a:rPr>
                        <a:t>Notifications &amp; WhatsApp</a:t>
                      </a:r>
                    </a:p>
                  </a:txBody>
                  <a:tcPr anchor="ctr" marL="64008" marR="64008" marT="18288" marB="18288">
                    <a:solidFill>
                      <a:srgbClr val="FFFFFF"/>
                    </a:solidFill>
                    <a:lnL w="12700">
                      <a:solidFill>
                        <a:srgbClr val="CBD5E1"/>
                      </a:solidFill>
                    </a:lnL>
                    <a:lnR w="12700">
                      <a:solidFill>
                        <a:srgbClr val="CBD5E1"/>
                      </a:solidFill>
                    </a:lnR>
                    <a:lnT w="12700">
                      <a:solidFill>
                        <a:srgbClr val="CBD5E1"/>
                      </a:solidFill>
                    </a:lnT>
                    <a:lnB w="12700">
                      <a:solidFill>
                        <a:srgbClr val="CBD5E1"/>
                      </a:solidFill>
                    </a:lnB>
                  </a:tcPr>
                </a:tc>
                <a:tc>
                  <a:txBody>
                    <a:bodyPr/>
                    <a:lstStyle/>
                    <a:p>
                      <a:pPr>
                        <a:spcBef>
                          <a:spcPts val="100"/>
                        </a:spcBef>
                        <a:spcAft>
                          <a:spcPts val="100"/>
                        </a:spcAft>
                      </a:pPr>
                      <a:r>
                        <a:rPr sz="950" b="0">
                          <a:solidFill>
                            <a:srgbClr val="1E293B"/>
                          </a:solidFill>
                          <a:latin typeface="Calibri"/>
                        </a:rPr>
                        <a:t>13</a:t>
                      </a:r>
                    </a:p>
                  </a:txBody>
                  <a:tcPr anchor="ctr" marL="64008" marR="64008" marT="18288" marB="18288">
                    <a:solidFill>
                      <a:srgbClr val="FFFFFF"/>
                    </a:solidFill>
                    <a:lnL w="12700">
                      <a:solidFill>
                        <a:srgbClr val="CBD5E1"/>
                      </a:solidFill>
                    </a:lnL>
                    <a:lnR w="12700">
                      <a:solidFill>
                        <a:srgbClr val="CBD5E1"/>
                      </a:solidFill>
                    </a:lnR>
                    <a:lnT w="12700">
                      <a:solidFill>
                        <a:srgbClr val="CBD5E1"/>
                      </a:solidFill>
                    </a:lnT>
                    <a:lnB w="12700">
                      <a:solidFill>
                        <a:srgbClr val="CBD5E1"/>
                      </a:solidFill>
                    </a:lnB>
                  </a:tcPr>
                </a:tc>
                <a:tc>
                  <a:txBody>
                    <a:bodyPr/>
                    <a:lstStyle/>
                    <a:p>
                      <a:pPr>
                        <a:spcBef>
                          <a:spcPts val="100"/>
                        </a:spcBef>
                        <a:spcAft>
                          <a:spcPts val="100"/>
                        </a:spcAft>
                      </a:pPr>
                      <a:r>
                        <a:rPr sz="950" b="0">
                          <a:solidFill>
                            <a:srgbClr val="1E293B"/>
                          </a:solidFill>
                          <a:latin typeface="Calibri"/>
                        </a:rPr>
                        <a:t>8 notification types, unread count, mark-read; WhatsApp send, opt-in, webhook, dedup</a:t>
                      </a:r>
                    </a:p>
                  </a:txBody>
                  <a:tcPr anchor="ctr" marL="64008" marR="64008" marT="18288" marB="18288">
                    <a:solidFill>
                      <a:srgbClr val="FFFFFF"/>
                    </a:solidFill>
                    <a:lnL w="12700">
                      <a:solidFill>
                        <a:srgbClr val="CBD5E1"/>
                      </a:solidFill>
                    </a:lnL>
                    <a:lnR w="12700">
                      <a:solidFill>
                        <a:srgbClr val="CBD5E1"/>
                      </a:solidFill>
                    </a:lnR>
                    <a:lnT w="12700">
                      <a:solidFill>
                        <a:srgbClr val="CBD5E1"/>
                      </a:solidFill>
                    </a:lnT>
                    <a:lnB w="12700">
                      <a:solidFill>
                        <a:srgbClr val="CBD5E1"/>
                      </a:solidFill>
                    </a:lnB>
                  </a:tcPr>
                </a:tc>
              </a:tr>
              <a:tr h="330490">
                <a:tc>
                  <a:txBody>
                    <a:bodyPr/>
                    <a:lstStyle/>
                    <a:p>
                      <a:pPr>
                        <a:spcBef>
                          <a:spcPts val="100"/>
                        </a:spcBef>
                        <a:spcAft>
                          <a:spcPts val="100"/>
                        </a:spcAft>
                      </a:pPr>
                      <a:r>
                        <a:rPr sz="950" b="1">
                          <a:solidFill>
                            <a:srgbClr val="1E293B"/>
                          </a:solidFill>
                          <a:latin typeface="Calibri"/>
                        </a:rPr>
                        <a:t>Reports &amp; Analytics</a:t>
                      </a:r>
                    </a:p>
                  </a:txBody>
                  <a:tcPr anchor="ctr" marL="64008" marR="64008" marT="18288" marB="18288">
                    <a:solidFill>
                      <a:srgbClr val="EEF2FF"/>
                    </a:solidFill>
                    <a:lnL w="12700">
                      <a:solidFill>
                        <a:srgbClr val="CBD5E1"/>
                      </a:solidFill>
                    </a:lnL>
                    <a:lnR w="12700">
                      <a:solidFill>
                        <a:srgbClr val="CBD5E1"/>
                      </a:solidFill>
                    </a:lnR>
                    <a:lnT w="12700">
                      <a:solidFill>
                        <a:srgbClr val="CBD5E1"/>
                      </a:solidFill>
                    </a:lnT>
                    <a:lnB w="12700">
                      <a:solidFill>
                        <a:srgbClr val="CBD5E1"/>
                      </a:solidFill>
                    </a:lnB>
                  </a:tcPr>
                </a:tc>
                <a:tc>
                  <a:txBody>
                    <a:bodyPr/>
                    <a:lstStyle/>
                    <a:p>
                      <a:pPr>
                        <a:spcBef>
                          <a:spcPts val="100"/>
                        </a:spcBef>
                        <a:spcAft>
                          <a:spcPts val="100"/>
                        </a:spcAft>
                      </a:pPr>
                      <a:r>
                        <a:rPr sz="950" b="0">
                          <a:solidFill>
                            <a:srgbClr val="1E293B"/>
                          </a:solidFill>
                          <a:latin typeface="Calibri"/>
                        </a:rPr>
                        <a:t>8</a:t>
                      </a:r>
                    </a:p>
                  </a:txBody>
                  <a:tcPr anchor="ctr" marL="64008" marR="64008" marT="18288" marB="18288">
                    <a:solidFill>
                      <a:srgbClr val="EEF2FF"/>
                    </a:solidFill>
                    <a:lnL w="12700">
                      <a:solidFill>
                        <a:srgbClr val="CBD5E1"/>
                      </a:solidFill>
                    </a:lnL>
                    <a:lnR w="12700">
                      <a:solidFill>
                        <a:srgbClr val="CBD5E1"/>
                      </a:solidFill>
                    </a:lnR>
                    <a:lnT w="12700">
                      <a:solidFill>
                        <a:srgbClr val="CBD5E1"/>
                      </a:solidFill>
                    </a:lnT>
                    <a:lnB w="12700">
                      <a:solidFill>
                        <a:srgbClr val="CBD5E1"/>
                      </a:solidFill>
                    </a:lnB>
                  </a:tcPr>
                </a:tc>
                <a:tc>
                  <a:txBody>
                    <a:bodyPr/>
                    <a:lstStyle/>
                    <a:p>
                      <a:pPr>
                        <a:spcBef>
                          <a:spcPts val="100"/>
                        </a:spcBef>
                        <a:spcAft>
                          <a:spcPts val="100"/>
                        </a:spcAft>
                      </a:pPr>
                      <a:r>
                        <a:rPr sz="950" b="0">
                          <a:solidFill>
                            <a:srgbClr val="1E293B"/>
                          </a:solidFill>
                          <a:latin typeface="Calibri"/>
                        </a:rPr>
                        <a:t>Dashboard stats, recent activity, summaries, per-task reports, export, faculty performance</a:t>
                      </a:r>
                    </a:p>
                  </a:txBody>
                  <a:tcPr anchor="ctr" marL="64008" marR="64008" marT="18288" marB="18288">
                    <a:solidFill>
                      <a:srgbClr val="EEF2FF"/>
                    </a:solidFill>
                    <a:lnL w="12700">
                      <a:solidFill>
                        <a:srgbClr val="CBD5E1"/>
                      </a:solidFill>
                    </a:lnL>
                    <a:lnR w="12700">
                      <a:solidFill>
                        <a:srgbClr val="CBD5E1"/>
                      </a:solidFill>
                    </a:lnR>
                    <a:lnT w="12700">
                      <a:solidFill>
                        <a:srgbClr val="CBD5E1"/>
                      </a:solidFill>
                    </a:lnT>
                    <a:lnB w="12700">
                      <a:solidFill>
                        <a:srgbClr val="CBD5E1"/>
                      </a:solidFill>
                    </a:lnB>
                  </a:tcPr>
                </a:tc>
              </a:tr>
              <a:tr h="330494">
                <a:tc>
                  <a:txBody>
                    <a:bodyPr/>
                    <a:lstStyle/>
                    <a:p>
                      <a:pPr>
                        <a:spcBef>
                          <a:spcPts val="100"/>
                        </a:spcBef>
                        <a:spcAft>
                          <a:spcPts val="100"/>
                        </a:spcAft>
                      </a:pPr>
                      <a:r>
                        <a:rPr sz="950" b="1">
                          <a:solidFill>
                            <a:srgbClr val="1E293B"/>
                          </a:solidFill>
                          <a:latin typeface="Calibri"/>
                        </a:rPr>
                        <a:t>Files, Search, Settings</a:t>
                      </a:r>
                    </a:p>
                  </a:txBody>
                  <a:tcPr anchor="ctr" marL="64008" marR="64008" marT="18288" marB="18288">
                    <a:solidFill>
                      <a:srgbClr val="FFFFFF"/>
                    </a:solidFill>
                    <a:lnL w="12700">
                      <a:solidFill>
                        <a:srgbClr val="CBD5E1"/>
                      </a:solidFill>
                    </a:lnL>
                    <a:lnR w="12700">
                      <a:solidFill>
                        <a:srgbClr val="CBD5E1"/>
                      </a:solidFill>
                    </a:lnR>
                    <a:lnT w="12700">
                      <a:solidFill>
                        <a:srgbClr val="CBD5E1"/>
                      </a:solidFill>
                    </a:lnT>
                    <a:lnB w="12700">
                      <a:solidFill>
                        <a:srgbClr val="CBD5E1"/>
                      </a:solidFill>
                    </a:lnB>
                  </a:tcPr>
                </a:tc>
                <a:tc>
                  <a:txBody>
                    <a:bodyPr/>
                    <a:lstStyle/>
                    <a:p>
                      <a:pPr>
                        <a:spcBef>
                          <a:spcPts val="100"/>
                        </a:spcBef>
                        <a:spcAft>
                          <a:spcPts val="100"/>
                        </a:spcAft>
                      </a:pPr>
                      <a:r>
                        <a:rPr sz="950" b="0">
                          <a:solidFill>
                            <a:srgbClr val="1E293B"/>
                          </a:solidFill>
                          <a:latin typeface="Calibri"/>
                        </a:rPr>
                        <a:t>8</a:t>
                      </a:r>
                    </a:p>
                  </a:txBody>
                  <a:tcPr anchor="ctr" marL="64008" marR="64008" marT="18288" marB="18288">
                    <a:solidFill>
                      <a:srgbClr val="FFFFFF"/>
                    </a:solidFill>
                    <a:lnL w="12700">
                      <a:solidFill>
                        <a:srgbClr val="CBD5E1"/>
                      </a:solidFill>
                    </a:lnL>
                    <a:lnR w="12700">
                      <a:solidFill>
                        <a:srgbClr val="CBD5E1"/>
                      </a:solidFill>
                    </a:lnR>
                    <a:lnT w="12700">
                      <a:solidFill>
                        <a:srgbClr val="CBD5E1"/>
                      </a:solidFill>
                    </a:lnT>
                    <a:lnB w="12700">
                      <a:solidFill>
                        <a:srgbClr val="CBD5E1"/>
                      </a:solidFill>
                    </a:lnB>
                  </a:tcPr>
                </a:tc>
                <a:tc>
                  <a:txBody>
                    <a:bodyPr/>
                    <a:lstStyle/>
                    <a:p>
                      <a:pPr>
                        <a:spcBef>
                          <a:spcPts val="100"/>
                        </a:spcBef>
                        <a:spcAft>
                          <a:spcPts val="100"/>
                        </a:spcAft>
                      </a:pPr>
                      <a:r>
                        <a:rPr sz="950" b="0">
                          <a:solidFill>
                            <a:srgbClr val="1E293B"/>
                          </a:solidFill>
                          <a:latin typeface="Calibri"/>
                        </a:rPr>
                        <a:t>Firebase Storage upload/download, global search, profile &amp; department settings, health check</a:t>
                      </a:r>
                    </a:p>
                  </a:txBody>
                  <a:tcPr anchor="ctr" marL="64008" marR="64008" marT="18288" marB="18288">
                    <a:solidFill>
                      <a:srgbClr val="FFFFFF"/>
                    </a:solidFill>
                    <a:lnL w="12700">
                      <a:solidFill>
                        <a:srgbClr val="CBD5E1"/>
                      </a:solidFill>
                    </a:lnL>
                    <a:lnR w="12700">
                      <a:solidFill>
                        <a:srgbClr val="CBD5E1"/>
                      </a:solidFill>
                    </a:lnR>
                    <a:lnT w="12700">
                      <a:solidFill>
                        <a:srgbClr val="CBD5E1"/>
                      </a:solidFill>
                    </a:lnT>
                    <a:lnB w="12700">
                      <a:solidFill>
                        <a:srgbClr val="CBD5E1"/>
                      </a:solidFill>
                    </a:lnB>
                  </a:tcPr>
                </a:tc>
              </a:tr>
            </a:tbl>
          </a:graphicData>
        </a:graphic>
      </p:graphicFrame>
      <p:sp>
        <p:nvSpPr>
          <p:cNvPr id="8" name="Rounded Rectangle 7"/>
          <p:cNvSpPr/>
          <p:nvPr/>
        </p:nvSpPr>
        <p:spPr>
          <a:xfrm>
            <a:off x="411480" y="5961888"/>
            <a:ext cx="11365992" cy="420624"/>
          </a:xfrm>
          <a:prstGeom prst="roundRect">
            <a:avLst/>
          </a:prstGeom>
          <a:solidFill>
            <a:srgbClr val="0B1E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5980176"/>
            <a:ext cx="11155680" cy="38404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spcAft>
                <a:spcPts val="0"/>
              </a:spcAft>
            </a:pPr>
            <a:r>
              <a:rPr sz="900" b="1">
                <a:solidFill>
                  <a:srgbClr val="06B6D4"/>
                </a:solidFill>
                <a:latin typeface="Calibri"/>
              </a:rPr>
              <a:t>Roles: </a:t>
            </a:r>
            <a:r>
              <a:rPr sz="900" b="0">
                <a:solidFill>
                  <a:srgbClr val="FFFFFF"/>
                </a:solidFill>
                <a:latin typeface="Calibri"/>
              </a:rPr>
              <a:t>Admin · Principal · HOD · Teacher · Faculty · TA · Student · Student-Rep · Lab Assistant · Staff    </a:t>
            </a:r>
            <a:r>
              <a:rPr sz="900" b="1">
                <a:solidFill>
                  <a:srgbClr val="06B6D4"/>
                </a:solidFill>
                <a:latin typeface="Calibri"/>
              </a:rPr>
              <a:t>Task status: </a:t>
            </a:r>
            <a:r>
              <a:rPr sz="900" b="0">
                <a:solidFill>
                  <a:srgbClr val="FFFFFF"/>
                </a:solidFill>
                <a:latin typeface="Calibri"/>
              </a:rPr>
              <a:t>TODO → IN_PROGRESS → IN_REVIEW → COMPLETED / OVERDUE    </a:t>
            </a:r>
            <a:r>
              <a:rPr sz="900" b="1">
                <a:solidFill>
                  <a:srgbClr val="06B6D4"/>
                </a:solidFill>
                <a:latin typeface="Calibri"/>
              </a:rPr>
              <a:t>Priority: </a:t>
            </a:r>
            <a:r>
              <a:rPr sz="900" b="0">
                <a:solidFill>
                  <a:srgbClr val="FFFFFF"/>
                </a:solidFill>
                <a:latin typeface="Calibri"/>
              </a:rPr>
              <a:t>Low · Medium · High · Urgent</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3F6FC"/>
        </a:solidFill>
        <a:effectLst/>
      </p:bgPr>
    </p:bg>
    <p:spTree>
      <p:nvGrpSpPr>
        <p:cNvPr id="1" name=""/>
        <p:cNvGrpSpPr/>
        <p:nvPr/>
      </p:nvGrpSpPr>
      <p:grpSpPr/>
      <p:sp>
        <p:nvSpPr>
          <p:cNvPr id="2" name="Rectangle 1"/>
          <p:cNvSpPr/>
          <p:nvPr/>
        </p:nvSpPr>
        <p:spPr>
          <a:xfrm>
            <a:off x="0" y="0"/>
            <a:ext cx="12191695" cy="1078992"/>
          </a:xfrm>
          <a:prstGeom prst="rect">
            <a:avLst/>
          </a:prstGeom>
          <a:solidFill>
            <a:srgbClr val="0B1E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78992"/>
            <a:ext cx="12191695" cy="411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411480" y="91440"/>
            <a:ext cx="10058400" cy="9144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27432" bIns="27432"/>
          <a:lstStyle/>
          <a:p>
            <a:pPr algn="l">
              <a:spcBef>
                <a:spcPts val="0"/>
              </a:spcBef>
              <a:spcAft>
                <a:spcPts val="100"/>
              </a:spcAft>
            </a:pPr>
            <a:r>
              <a:rPr sz="1050" b="1" i="0">
                <a:solidFill>
                  <a:srgbClr val="06B6D4"/>
                </a:solidFill>
                <a:latin typeface="Calibri"/>
              </a:rPr>
              <a:t>SLIDE 8</a:t>
            </a:r>
          </a:p>
          <a:p>
            <a:pPr algn="l">
              <a:spcBef>
                <a:spcPts val="0"/>
              </a:spcBef>
              <a:spcAft>
                <a:spcPts val="0"/>
              </a:spcAft>
            </a:pPr>
            <a:r>
              <a:rPr sz="2500" b="1" i="0">
                <a:solidFill>
                  <a:srgbClr val="FFFFFF"/>
                </a:solidFill>
                <a:latin typeface="Calibri"/>
              </a:rPr>
              <a:t>Advantages &amp; Applications</a:t>
            </a:r>
          </a:p>
        </p:txBody>
      </p:sp>
      <p:sp>
        <p:nvSpPr>
          <p:cNvPr id="5" name="Rounded Rectangle 4"/>
          <p:cNvSpPr/>
          <p:nvPr/>
        </p:nvSpPr>
        <p:spPr>
          <a:xfrm>
            <a:off x="10972800" y="274320"/>
            <a:ext cx="822960" cy="512064"/>
          </a:xfrm>
          <a:prstGeom prst="roundRect">
            <a:avLst/>
          </a:prstGeom>
          <a:solidFill>
            <a:srgbClr val="143363"/>
          </a:solidFill>
          <a:ln w="15875">
            <a:solidFill>
              <a:srgbClr val="06B6D4"/>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spcBef>
                <a:spcPts val="0"/>
              </a:spcBef>
              <a:spcAft>
                <a:spcPts val="0"/>
              </a:spcAft>
            </a:pPr>
            <a:r>
              <a:rPr sz="1150" b="1" i="0">
                <a:solidFill>
                  <a:srgbClr val="FFFFFF"/>
                </a:solidFill>
                <a:latin typeface="Calibri"/>
              </a:rPr>
              <a:t>8 / 10</a:t>
            </a:r>
          </a:p>
        </p:txBody>
      </p:sp>
      <p:sp>
        <p:nvSpPr>
          <p:cNvPr id="6" name="Rectangle 5"/>
          <p:cNvSpPr/>
          <p:nvPr/>
        </p:nvSpPr>
        <p:spPr>
          <a:xfrm>
            <a:off x="411480" y="6446520"/>
            <a:ext cx="11365992" cy="29260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27432" bIns="27432"/>
          <a:lstStyle/>
          <a:p>
            <a:pPr algn="ctr">
              <a:spcAft>
                <a:spcPts val="0"/>
              </a:spcAft>
            </a:pPr>
            <a:r>
              <a:rPr sz="850">
                <a:solidFill>
                  <a:srgbClr val="64748B"/>
                </a:solidFill>
                <a:latin typeface="Calibri"/>
              </a:rPr>
              <a:t>HieraSync AI  •  Smart College Workflow &amp; Event Management System        </a:t>
            </a:r>
            <a:r>
              <a:rPr sz="850">
                <a:solidFill>
                  <a:srgbClr val="64748B"/>
                </a:solidFill>
                <a:latin typeface="Calibri"/>
              </a:rPr>
              <a:t>github.com/Atulgupta07/Hiera_Sync</a:t>
            </a:r>
          </a:p>
        </p:txBody>
      </p:sp>
      <p:sp>
        <p:nvSpPr>
          <p:cNvPr id="7" name="Rounded Rectangle 6"/>
          <p:cNvSpPr/>
          <p:nvPr/>
        </p:nvSpPr>
        <p:spPr>
          <a:xfrm>
            <a:off x="411480" y="1280160"/>
            <a:ext cx="5806440" cy="4114800"/>
          </a:xfrm>
          <a:prstGeom prst="roundRect">
            <a:avLst/>
          </a:prstGeom>
          <a:solidFill>
            <a:srgbClr val="FFFFFF"/>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411480" y="1280160"/>
            <a:ext cx="77724" cy="4114800"/>
          </a:xfrm>
          <a:prstGeom prst="round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12648" y="1371600"/>
            <a:ext cx="5422392" cy="32918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27432" bIns="27432"/>
          <a:lstStyle/>
          <a:p>
            <a:pPr algn="l">
              <a:spcBef>
                <a:spcPts val="0"/>
              </a:spcBef>
              <a:spcAft>
                <a:spcPts val="0"/>
              </a:spcAft>
            </a:pPr>
            <a:r>
              <a:rPr sz="1300" b="1" i="0">
                <a:solidFill>
                  <a:srgbClr val="0B1E3B"/>
                </a:solidFill>
                <a:latin typeface="Calibri"/>
              </a:rPr>
              <a:t>Advantages</a:t>
            </a:r>
          </a:p>
        </p:txBody>
      </p:sp>
      <p:sp>
        <p:nvSpPr>
          <p:cNvPr id="10" name="Rectangle 9"/>
          <p:cNvSpPr/>
          <p:nvPr/>
        </p:nvSpPr>
        <p:spPr>
          <a:xfrm>
            <a:off x="612648" y="1737360"/>
            <a:ext cx="5404103" cy="354787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27432" bIns="27432"/>
          <a:lstStyle/>
          <a:p>
            <a:pPr algn="l">
              <a:spcAft>
                <a:spcPts val="700"/>
              </a:spcAft>
            </a:pPr>
            <a:r>
              <a:rPr sz="1100" b="1">
                <a:solidFill>
                  <a:srgbClr val="10B981"/>
                </a:solidFill>
                <a:latin typeface="Calibri"/>
              </a:rPr>
              <a:t>▪  </a:t>
            </a:r>
            <a:r>
              <a:rPr sz="1100" b="0">
                <a:solidFill>
                  <a:srgbClr val="1E293B"/>
                </a:solidFill>
                <a:latin typeface="Calibri"/>
              </a:rPr>
              <a:t>One login replaces registers, Excel sheets and WhatsApp chasing</a:t>
            </a:r>
          </a:p>
          <a:p>
            <a:pPr algn="l">
              <a:spcAft>
                <a:spcPts val="700"/>
              </a:spcAft>
            </a:pPr>
            <a:r>
              <a:rPr sz="1100" b="1">
                <a:solidFill>
                  <a:srgbClr val="10B981"/>
                </a:solidFill>
                <a:latin typeface="Calibri"/>
              </a:rPr>
              <a:t>▪  </a:t>
            </a:r>
            <a:r>
              <a:rPr sz="1100" b="0">
                <a:solidFill>
                  <a:srgbClr val="1E293B"/>
                </a:solidFill>
                <a:latin typeface="Calibri"/>
              </a:rPr>
              <a:t>Every task, approval and comment is time-stamped and searchable</a:t>
            </a:r>
          </a:p>
          <a:p>
            <a:pPr algn="l">
              <a:spcAft>
                <a:spcPts val="700"/>
              </a:spcAft>
            </a:pPr>
            <a:r>
              <a:rPr sz="1100" b="1">
                <a:solidFill>
                  <a:srgbClr val="10B981"/>
                </a:solidFill>
                <a:latin typeface="Calibri"/>
              </a:rPr>
              <a:t>▪  </a:t>
            </a:r>
            <a:r>
              <a:rPr sz="1100" b="0">
                <a:solidFill>
                  <a:srgbClr val="1E293B"/>
                </a:solidFill>
                <a:latin typeface="Calibri"/>
              </a:rPr>
              <a:t>Reminders are automatic — nothing depends on someone remembering</a:t>
            </a:r>
          </a:p>
          <a:p>
            <a:pPr algn="l">
              <a:spcAft>
                <a:spcPts val="700"/>
              </a:spcAft>
            </a:pPr>
            <a:r>
              <a:rPr sz="1100" b="1">
                <a:solidFill>
                  <a:srgbClr val="10B981"/>
                </a:solidFill>
                <a:latin typeface="Calibri"/>
              </a:rPr>
              <a:t>▪  </a:t>
            </a:r>
            <a:r>
              <a:rPr sz="1100" b="0">
                <a:solidFill>
                  <a:srgbClr val="1E293B"/>
                </a:solidFill>
                <a:latin typeface="Calibri"/>
              </a:rPr>
              <a:t>AI risk score warns before a deadline is actually missed</a:t>
            </a:r>
          </a:p>
          <a:p>
            <a:pPr algn="l">
              <a:spcAft>
                <a:spcPts val="700"/>
              </a:spcAft>
            </a:pPr>
            <a:r>
              <a:rPr sz="1100" b="1">
                <a:solidFill>
                  <a:srgbClr val="10B981"/>
                </a:solidFill>
                <a:latin typeface="Calibri"/>
              </a:rPr>
              <a:t>▪  </a:t>
            </a:r>
            <a:r>
              <a:rPr sz="1100" b="0">
                <a:solidFill>
                  <a:srgbClr val="1E293B"/>
                </a:solidFill>
                <a:latin typeface="Calibri"/>
              </a:rPr>
              <a:t>Reports and analytics are produced in one click, not one week</a:t>
            </a:r>
          </a:p>
          <a:p>
            <a:pPr algn="l">
              <a:spcAft>
                <a:spcPts val="700"/>
              </a:spcAft>
            </a:pPr>
            <a:r>
              <a:rPr sz="1100" b="1">
                <a:solidFill>
                  <a:srgbClr val="10B981"/>
                </a:solidFill>
                <a:latin typeface="Calibri"/>
              </a:rPr>
              <a:t>▪  </a:t>
            </a:r>
            <a:r>
              <a:rPr sz="1100" b="0">
                <a:solidFill>
                  <a:srgbClr val="1E293B"/>
                </a:solidFill>
                <a:latin typeface="Calibri"/>
              </a:rPr>
              <a:t>Role-based access: each person sees only what concerns them</a:t>
            </a:r>
          </a:p>
          <a:p>
            <a:pPr algn="l">
              <a:spcAft>
                <a:spcPts val="700"/>
              </a:spcAft>
            </a:pPr>
            <a:r>
              <a:rPr sz="1100" b="1">
                <a:solidFill>
                  <a:srgbClr val="10B981"/>
                </a:solidFill>
                <a:latin typeface="Calibri"/>
              </a:rPr>
              <a:t>▪  </a:t>
            </a:r>
            <a:r>
              <a:rPr sz="1100" b="0">
                <a:solidFill>
                  <a:srgbClr val="1E293B"/>
                </a:solidFill>
                <a:latin typeface="Calibri"/>
              </a:rPr>
              <a:t>Works even without the AI key — local fallback engine answers</a:t>
            </a:r>
          </a:p>
          <a:p>
            <a:pPr algn="l">
              <a:spcAft>
                <a:spcPts val="700"/>
              </a:spcAft>
            </a:pPr>
            <a:r>
              <a:rPr sz="1100" b="1">
                <a:solidFill>
                  <a:srgbClr val="10B981"/>
                </a:solidFill>
                <a:latin typeface="Calibri"/>
              </a:rPr>
              <a:t>▪  </a:t>
            </a:r>
            <a:r>
              <a:rPr sz="1100" b="0">
                <a:solidFill>
                  <a:srgbClr val="1E293B"/>
                </a:solidFill>
                <a:latin typeface="Calibri"/>
              </a:rPr>
              <a:t>Free &amp; open stack — Firebase free tier, no per-user licence cost</a:t>
            </a:r>
          </a:p>
          <a:p>
            <a:pPr algn="l">
              <a:spcAft>
                <a:spcPts val="700"/>
              </a:spcAft>
            </a:pPr>
            <a:r>
              <a:rPr sz="1100" b="1">
                <a:solidFill>
                  <a:srgbClr val="10B981"/>
                </a:solidFill>
                <a:latin typeface="Calibri"/>
              </a:rPr>
              <a:t>▪  </a:t>
            </a:r>
            <a:r>
              <a:rPr sz="1100" b="0">
                <a:solidFill>
                  <a:srgbClr val="1E293B"/>
                </a:solidFill>
                <a:latin typeface="Calibri"/>
              </a:rPr>
              <a:t>Browser-based: works on laptop and mobile, nothing to install</a:t>
            </a:r>
          </a:p>
        </p:txBody>
      </p:sp>
      <p:sp>
        <p:nvSpPr>
          <p:cNvPr id="11" name="Rounded Rectangle 10"/>
          <p:cNvSpPr/>
          <p:nvPr/>
        </p:nvSpPr>
        <p:spPr>
          <a:xfrm>
            <a:off x="6428232" y="1280160"/>
            <a:ext cx="5349240" cy="4114800"/>
          </a:xfrm>
          <a:prstGeom prst="roundRect">
            <a:avLst/>
          </a:prstGeom>
          <a:solidFill>
            <a:srgbClr val="FFFFFF"/>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6428232" y="1280160"/>
            <a:ext cx="77724" cy="4114800"/>
          </a:xfrm>
          <a:prstGeom prst="roundRect">
            <a:avLst/>
          </a:prstGeom>
          <a:solidFill>
            <a:srgbClr val="4F46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629400" y="1371600"/>
            <a:ext cx="4937760" cy="32918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27432" bIns="27432"/>
          <a:lstStyle/>
          <a:p>
            <a:pPr algn="l">
              <a:spcBef>
                <a:spcPts val="0"/>
              </a:spcBef>
              <a:spcAft>
                <a:spcPts val="0"/>
              </a:spcAft>
            </a:pPr>
            <a:r>
              <a:rPr sz="1300" b="1" i="0">
                <a:solidFill>
                  <a:srgbClr val="0B1E3B"/>
                </a:solidFill>
                <a:latin typeface="Calibri"/>
              </a:rPr>
              <a:t>Applications</a:t>
            </a:r>
          </a:p>
        </p:txBody>
      </p:sp>
      <p:sp>
        <p:nvSpPr>
          <p:cNvPr id="14" name="Rounded Rectangle 13"/>
          <p:cNvSpPr/>
          <p:nvPr/>
        </p:nvSpPr>
        <p:spPr>
          <a:xfrm>
            <a:off x="6629400" y="1783080"/>
            <a:ext cx="2377440" cy="768096"/>
          </a:xfrm>
          <a:prstGeom prst="roundRect">
            <a:avLst/>
          </a:prstGeom>
          <a:solidFill>
            <a:srgbClr val="F3F6FC"/>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27432" bIns="27432"/>
          <a:lstStyle/>
          <a:p>
            <a:pPr algn="ctr">
              <a:spcBef>
                <a:spcPts val="0"/>
              </a:spcBef>
              <a:spcAft>
                <a:spcPts val="0"/>
              </a:spcAft>
            </a:pPr>
            <a:r>
              <a:rPr sz="1000" b="1" i="0">
                <a:solidFill>
                  <a:srgbClr val="0B1E3B"/>
                </a:solidFill>
                <a:latin typeface="Calibri"/>
              </a:rPr>
              <a:t>Department task &amp;
duty allotment</a:t>
            </a:r>
          </a:p>
        </p:txBody>
      </p:sp>
      <p:sp>
        <p:nvSpPr>
          <p:cNvPr id="15" name="Rounded Rectangle 14"/>
          <p:cNvSpPr/>
          <p:nvPr/>
        </p:nvSpPr>
        <p:spPr>
          <a:xfrm>
            <a:off x="6629400" y="1783080"/>
            <a:ext cx="64008" cy="768096"/>
          </a:xfrm>
          <a:prstGeom prst="roundRect">
            <a:avLst/>
          </a:prstGeom>
          <a:solidFill>
            <a:srgbClr val="4F46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9116568" y="1783080"/>
            <a:ext cx="2377440" cy="768096"/>
          </a:xfrm>
          <a:prstGeom prst="roundRect">
            <a:avLst/>
          </a:prstGeom>
          <a:solidFill>
            <a:srgbClr val="F3F6FC"/>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27432" bIns="27432"/>
          <a:lstStyle/>
          <a:p>
            <a:pPr algn="ctr">
              <a:spcBef>
                <a:spcPts val="0"/>
              </a:spcBef>
              <a:spcAft>
                <a:spcPts val="0"/>
              </a:spcAft>
            </a:pPr>
            <a:r>
              <a:rPr sz="1000" b="1" i="0">
                <a:solidFill>
                  <a:srgbClr val="0B1E3B"/>
                </a:solidFill>
                <a:latin typeface="Calibri"/>
              </a:rPr>
              <a:t>Seminar, workshop &amp;
event management</a:t>
            </a:r>
          </a:p>
        </p:txBody>
      </p:sp>
      <p:sp>
        <p:nvSpPr>
          <p:cNvPr id="17" name="Rounded Rectangle 16"/>
          <p:cNvSpPr/>
          <p:nvPr/>
        </p:nvSpPr>
        <p:spPr>
          <a:xfrm>
            <a:off x="9116568" y="1783080"/>
            <a:ext cx="64008" cy="768096"/>
          </a:xfrm>
          <a:prstGeom prst="round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6629400" y="2660904"/>
            <a:ext cx="2377440" cy="768096"/>
          </a:xfrm>
          <a:prstGeom prst="roundRect">
            <a:avLst/>
          </a:prstGeom>
          <a:solidFill>
            <a:srgbClr val="F3F6FC"/>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27432" bIns="27432"/>
          <a:lstStyle/>
          <a:p>
            <a:pPr algn="ctr">
              <a:spcBef>
                <a:spcPts val="0"/>
              </a:spcBef>
              <a:spcAft>
                <a:spcPts val="0"/>
              </a:spcAft>
            </a:pPr>
            <a:r>
              <a:rPr sz="1000" b="1" i="0">
                <a:solidFill>
                  <a:srgbClr val="0B1E3B"/>
                </a:solidFill>
                <a:latin typeface="Calibri"/>
              </a:rPr>
              <a:t>Leave, resource &amp;
document approvals</a:t>
            </a:r>
          </a:p>
        </p:txBody>
      </p:sp>
      <p:sp>
        <p:nvSpPr>
          <p:cNvPr id="19" name="Rounded Rectangle 18"/>
          <p:cNvSpPr/>
          <p:nvPr/>
        </p:nvSpPr>
        <p:spPr>
          <a:xfrm>
            <a:off x="6629400" y="2660904"/>
            <a:ext cx="64008" cy="768096"/>
          </a:xfrm>
          <a:prstGeom prst="round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9116568" y="2660904"/>
            <a:ext cx="2377440" cy="768096"/>
          </a:xfrm>
          <a:prstGeom prst="roundRect">
            <a:avLst/>
          </a:prstGeom>
          <a:solidFill>
            <a:srgbClr val="F3F6FC"/>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27432" bIns="27432"/>
          <a:lstStyle/>
          <a:p>
            <a:pPr algn="ctr">
              <a:spcBef>
                <a:spcPts val="0"/>
              </a:spcBef>
              <a:spcAft>
                <a:spcPts val="0"/>
              </a:spcAft>
            </a:pPr>
            <a:r>
              <a:rPr sz="1000" b="1" i="0">
                <a:solidFill>
                  <a:srgbClr val="0B1E3B"/>
                </a:solidFill>
                <a:latin typeface="Calibri"/>
              </a:rPr>
              <a:t>Academic calendar
publishing</a:t>
            </a:r>
          </a:p>
        </p:txBody>
      </p:sp>
      <p:sp>
        <p:nvSpPr>
          <p:cNvPr id="21" name="Rounded Rectangle 20"/>
          <p:cNvSpPr/>
          <p:nvPr/>
        </p:nvSpPr>
        <p:spPr>
          <a:xfrm>
            <a:off x="9116568" y="2660904"/>
            <a:ext cx="64008" cy="768096"/>
          </a:xfrm>
          <a:prstGeom prst="round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6629400" y="3538728"/>
            <a:ext cx="2377440" cy="768096"/>
          </a:xfrm>
          <a:prstGeom prst="roundRect">
            <a:avLst/>
          </a:prstGeom>
          <a:solidFill>
            <a:srgbClr val="F3F6FC"/>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27432" bIns="27432"/>
          <a:lstStyle/>
          <a:p>
            <a:pPr algn="ctr">
              <a:spcBef>
                <a:spcPts val="0"/>
              </a:spcBef>
              <a:spcAft>
                <a:spcPts val="0"/>
              </a:spcAft>
            </a:pPr>
            <a:r>
              <a:rPr sz="1000" b="1" i="0">
                <a:solidFill>
                  <a:srgbClr val="0B1E3B"/>
                </a:solidFill>
                <a:latin typeface="Calibri"/>
              </a:rPr>
              <a:t>NAAC / NBA / AICTE
documentation</a:t>
            </a:r>
          </a:p>
        </p:txBody>
      </p:sp>
      <p:sp>
        <p:nvSpPr>
          <p:cNvPr id="23" name="Rounded Rectangle 22"/>
          <p:cNvSpPr/>
          <p:nvPr/>
        </p:nvSpPr>
        <p:spPr>
          <a:xfrm>
            <a:off x="6629400" y="3538728"/>
            <a:ext cx="64008" cy="768096"/>
          </a:xfrm>
          <a:prstGeom prst="roundRect">
            <a:avLst/>
          </a:prstGeom>
          <a:solidFill>
            <a:srgbClr val="4F46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9116568" y="3538728"/>
            <a:ext cx="2377440" cy="768096"/>
          </a:xfrm>
          <a:prstGeom prst="roundRect">
            <a:avLst/>
          </a:prstGeom>
          <a:solidFill>
            <a:srgbClr val="F3F6FC"/>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27432" bIns="27432"/>
          <a:lstStyle/>
          <a:p>
            <a:pPr algn="ctr">
              <a:spcBef>
                <a:spcPts val="0"/>
              </a:spcBef>
              <a:spcAft>
                <a:spcPts val="0"/>
              </a:spcAft>
            </a:pPr>
            <a:r>
              <a:rPr sz="1000" b="1" i="0">
                <a:solidFill>
                  <a:srgbClr val="0B1E3B"/>
                </a:solidFill>
                <a:latin typeface="Calibri"/>
              </a:rPr>
              <a:t>Faculty workload &amp;
performance analytics</a:t>
            </a:r>
          </a:p>
        </p:txBody>
      </p:sp>
      <p:sp>
        <p:nvSpPr>
          <p:cNvPr id="25" name="Rounded Rectangle 24"/>
          <p:cNvSpPr/>
          <p:nvPr/>
        </p:nvSpPr>
        <p:spPr>
          <a:xfrm>
            <a:off x="9116568" y="3538728"/>
            <a:ext cx="64008" cy="768096"/>
          </a:xfrm>
          <a:prstGeom prst="round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ounded Rectangle 25"/>
          <p:cNvSpPr/>
          <p:nvPr/>
        </p:nvSpPr>
        <p:spPr>
          <a:xfrm>
            <a:off x="6629400" y="4416552"/>
            <a:ext cx="2377440" cy="768096"/>
          </a:xfrm>
          <a:prstGeom prst="roundRect">
            <a:avLst/>
          </a:prstGeom>
          <a:solidFill>
            <a:srgbClr val="F3F6FC"/>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27432" bIns="27432"/>
          <a:lstStyle/>
          <a:p>
            <a:pPr algn="ctr">
              <a:spcBef>
                <a:spcPts val="0"/>
              </a:spcBef>
              <a:spcAft>
                <a:spcPts val="0"/>
              </a:spcAft>
            </a:pPr>
            <a:r>
              <a:rPr sz="1000" b="1" i="0">
                <a:solidFill>
                  <a:srgbClr val="0B1E3B"/>
                </a:solidFill>
                <a:latin typeface="Calibri"/>
              </a:rPr>
              <a:t>Student-rep &amp; lab
staff coordination</a:t>
            </a:r>
          </a:p>
        </p:txBody>
      </p:sp>
      <p:sp>
        <p:nvSpPr>
          <p:cNvPr id="27" name="Rounded Rectangle 26"/>
          <p:cNvSpPr/>
          <p:nvPr/>
        </p:nvSpPr>
        <p:spPr>
          <a:xfrm>
            <a:off x="6629400" y="4416552"/>
            <a:ext cx="64008" cy="768096"/>
          </a:xfrm>
          <a:prstGeom prst="round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ounded Rectangle 27"/>
          <p:cNvSpPr/>
          <p:nvPr/>
        </p:nvSpPr>
        <p:spPr>
          <a:xfrm>
            <a:off x="9116568" y="4416552"/>
            <a:ext cx="2377440" cy="768096"/>
          </a:xfrm>
          <a:prstGeom prst="roundRect">
            <a:avLst/>
          </a:prstGeom>
          <a:solidFill>
            <a:srgbClr val="F3F6FC"/>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27432" bIns="27432"/>
          <a:lstStyle/>
          <a:p>
            <a:pPr algn="ctr">
              <a:spcBef>
                <a:spcPts val="0"/>
              </a:spcBef>
              <a:spcAft>
                <a:spcPts val="0"/>
              </a:spcAft>
            </a:pPr>
            <a:r>
              <a:rPr sz="1000" b="1" i="0">
                <a:solidFill>
                  <a:srgbClr val="0B1E3B"/>
                </a:solidFill>
                <a:latin typeface="Calibri"/>
              </a:rPr>
              <a:t>Any hierarchical office
(school, admin block)</a:t>
            </a:r>
          </a:p>
        </p:txBody>
      </p:sp>
      <p:sp>
        <p:nvSpPr>
          <p:cNvPr id="29" name="Rounded Rectangle 28"/>
          <p:cNvSpPr/>
          <p:nvPr/>
        </p:nvSpPr>
        <p:spPr>
          <a:xfrm>
            <a:off x="9116568" y="4416552"/>
            <a:ext cx="64008" cy="768096"/>
          </a:xfrm>
          <a:prstGeom prst="round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ounded Rectangle 29"/>
          <p:cNvSpPr/>
          <p:nvPr/>
        </p:nvSpPr>
        <p:spPr>
          <a:xfrm>
            <a:off x="411480" y="5504688"/>
            <a:ext cx="11365992" cy="841248"/>
          </a:xfrm>
          <a:prstGeom prst="roundRect">
            <a:avLst/>
          </a:prstGeom>
          <a:solidFill>
            <a:srgbClr val="FFFFFF"/>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566928" y="5577840"/>
            <a:ext cx="1463040" cy="69494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spcBef>
                <a:spcPts val="0"/>
              </a:spcBef>
              <a:spcAft>
                <a:spcPts val="0"/>
              </a:spcAft>
            </a:pPr>
            <a:r>
              <a:rPr sz="950" b="1" i="0">
                <a:solidFill>
                  <a:srgbClr val="0B1E3B"/>
                </a:solidFill>
                <a:latin typeface="Calibri"/>
              </a:rPr>
              <a:t>WHO
BENEFITS</a:t>
            </a:r>
          </a:p>
        </p:txBody>
      </p:sp>
      <p:sp>
        <p:nvSpPr>
          <p:cNvPr id="32" name="Rounded Rectangle 31"/>
          <p:cNvSpPr/>
          <p:nvPr/>
        </p:nvSpPr>
        <p:spPr>
          <a:xfrm>
            <a:off x="2103120" y="5614416"/>
            <a:ext cx="2340864" cy="621792"/>
          </a:xfrm>
          <a:prstGeom prst="roundRect">
            <a:avLst/>
          </a:prstGeom>
          <a:solidFill>
            <a:srgbClr val="F3F6FC"/>
          </a:solidFill>
          <a:ln w="12700">
            <a:solidFill>
              <a:srgbClr val="4F46E5"/>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spcBef>
                <a:spcPts val="0"/>
              </a:spcBef>
              <a:spcAft>
                <a:spcPts val="100"/>
              </a:spcAft>
            </a:pPr>
            <a:r>
              <a:rPr sz="1050" b="1" i="0">
                <a:solidFill>
                  <a:srgbClr val="4F46E5"/>
                </a:solidFill>
                <a:latin typeface="Calibri"/>
              </a:rPr>
              <a:t>Principal</a:t>
            </a:r>
          </a:p>
          <a:p>
            <a:pPr algn="ctr">
              <a:spcBef>
                <a:spcPts val="0"/>
              </a:spcBef>
              <a:spcAft>
                <a:spcPts val="0"/>
              </a:spcAft>
            </a:pPr>
            <a:r>
              <a:rPr sz="800" b="0" i="0">
                <a:solidFill>
                  <a:srgbClr val="64748B"/>
                </a:solidFill>
                <a:latin typeface="Calibri"/>
              </a:rPr>
              <a:t>full-institute visibility &amp; approvals</a:t>
            </a:r>
          </a:p>
        </p:txBody>
      </p:sp>
      <p:sp>
        <p:nvSpPr>
          <p:cNvPr id="33" name="Rounded Rectangle 32"/>
          <p:cNvSpPr/>
          <p:nvPr/>
        </p:nvSpPr>
        <p:spPr>
          <a:xfrm>
            <a:off x="4507992" y="5614416"/>
            <a:ext cx="2340864" cy="621792"/>
          </a:xfrm>
          <a:prstGeom prst="roundRect">
            <a:avLst/>
          </a:prstGeom>
          <a:solidFill>
            <a:srgbClr val="F3F6FC"/>
          </a:solidFill>
          <a:ln w="12700">
            <a:solidFill>
              <a:srgbClr val="06B6D4"/>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spcBef>
                <a:spcPts val="0"/>
              </a:spcBef>
              <a:spcAft>
                <a:spcPts val="100"/>
              </a:spcAft>
            </a:pPr>
            <a:r>
              <a:rPr sz="1050" b="1" i="0">
                <a:solidFill>
                  <a:srgbClr val="06B6D4"/>
                </a:solidFill>
                <a:latin typeface="Calibri"/>
              </a:rPr>
              <a:t>HOD</a:t>
            </a:r>
          </a:p>
          <a:p>
            <a:pPr algn="ctr">
              <a:spcBef>
                <a:spcPts val="0"/>
              </a:spcBef>
              <a:spcAft>
                <a:spcPts val="0"/>
              </a:spcAft>
            </a:pPr>
            <a:r>
              <a:rPr sz="800" b="0" i="0">
                <a:solidFill>
                  <a:srgbClr val="64748B"/>
                </a:solidFill>
                <a:latin typeface="Calibri"/>
              </a:rPr>
              <a:t>assign, monitor and control department work</a:t>
            </a:r>
          </a:p>
        </p:txBody>
      </p:sp>
      <p:sp>
        <p:nvSpPr>
          <p:cNvPr id="34" name="Rounded Rectangle 33"/>
          <p:cNvSpPr/>
          <p:nvPr/>
        </p:nvSpPr>
        <p:spPr>
          <a:xfrm>
            <a:off x="6912864" y="5614416"/>
            <a:ext cx="2340864" cy="621792"/>
          </a:xfrm>
          <a:prstGeom prst="roundRect">
            <a:avLst/>
          </a:prstGeom>
          <a:solidFill>
            <a:srgbClr val="F3F6FC"/>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spcBef>
                <a:spcPts val="0"/>
              </a:spcBef>
              <a:spcAft>
                <a:spcPts val="100"/>
              </a:spcAft>
            </a:pPr>
            <a:r>
              <a:rPr sz="1050" b="1" i="0">
                <a:solidFill>
                  <a:srgbClr val="10B981"/>
                </a:solidFill>
                <a:latin typeface="Calibri"/>
              </a:rPr>
              <a:t>Faculty</a:t>
            </a:r>
          </a:p>
          <a:p>
            <a:pPr algn="ctr">
              <a:spcBef>
                <a:spcPts val="0"/>
              </a:spcBef>
              <a:spcAft>
                <a:spcPts val="0"/>
              </a:spcAft>
            </a:pPr>
            <a:r>
              <a:rPr sz="800" b="0" i="0">
                <a:solidFill>
                  <a:srgbClr val="64748B"/>
                </a:solidFill>
                <a:latin typeface="Calibri"/>
              </a:rPr>
              <a:t>clear list of duties, deadlines &amp; reminders</a:t>
            </a:r>
          </a:p>
        </p:txBody>
      </p:sp>
      <p:sp>
        <p:nvSpPr>
          <p:cNvPr id="35" name="Rounded Rectangle 34"/>
          <p:cNvSpPr/>
          <p:nvPr/>
        </p:nvSpPr>
        <p:spPr>
          <a:xfrm>
            <a:off x="9317736" y="5614416"/>
            <a:ext cx="2340864" cy="621792"/>
          </a:xfrm>
          <a:prstGeom prst="roundRect">
            <a:avLst/>
          </a:prstGeom>
          <a:solidFill>
            <a:srgbClr val="F3F6FC"/>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spcBef>
                <a:spcPts val="0"/>
              </a:spcBef>
              <a:spcAft>
                <a:spcPts val="100"/>
              </a:spcAft>
            </a:pPr>
            <a:r>
              <a:rPr sz="1050" b="1" i="0">
                <a:solidFill>
                  <a:srgbClr val="F59E0B"/>
                </a:solidFill>
                <a:latin typeface="Calibri"/>
              </a:rPr>
              <a:t>Staff / Students</a:t>
            </a:r>
          </a:p>
          <a:p>
            <a:pPr algn="ctr">
              <a:spcBef>
                <a:spcPts val="0"/>
              </a:spcBef>
              <a:spcAft>
                <a:spcPts val="0"/>
              </a:spcAft>
            </a:pPr>
            <a:r>
              <a:rPr sz="800" b="0" i="0">
                <a:solidFill>
                  <a:srgbClr val="64748B"/>
                </a:solidFill>
                <a:latin typeface="Calibri"/>
              </a:rPr>
              <a:t>one channel to raise and track requests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3F6FC"/>
        </a:solidFill>
        <a:effectLst/>
      </p:bgPr>
    </p:bg>
    <p:spTree>
      <p:nvGrpSpPr>
        <p:cNvPr id="1" name=""/>
        <p:cNvGrpSpPr/>
        <p:nvPr/>
      </p:nvGrpSpPr>
      <p:grpSpPr/>
      <p:sp>
        <p:nvSpPr>
          <p:cNvPr id="2" name="Rectangle 1"/>
          <p:cNvSpPr/>
          <p:nvPr/>
        </p:nvSpPr>
        <p:spPr>
          <a:xfrm>
            <a:off x="0" y="0"/>
            <a:ext cx="12191695" cy="1078992"/>
          </a:xfrm>
          <a:prstGeom prst="rect">
            <a:avLst/>
          </a:prstGeom>
          <a:solidFill>
            <a:srgbClr val="0B1E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78992"/>
            <a:ext cx="12191695" cy="411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411480" y="91440"/>
            <a:ext cx="10058400" cy="9144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27432" bIns="27432"/>
          <a:lstStyle/>
          <a:p>
            <a:pPr algn="l">
              <a:spcBef>
                <a:spcPts val="0"/>
              </a:spcBef>
              <a:spcAft>
                <a:spcPts val="100"/>
              </a:spcAft>
            </a:pPr>
            <a:r>
              <a:rPr sz="1050" b="1" i="0">
                <a:solidFill>
                  <a:srgbClr val="06B6D4"/>
                </a:solidFill>
                <a:latin typeface="Calibri"/>
              </a:rPr>
              <a:t>SLIDE 9</a:t>
            </a:r>
          </a:p>
          <a:p>
            <a:pPr algn="l">
              <a:spcBef>
                <a:spcPts val="0"/>
              </a:spcBef>
              <a:spcAft>
                <a:spcPts val="0"/>
              </a:spcAft>
            </a:pPr>
            <a:r>
              <a:rPr sz="2500" b="1" i="0">
                <a:solidFill>
                  <a:srgbClr val="FFFFFF"/>
                </a:solidFill>
                <a:latin typeface="Calibri"/>
              </a:rPr>
              <a:t>References</a:t>
            </a:r>
          </a:p>
        </p:txBody>
      </p:sp>
      <p:sp>
        <p:nvSpPr>
          <p:cNvPr id="5" name="Rounded Rectangle 4"/>
          <p:cNvSpPr/>
          <p:nvPr/>
        </p:nvSpPr>
        <p:spPr>
          <a:xfrm>
            <a:off x="10972800" y="274320"/>
            <a:ext cx="822960" cy="512064"/>
          </a:xfrm>
          <a:prstGeom prst="roundRect">
            <a:avLst/>
          </a:prstGeom>
          <a:solidFill>
            <a:srgbClr val="143363"/>
          </a:solidFill>
          <a:ln w="15875">
            <a:solidFill>
              <a:srgbClr val="06B6D4"/>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spcBef>
                <a:spcPts val="0"/>
              </a:spcBef>
              <a:spcAft>
                <a:spcPts val="0"/>
              </a:spcAft>
            </a:pPr>
            <a:r>
              <a:rPr sz="1150" b="1" i="0">
                <a:solidFill>
                  <a:srgbClr val="FFFFFF"/>
                </a:solidFill>
                <a:latin typeface="Calibri"/>
              </a:rPr>
              <a:t>9 / 10</a:t>
            </a:r>
          </a:p>
        </p:txBody>
      </p:sp>
      <p:sp>
        <p:nvSpPr>
          <p:cNvPr id="6" name="Rectangle 5"/>
          <p:cNvSpPr/>
          <p:nvPr/>
        </p:nvSpPr>
        <p:spPr>
          <a:xfrm>
            <a:off x="411480" y="6446520"/>
            <a:ext cx="11365992" cy="29260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27432" bIns="27432"/>
          <a:lstStyle/>
          <a:p>
            <a:pPr algn="ctr">
              <a:spcAft>
                <a:spcPts val="0"/>
              </a:spcAft>
            </a:pPr>
            <a:r>
              <a:rPr sz="850">
                <a:solidFill>
                  <a:srgbClr val="64748B"/>
                </a:solidFill>
                <a:latin typeface="Calibri"/>
              </a:rPr>
              <a:t>HieraSync AI  •  Smart College Workflow &amp; Event Management System        </a:t>
            </a:r>
            <a:r>
              <a:rPr sz="850">
                <a:solidFill>
                  <a:srgbClr val="64748B"/>
                </a:solidFill>
                <a:latin typeface="Calibri"/>
              </a:rPr>
              <a:t>github.com/Atulgupta07/Hiera_Sync</a:t>
            </a:r>
          </a:p>
        </p:txBody>
      </p:sp>
      <p:sp>
        <p:nvSpPr>
          <p:cNvPr id="7" name="Rounded Rectangle 6"/>
          <p:cNvSpPr/>
          <p:nvPr/>
        </p:nvSpPr>
        <p:spPr>
          <a:xfrm>
            <a:off x="411480" y="1280160"/>
            <a:ext cx="11365992" cy="502920"/>
          </a:xfrm>
          <a:prstGeom prst="roundRect">
            <a:avLst/>
          </a:prstGeom>
          <a:solidFill>
            <a:srgbClr val="EEF2FF"/>
          </a:solidFill>
          <a:ln w="12700">
            <a:solidFill>
              <a:srgbClr val="4F46E5"/>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27432" bIns="27432"/>
          <a:lstStyle/>
          <a:p>
            <a:pPr algn="l">
              <a:spcBef>
                <a:spcPts val="0"/>
              </a:spcBef>
              <a:spcAft>
                <a:spcPts val="0"/>
              </a:spcAft>
            </a:pPr>
            <a:r>
              <a:rPr sz="1150" b="0" i="0">
                <a:solidFill>
                  <a:srgbClr val="1E293B"/>
                </a:solidFill>
                <a:latin typeface="Calibri"/>
              </a:rPr>
              <a:t>Official documentation of the technologies used to design, build and deploy the system.</a:t>
            </a:r>
          </a:p>
        </p:txBody>
      </p:sp>
      <p:sp>
        <p:nvSpPr>
          <p:cNvPr id="8" name="Rounded Rectangle 7"/>
          <p:cNvSpPr/>
          <p:nvPr/>
        </p:nvSpPr>
        <p:spPr>
          <a:xfrm>
            <a:off x="411480" y="1920240"/>
            <a:ext cx="5577840" cy="804672"/>
          </a:xfrm>
          <a:prstGeom prst="roundRect">
            <a:avLst/>
          </a:prstGeom>
          <a:solidFill>
            <a:srgbClr val="FFFFFF"/>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411480" y="1920240"/>
            <a:ext cx="64008" cy="804672"/>
          </a:xfrm>
          <a:prstGeom prst="roundRect">
            <a:avLst/>
          </a:prstGeom>
          <a:solidFill>
            <a:srgbClr val="4F46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76072" y="1975104"/>
            <a:ext cx="5349240" cy="69494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spcAft>
                <a:spcPts val="100"/>
              </a:spcAft>
            </a:pPr>
            <a:r>
              <a:rPr sz="1050" b="1">
                <a:solidFill>
                  <a:srgbClr val="4F46E5"/>
                </a:solidFill>
                <a:latin typeface="Calibri"/>
              </a:rPr>
              <a:t>[1]  </a:t>
            </a:r>
            <a:r>
              <a:rPr sz="1100" b="1">
                <a:solidFill>
                  <a:srgbClr val="0B1E3B"/>
                </a:solidFill>
                <a:latin typeface="Calibri"/>
              </a:rPr>
              <a:t>FastAPI Documentation</a:t>
            </a:r>
          </a:p>
          <a:p>
            <a:pPr algn="l">
              <a:spcBef>
                <a:spcPts val="0"/>
              </a:spcBef>
              <a:spcAft>
                <a:spcPts val="100"/>
              </a:spcAft>
            </a:pPr>
            <a:r>
              <a:rPr sz="950" b="0" i="0">
                <a:solidFill>
                  <a:srgbClr val="4F46E5"/>
                </a:solidFill>
                <a:latin typeface="Calibri"/>
              </a:rPr>
              <a:t>fastapi.tiangolo.com</a:t>
            </a:r>
          </a:p>
          <a:p>
            <a:pPr algn="l">
              <a:spcBef>
                <a:spcPts val="0"/>
              </a:spcBef>
              <a:spcAft>
                <a:spcPts val="0"/>
              </a:spcAft>
            </a:pPr>
            <a:r>
              <a:rPr sz="850" b="0" i="0">
                <a:solidFill>
                  <a:srgbClr val="64748B"/>
                </a:solidFill>
                <a:latin typeface="Calibri"/>
              </a:rPr>
              <a:t>Backend framework, routers, dependency injection</a:t>
            </a:r>
          </a:p>
        </p:txBody>
      </p:sp>
      <p:sp>
        <p:nvSpPr>
          <p:cNvPr id="11" name="Rounded Rectangle 10"/>
          <p:cNvSpPr/>
          <p:nvPr/>
        </p:nvSpPr>
        <p:spPr>
          <a:xfrm>
            <a:off x="411480" y="2798064"/>
            <a:ext cx="5577840" cy="804672"/>
          </a:xfrm>
          <a:prstGeom prst="roundRect">
            <a:avLst/>
          </a:prstGeom>
          <a:solidFill>
            <a:srgbClr val="FFFFFF"/>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11480" y="2798064"/>
            <a:ext cx="64008" cy="804672"/>
          </a:xfrm>
          <a:prstGeom prst="roundRect">
            <a:avLst/>
          </a:prstGeom>
          <a:solidFill>
            <a:srgbClr val="4F46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76072" y="2852928"/>
            <a:ext cx="5349240" cy="69494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spcAft>
                <a:spcPts val="100"/>
              </a:spcAft>
            </a:pPr>
            <a:r>
              <a:rPr sz="1050" b="1">
                <a:solidFill>
                  <a:srgbClr val="4F46E5"/>
                </a:solidFill>
                <a:latin typeface="Calibri"/>
              </a:rPr>
              <a:t>[2]  </a:t>
            </a:r>
            <a:r>
              <a:rPr sz="1100" b="1">
                <a:solidFill>
                  <a:srgbClr val="0B1E3B"/>
                </a:solidFill>
                <a:latin typeface="Calibri"/>
              </a:rPr>
              <a:t>React Documentation</a:t>
            </a:r>
          </a:p>
          <a:p>
            <a:pPr algn="l">
              <a:spcBef>
                <a:spcPts val="0"/>
              </a:spcBef>
              <a:spcAft>
                <a:spcPts val="100"/>
              </a:spcAft>
            </a:pPr>
            <a:r>
              <a:rPr sz="950" b="0" i="0">
                <a:solidFill>
                  <a:srgbClr val="4F46E5"/>
                </a:solidFill>
                <a:latin typeface="Calibri"/>
              </a:rPr>
              <a:t>react.dev</a:t>
            </a:r>
          </a:p>
          <a:p>
            <a:pPr algn="l">
              <a:spcBef>
                <a:spcPts val="0"/>
              </a:spcBef>
              <a:spcAft>
                <a:spcPts val="0"/>
              </a:spcAft>
            </a:pPr>
            <a:r>
              <a:rPr sz="850" b="0" i="0">
                <a:solidFill>
                  <a:srgbClr val="64748B"/>
                </a:solidFill>
                <a:latin typeface="Calibri"/>
              </a:rPr>
              <a:t>React 19 components, hooks and routing</a:t>
            </a:r>
          </a:p>
        </p:txBody>
      </p:sp>
      <p:sp>
        <p:nvSpPr>
          <p:cNvPr id="14" name="Rounded Rectangle 13"/>
          <p:cNvSpPr/>
          <p:nvPr/>
        </p:nvSpPr>
        <p:spPr>
          <a:xfrm>
            <a:off x="411480" y="3675887"/>
            <a:ext cx="5577840" cy="804672"/>
          </a:xfrm>
          <a:prstGeom prst="roundRect">
            <a:avLst/>
          </a:prstGeom>
          <a:solidFill>
            <a:srgbClr val="FFFFFF"/>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411480" y="3675887"/>
            <a:ext cx="64008" cy="804672"/>
          </a:xfrm>
          <a:prstGeom prst="roundRect">
            <a:avLst/>
          </a:prstGeom>
          <a:solidFill>
            <a:srgbClr val="4F46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76072" y="3730751"/>
            <a:ext cx="5349240" cy="69494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spcAft>
                <a:spcPts val="100"/>
              </a:spcAft>
            </a:pPr>
            <a:r>
              <a:rPr sz="1050" b="1">
                <a:solidFill>
                  <a:srgbClr val="4F46E5"/>
                </a:solidFill>
                <a:latin typeface="Calibri"/>
              </a:rPr>
              <a:t>[3]  </a:t>
            </a:r>
            <a:r>
              <a:rPr sz="1100" b="1">
                <a:solidFill>
                  <a:srgbClr val="0B1E3B"/>
                </a:solidFill>
                <a:latin typeface="Calibri"/>
              </a:rPr>
              <a:t>Firebase Firestore Docs</a:t>
            </a:r>
          </a:p>
          <a:p>
            <a:pPr algn="l">
              <a:spcBef>
                <a:spcPts val="0"/>
              </a:spcBef>
              <a:spcAft>
                <a:spcPts val="100"/>
              </a:spcAft>
            </a:pPr>
            <a:r>
              <a:rPr sz="950" b="0" i="0">
                <a:solidFill>
                  <a:srgbClr val="4F46E5"/>
                </a:solidFill>
                <a:latin typeface="Calibri"/>
              </a:rPr>
              <a:t>firebase.google.com/docs/firestore</a:t>
            </a:r>
          </a:p>
          <a:p>
            <a:pPr algn="l">
              <a:spcBef>
                <a:spcPts val="0"/>
              </a:spcBef>
              <a:spcAft>
                <a:spcPts val="0"/>
              </a:spcAft>
            </a:pPr>
            <a:r>
              <a:rPr sz="850" b="0" i="0">
                <a:solidFill>
                  <a:srgbClr val="64748B"/>
                </a:solidFill>
                <a:latin typeface="Calibri"/>
              </a:rPr>
              <a:t>NoSQL collections, queries and security rules</a:t>
            </a:r>
          </a:p>
        </p:txBody>
      </p:sp>
      <p:sp>
        <p:nvSpPr>
          <p:cNvPr id="17" name="Rounded Rectangle 16"/>
          <p:cNvSpPr/>
          <p:nvPr/>
        </p:nvSpPr>
        <p:spPr>
          <a:xfrm>
            <a:off x="411480" y="4553712"/>
            <a:ext cx="5577840" cy="804672"/>
          </a:xfrm>
          <a:prstGeom prst="roundRect">
            <a:avLst/>
          </a:prstGeom>
          <a:solidFill>
            <a:srgbClr val="FFFFFF"/>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411480" y="4553712"/>
            <a:ext cx="64008" cy="804672"/>
          </a:xfrm>
          <a:prstGeom prst="roundRect">
            <a:avLst/>
          </a:prstGeom>
          <a:solidFill>
            <a:srgbClr val="4F46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76072" y="4608575"/>
            <a:ext cx="5349240" cy="69494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spcAft>
                <a:spcPts val="100"/>
              </a:spcAft>
            </a:pPr>
            <a:r>
              <a:rPr sz="1050" b="1">
                <a:solidFill>
                  <a:srgbClr val="4F46E5"/>
                </a:solidFill>
                <a:latin typeface="Calibri"/>
              </a:rPr>
              <a:t>[4]  </a:t>
            </a:r>
            <a:r>
              <a:rPr sz="1100" b="1">
                <a:solidFill>
                  <a:srgbClr val="0B1E3B"/>
                </a:solidFill>
                <a:latin typeface="Calibri"/>
              </a:rPr>
              <a:t>Firebase Authentication</a:t>
            </a:r>
          </a:p>
          <a:p>
            <a:pPr algn="l">
              <a:spcBef>
                <a:spcPts val="0"/>
              </a:spcBef>
              <a:spcAft>
                <a:spcPts val="100"/>
              </a:spcAft>
            </a:pPr>
            <a:r>
              <a:rPr sz="950" b="0" i="0">
                <a:solidFill>
                  <a:srgbClr val="4F46E5"/>
                </a:solidFill>
                <a:latin typeface="Calibri"/>
              </a:rPr>
              <a:t>firebase.google.com/docs/auth</a:t>
            </a:r>
          </a:p>
          <a:p>
            <a:pPr algn="l">
              <a:spcBef>
                <a:spcPts val="0"/>
              </a:spcBef>
              <a:spcAft>
                <a:spcPts val="0"/>
              </a:spcAft>
            </a:pPr>
            <a:r>
              <a:rPr sz="850" b="0" i="0">
                <a:solidFill>
                  <a:srgbClr val="64748B"/>
                </a:solidFill>
                <a:latin typeface="Calibri"/>
              </a:rPr>
              <a:t>Identity, sign-in methods, Admin SDK</a:t>
            </a:r>
          </a:p>
        </p:txBody>
      </p:sp>
      <p:sp>
        <p:nvSpPr>
          <p:cNvPr id="20" name="Rounded Rectangle 19"/>
          <p:cNvSpPr/>
          <p:nvPr/>
        </p:nvSpPr>
        <p:spPr>
          <a:xfrm>
            <a:off x="411480" y="5431536"/>
            <a:ext cx="5577840" cy="804672"/>
          </a:xfrm>
          <a:prstGeom prst="roundRect">
            <a:avLst/>
          </a:prstGeom>
          <a:solidFill>
            <a:srgbClr val="FFFFFF"/>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411480" y="5431536"/>
            <a:ext cx="64008" cy="804672"/>
          </a:xfrm>
          <a:prstGeom prst="roundRect">
            <a:avLst/>
          </a:prstGeom>
          <a:solidFill>
            <a:srgbClr val="4F46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76072" y="5486399"/>
            <a:ext cx="5349240" cy="69494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spcAft>
                <a:spcPts val="100"/>
              </a:spcAft>
            </a:pPr>
            <a:r>
              <a:rPr sz="1050" b="1">
                <a:solidFill>
                  <a:srgbClr val="4F46E5"/>
                </a:solidFill>
                <a:latin typeface="Calibri"/>
              </a:rPr>
              <a:t>[5]  </a:t>
            </a:r>
            <a:r>
              <a:rPr sz="1100" b="1">
                <a:solidFill>
                  <a:srgbClr val="0B1E3B"/>
                </a:solidFill>
                <a:latin typeface="Calibri"/>
              </a:rPr>
              <a:t>Google Gemini API</a:t>
            </a:r>
          </a:p>
          <a:p>
            <a:pPr algn="l">
              <a:spcBef>
                <a:spcPts val="0"/>
              </a:spcBef>
              <a:spcAft>
                <a:spcPts val="100"/>
              </a:spcAft>
            </a:pPr>
            <a:r>
              <a:rPr sz="950" b="0" i="0">
                <a:solidFill>
                  <a:srgbClr val="4F46E5"/>
                </a:solidFill>
                <a:latin typeface="Calibri"/>
              </a:rPr>
              <a:t>ai.google.dev/gemini-api/docs</a:t>
            </a:r>
          </a:p>
          <a:p>
            <a:pPr algn="l">
              <a:spcBef>
                <a:spcPts val="0"/>
              </a:spcBef>
              <a:spcAft>
                <a:spcPts val="0"/>
              </a:spcAft>
            </a:pPr>
            <a:r>
              <a:rPr sz="850" b="0" i="0">
                <a:solidFill>
                  <a:srgbClr val="64748B"/>
                </a:solidFill>
                <a:latin typeface="Calibri"/>
              </a:rPr>
              <a:t>Gemini 1.5 Flash generateContent REST API</a:t>
            </a:r>
          </a:p>
        </p:txBody>
      </p:sp>
      <p:sp>
        <p:nvSpPr>
          <p:cNvPr id="23" name="Rounded Rectangle 22"/>
          <p:cNvSpPr/>
          <p:nvPr/>
        </p:nvSpPr>
        <p:spPr>
          <a:xfrm>
            <a:off x="6199632" y="1920240"/>
            <a:ext cx="5577840" cy="804672"/>
          </a:xfrm>
          <a:prstGeom prst="roundRect">
            <a:avLst/>
          </a:prstGeom>
          <a:solidFill>
            <a:srgbClr val="FFFFFF"/>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6199632" y="1920240"/>
            <a:ext cx="64008" cy="804672"/>
          </a:xfrm>
          <a:prstGeom prst="roundRect">
            <a:avLst/>
          </a:prstGeom>
          <a:solidFill>
            <a:srgbClr val="4F46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6364224" y="1975104"/>
            <a:ext cx="5349240" cy="69494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spcAft>
                <a:spcPts val="100"/>
              </a:spcAft>
            </a:pPr>
            <a:r>
              <a:rPr sz="1050" b="1">
                <a:solidFill>
                  <a:srgbClr val="4F46E5"/>
                </a:solidFill>
                <a:latin typeface="Calibri"/>
              </a:rPr>
              <a:t>[6]  </a:t>
            </a:r>
            <a:r>
              <a:rPr sz="1100" b="1">
                <a:solidFill>
                  <a:srgbClr val="0B1E3B"/>
                </a:solidFill>
                <a:latin typeface="Calibri"/>
              </a:rPr>
              <a:t>WhatsApp Cloud API</a:t>
            </a:r>
          </a:p>
          <a:p>
            <a:pPr algn="l">
              <a:spcBef>
                <a:spcPts val="0"/>
              </a:spcBef>
              <a:spcAft>
                <a:spcPts val="100"/>
              </a:spcAft>
            </a:pPr>
            <a:r>
              <a:rPr sz="950" b="0" i="0">
                <a:solidFill>
                  <a:srgbClr val="4F46E5"/>
                </a:solidFill>
                <a:latin typeface="Calibri"/>
              </a:rPr>
              <a:t>developers.facebook.com/docs/whatsapp</a:t>
            </a:r>
          </a:p>
          <a:p>
            <a:pPr algn="l">
              <a:spcBef>
                <a:spcPts val="0"/>
              </a:spcBef>
              <a:spcAft>
                <a:spcPts val="0"/>
              </a:spcAft>
            </a:pPr>
            <a:r>
              <a:rPr sz="850" b="0" i="0">
                <a:solidFill>
                  <a:srgbClr val="64748B"/>
                </a:solidFill>
                <a:latin typeface="Calibri"/>
              </a:rPr>
              <a:t>Template messages, webhooks, v22.0</a:t>
            </a:r>
          </a:p>
        </p:txBody>
      </p:sp>
      <p:sp>
        <p:nvSpPr>
          <p:cNvPr id="26" name="Rounded Rectangle 25"/>
          <p:cNvSpPr/>
          <p:nvPr/>
        </p:nvSpPr>
        <p:spPr>
          <a:xfrm>
            <a:off x="6199632" y="2798064"/>
            <a:ext cx="5577840" cy="804672"/>
          </a:xfrm>
          <a:prstGeom prst="roundRect">
            <a:avLst/>
          </a:prstGeom>
          <a:solidFill>
            <a:srgbClr val="FFFFFF"/>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6199632" y="2798064"/>
            <a:ext cx="64008" cy="804672"/>
          </a:xfrm>
          <a:prstGeom prst="roundRect">
            <a:avLst/>
          </a:prstGeom>
          <a:solidFill>
            <a:srgbClr val="4F46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6364224" y="2852928"/>
            <a:ext cx="5349240" cy="69494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spcAft>
                <a:spcPts val="100"/>
              </a:spcAft>
            </a:pPr>
            <a:r>
              <a:rPr sz="1050" b="1">
                <a:solidFill>
                  <a:srgbClr val="4F46E5"/>
                </a:solidFill>
                <a:latin typeface="Calibri"/>
              </a:rPr>
              <a:t>[7]  </a:t>
            </a:r>
            <a:r>
              <a:rPr sz="1100" b="1">
                <a:solidFill>
                  <a:srgbClr val="0B1E3B"/>
                </a:solidFill>
                <a:latin typeface="Calibri"/>
              </a:rPr>
              <a:t>APScheduler Documentation</a:t>
            </a:r>
          </a:p>
          <a:p>
            <a:pPr algn="l">
              <a:spcBef>
                <a:spcPts val="0"/>
              </a:spcBef>
              <a:spcAft>
                <a:spcPts val="100"/>
              </a:spcAft>
            </a:pPr>
            <a:r>
              <a:rPr sz="950" b="0" i="0">
                <a:solidFill>
                  <a:srgbClr val="4F46E5"/>
                </a:solidFill>
                <a:latin typeface="Calibri"/>
              </a:rPr>
              <a:t>apscheduler.readthedocs.io</a:t>
            </a:r>
          </a:p>
          <a:p>
            <a:pPr algn="l">
              <a:spcBef>
                <a:spcPts val="0"/>
              </a:spcBef>
              <a:spcAft>
                <a:spcPts val="0"/>
              </a:spcAft>
            </a:pPr>
            <a:r>
              <a:rPr sz="850" b="0" i="0">
                <a:solidFill>
                  <a:srgbClr val="64748B"/>
                </a:solidFill>
                <a:latin typeface="Calibri"/>
              </a:rPr>
              <a:t>Background jobs for 5-minute reminders</a:t>
            </a:r>
          </a:p>
        </p:txBody>
      </p:sp>
      <p:sp>
        <p:nvSpPr>
          <p:cNvPr id="29" name="Rounded Rectangle 28"/>
          <p:cNvSpPr/>
          <p:nvPr/>
        </p:nvSpPr>
        <p:spPr>
          <a:xfrm>
            <a:off x="6199632" y="3675887"/>
            <a:ext cx="5577840" cy="804672"/>
          </a:xfrm>
          <a:prstGeom prst="roundRect">
            <a:avLst/>
          </a:prstGeom>
          <a:solidFill>
            <a:srgbClr val="FFFFFF"/>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ounded Rectangle 29"/>
          <p:cNvSpPr/>
          <p:nvPr/>
        </p:nvSpPr>
        <p:spPr>
          <a:xfrm>
            <a:off x="6199632" y="3675887"/>
            <a:ext cx="64008" cy="804672"/>
          </a:xfrm>
          <a:prstGeom prst="roundRect">
            <a:avLst/>
          </a:prstGeom>
          <a:solidFill>
            <a:srgbClr val="4F46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6364224" y="3730751"/>
            <a:ext cx="5349240" cy="69494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spcAft>
                <a:spcPts val="100"/>
              </a:spcAft>
            </a:pPr>
            <a:r>
              <a:rPr sz="1050" b="1">
                <a:solidFill>
                  <a:srgbClr val="4F46E5"/>
                </a:solidFill>
                <a:latin typeface="Calibri"/>
              </a:rPr>
              <a:t>[8]  </a:t>
            </a:r>
            <a:r>
              <a:rPr sz="1100" b="1">
                <a:solidFill>
                  <a:srgbClr val="0B1E3B"/>
                </a:solidFill>
                <a:latin typeface="Calibri"/>
              </a:rPr>
              <a:t>Pydantic v2 Documentation</a:t>
            </a:r>
          </a:p>
          <a:p>
            <a:pPr algn="l">
              <a:spcBef>
                <a:spcPts val="0"/>
              </a:spcBef>
              <a:spcAft>
                <a:spcPts val="100"/>
              </a:spcAft>
            </a:pPr>
            <a:r>
              <a:rPr sz="950" b="0" i="0">
                <a:solidFill>
                  <a:srgbClr val="4F46E5"/>
                </a:solidFill>
                <a:latin typeface="Calibri"/>
              </a:rPr>
              <a:t>docs.pydantic.dev</a:t>
            </a:r>
          </a:p>
          <a:p>
            <a:pPr algn="l">
              <a:spcBef>
                <a:spcPts val="0"/>
              </a:spcBef>
              <a:spcAft>
                <a:spcPts val="0"/>
              </a:spcAft>
            </a:pPr>
            <a:r>
              <a:rPr sz="850" b="0" i="0">
                <a:solidFill>
                  <a:srgbClr val="64748B"/>
                </a:solidFill>
                <a:latin typeface="Calibri"/>
              </a:rPr>
              <a:t>Request/response schemas and validation</a:t>
            </a:r>
          </a:p>
        </p:txBody>
      </p:sp>
      <p:sp>
        <p:nvSpPr>
          <p:cNvPr id="32" name="Rounded Rectangle 31"/>
          <p:cNvSpPr/>
          <p:nvPr/>
        </p:nvSpPr>
        <p:spPr>
          <a:xfrm>
            <a:off x="6199632" y="4553712"/>
            <a:ext cx="5577840" cy="804672"/>
          </a:xfrm>
          <a:prstGeom prst="roundRect">
            <a:avLst/>
          </a:prstGeom>
          <a:solidFill>
            <a:srgbClr val="FFFFFF"/>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ounded Rectangle 32"/>
          <p:cNvSpPr/>
          <p:nvPr/>
        </p:nvSpPr>
        <p:spPr>
          <a:xfrm>
            <a:off x="6199632" y="4553712"/>
            <a:ext cx="64008" cy="804672"/>
          </a:xfrm>
          <a:prstGeom prst="roundRect">
            <a:avLst/>
          </a:prstGeom>
          <a:solidFill>
            <a:srgbClr val="4F46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6364224" y="4608575"/>
            <a:ext cx="5349240" cy="69494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spcAft>
                <a:spcPts val="100"/>
              </a:spcAft>
            </a:pPr>
            <a:r>
              <a:rPr sz="1050" b="1">
                <a:solidFill>
                  <a:srgbClr val="4F46E5"/>
                </a:solidFill>
                <a:latin typeface="Calibri"/>
              </a:rPr>
              <a:t>[9]  </a:t>
            </a:r>
            <a:r>
              <a:rPr sz="1100" b="1">
                <a:solidFill>
                  <a:srgbClr val="0B1E3B"/>
                </a:solidFill>
                <a:latin typeface="Calibri"/>
              </a:rPr>
              <a:t>Tailwind CSS &amp; Vite</a:t>
            </a:r>
          </a:p>
          <a:p>
            <a:pPr algn="l">
              <a:spcBef>
                <a:spcPts val="0"/>
              </a:spcBef>
              <a:spcAft>
                <a:spcPts val="100"/>
              </a:spcAft>
            </a:pPr>
            <a:r>
              <a:rPr sz="950" b="0" i="0">
                <a:solidFill>
                  <a:srgbClr val="4F46E5"/>
                </a:solidFill>
                <a:latin typeface="Calibri"/>
              </a:rPr>
              <a:t>tailwindcss.com  •  vite.dev</a:t>
            </a:r>
          </a:p>
          <a:p>
            <a:pPr algn="l">
              <a:spcBef>
                <a:spcPts val="0"/>
              </a:spcBef>
              <a:spcAft>
                <a:spcPts val="0"/>
              </a:spcAft>
            </a:pPr>
            <a:r>
              <a:rPr sz="850" b="0" i="0">
                <a:solidFill>
                  <a:srgbClr val="64748B"/>
                </a:solidFill>
                <a:latin typeface="Calibri"/>
              </a:rPr>
              <a:t>Utility-first styling and build tooling</a:t>
            </a:r>
          </a:p>
        </p:txBody>
      </p:sp>
      <p:sp>
        <p:nvSpPr>
          <p:cNvPr id="35" name="Rounded Rectangle 34"/>
          <p:cNvSpPr/>
          <p:nvPr/>
        </p:nvSpPr>
        <p:spPr>
          <a:xfrm>
            <a:off x="6199632" y="5431536"/>
            <a:ext cx="5577840" cy="804672"/>
          </a:xfrm>
          <a:prstGeom prst="roundRect">
            <a:avLst/>
          </a:prstGeom>
          <a:solidFill>
            <a:srgbClr val="FFFFFF"/>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ounded Rectangle 35"/>
          <p:cNvSpPr/>
          <p:nvPr/>
        </p:nvSpPr>
        <p:spPr>
          <a:xfrm>
            <a:off x="6199632" y="5431536"/>
            <a:ext cx="64008" cy="804672"/>
          </a:xfrm>
          <a:prstGeom prst="round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6364224" y="5486399"/>
            <a:ext cx="5349240" cy="69494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spcAft>
                <a:spcPts val="100"/>
              </a:spcAft>
            </a:pPr>
            <a:r>
              <a:rPr sz="1050" b="1">
                <a:solidFill>
                  <a:srgbClr val="F59E0B"/>
                </a:solidFill>
                <a:latin typeface="Calibri"/>
              </a:rPr>
              <a:t>[10]  </a:t>
            </a:r>
            <a:r>
              <a:rPr sz="1100" b="1">
                <a:solidFill>
                  <a:srgbClr val="0B1E3B"/>
                </a:solidFill>
                <a:latin typeface="Calibri"/>
              </a:rPr>
              <a:t>Project Repository</a:t>
            </a:r>
          </a:p>
          <a:p>
            <a:pPr algn="l">
              <a:spcBef>
                <a:spcPts val="0"/>
              </a:spcBef>
              <a:spcAft>
                <a:spcPts val="100"/>
              </a:spcAft>
            </a:pPr>
            <a:r>
              <a:rPr sz="950" b="0" i="0">
                <a:solidFill>
                  <a:srgbClr val="4F46E5"/>
                </a:solidFill>
                <a:latin typeface="Calibri"/>
              </a:rPr>
              <a:t>github.com/Atulgupta07/Hiera_Sync</a:t>
            </a:r>
          </a:p>
          <a:p>
            <a:pPr algn="l">
              <a:spcBef>
                <a:spcPts val="0"/>
              </a:spcBef>
              <a:spcAft>
                <a:spcPts val="0"/>
              </a:spcAft>
            </a:pPr>
            <a:r>
              <a:rPr sz="850" b="0" i="0">
                <a:solidFill>
                  <a:srgbClr val="64748B"/>
                </a:solidFill>
                <a:latin typeface="Calibri"/>
              </a:rPr>
              <a:t>Complete source code of this project</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3F6FC"/>
        </a:solidFill>
        <a:effectLst/>
      </p:bgPr>
    </p:bg>
    <p:spTree>
      <p:nvGrpSpPr>
        <p:cNvPr id="1" name=""/>
        <p:cNvGrpSpPr/>
        <p:nvPr/>
      </p:nvGrpSpPr>
      <p:grpSpPr/>
      <p:sp>
        <p:nvSpPr>
          <p:cNvPr id="2" name="Rectangle 1"/>
          <p:cNvSpPr/>
          <p:nvPr/>
        </p:nvSpPr>
        <p:spPr>
          <a:xfrm>
            <a:off x="0" y="0"/>
            <a:ext cx="12191695" cy="1078992"/>
          </a:xfrm>
          <a:prstGeom prst="rect">
            <a:avLst/>
          </a:prstGeom>
          <a:solidFill>
            <a:srgbClr val="0B1E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78992"/>
            <a:ext cx="12191695" cy="411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411480" y="91440"/>
            <a:ext cx="10058400" cy="9144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27432" bIns="27432"/>
          <a:lstStyle/>
          <a:p>
            <a:pPr algn="l">
              <a:spcBef>
                <a:spcPts val="0"/>
              </a:spcBef>
              <a:spcAft>
                <a:spcPts val="100"/>
              </a:spcAft>
            </a:pPr>
            <a:r>
              <a:rPr sz="1050" b="1" i="0">
                <a:solidFill>
                  <a:srgbClr val="06B6D4"/>
                </a:solidFill>
                <a:latin typeface="Calibri"/>
              </a:rPr>
              <a:t>SLIDE 10</a:t>
            </a:r>
          </a:p>
          <a:p>
            <a:pPr algn="l">
              <a:spcBef>
                <a:spcPts val="0"/>
              </a:spcBef>
              <a:spcAft>
                <a:spcPts val="0"/>
              </a:spcAft>
            </a:pPr>
            <a:r>
              <a:rPr sz="2500" b="1" i="0">
                <a:solidFill>
                  <a:srgbClr val="FFFFFF"/>
                </a:solidFill>
                <a:latin typeface="Calibri"/>
              </a:rPr>
              <a:t>Conclusion</a:t>
            </a:r>
          </a:p>
        </p:txBody>
      </p:sp>
      <p:sp>
        <p:nvSpPr>
          <p:cNvPr id="5" name="Rounded Rectangle 4"/>
          <p:cNvSpPr/>
          <p:nvPr/>
        </p:nvSpPr>
        <p:spPr>
          <a:xfrm>
            <a:off x="10972800" y="274320"/>
            <a:ext cx="822960" cy="512064"/>
          </a:xfrm>
          <a:prstGeom prst="roundRect">
            <a:avLst/>
          </a:prstGeom>
          <a:solidFill>
            <a:srgbClr val="143363"/>
          </a:solidFill>
          <a:ln w="15875">
            <a:solidFill>
              <a:srgbClr val="06B6D4"/>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spcBef>
                <a:spcPts val="0"/>
              </a:spcBef>
              <a:spcAft>
                <a:spcPts val="0"/>
              </a:spcAft>
            </a:pPr>
            <a:r>
              <a:rPr sz="1150" b="1" i="0">
                <a:solidFill>
                  <a:srgbClr val="FFFFFF"/>
                </a:solidFill>
                <a:latin typeface="Calibri"/>
              </a:rPr>
              <a:t>10 / 10</a:t>
            </a:r>
          </a:p>
        </p:txBody>
      </p:sp>
      <p:sp>
        <p:nvSpPr>
          <p:cNvPr id="6" name="Rectangle 5"/>
          <p:cNvSpPr/>
          <p:nvPr/>
        </p:nvSpPr>
        <p:spPr>
          <a:xfrm>
            <a:off x="411480" y="6446520"/>
            <a:ext cx="11365992" cy="29260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27432" bIns="27432"/>
          <a:lstStyle/>
          <a:p>
            <a:pPr algn="ctr">
              <a:spcAft>
                <a:spcPts val="0"/>
              </a:spcAft>
            </a:pPr>
            <a:r>
              <a:rPr sz="850">
                <a:solidFill>
                  <a:srgbClr val="64748B"/>
                </a:solidFill>
                <a:latin typeface="Calibri"/>
              </a:rPr>
              <a:t>HieraSync AI  •  Smart College Workflow &amp; Event Management System        </a:t>
            </a:r>
            <a:r>
              <a:rPr sz="850">
                <a:solidFill>
                  <a:srgbClr val="64748B"/>
                </a:solidFill>
                <a:latin typeface="Calibri"/>
              </a:rPr>
              <a:t>github.com/Atulgupta07/Hiera_Sync</a:t>
            </a:r>
          </a:p>
        </p:txBody>
      </p:sp>
      <p:sp>
        <p:nvSpPr>
          <p:cNvPr id="7" name="Rounded Rectangle 6"/>
          <p:cNvSpPr/>
          <p:nvPr/>
        </p:nvSpPr>
        <p:spPr>
          <a:xfrm>
            <a:off x="411480" y="1280160"/>
            <a:ext cx="11365992" cy="658368"/>
          </a:xfrm>
          <a:prstGeom prst="roundRect">
            <a:avLst/>
          </a:prstGeom>
          <a:solidFill>
            <a:srgbClr val="EEF2FF"/>
          </a:solidFill>
          <a:ln w="12700">
            <a:solidFill>
              <a:srgbClr val="4F46E5"/>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27432" bIns="27432"/>
          <a:lstStyle/>
          <a:p>
            <a:pPr algn="ctr">
              <a:spcBef>
                <a:spcPts val="0"/>
              </a:spcBef>
              <a:spcAft>
                <a:spcPts val="0"/>
              </a:spcAft>
            </a:pPr>
            <a:r>
              <a:rPr sz="1300" b="1" i="0">
                <a:solidFill>
                  <a:srgbClr val="0B1E3B"/>
                </a:solidFill>
                <a:latin typeface="Calibri"/>
              </a:rPr>
              <a:t>HieraSync AI converts scattered, manual department work into one recorded, automated and measurable workflow — and adds an AI layer that reads the institution's own live data.</a:t>
            </a:r>
          </a:p>
        </p:txBody>
      </p:sp>
      <p:sp>
        <p:nvSpPr>
          <p:cNvPr id="8" name="Rounded Rectangle 7"/>
          <p:cNvSpPr/>
          <p:nvPr/>
        </p:nvSpPr>
        <p:spPr>
          <a:xfrm>
            <a:off x="411480" y="2084831"/>
            <a:ext cx="2743200" cy="1371600"/>
          </a:xfrm>
          <a:prstGeom prst="roundRect">
            <a:avLst/>
          </a:prstGeom>
          <a:solidFill>
            <a:srgbClr val="FFFFFF"/>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411480" y="2084831"/>
            <a:ext cx="2743200" cy="384048"/>
          </a:xfrm>
          <a:prstGeom prst="roundRect">
            <a:avLst/>
          </a:prstGeom>
          <a:solidFill>
            <a:srgbClr val="4F46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02920" y="2103120"/>
            <a:ext cx="2560320" cy="34747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spcBef>
                <a:spcPts val="0"/>
              </a:spcBef>
              <a:spcAft>
                <a:spcPts val="0"/>
              </a:spcAft>
            </a:pPr>
            <a:r>
              <a:rPr sz="1100" b="1" i="0">
                <a:solidFill>
                  <a:srgbClr val="FFFFFF"/>
                </a:solidFill>
                <a:latin typeface="Calibri"/>
              </a:rPr>
              <a:t>BUILT</a:t>
            </a:r>
          </a:p>
        </p:txBody>
      </p:sp>
      <p:sp>
        <p:nvSpPr>
          <p:cNvPr id="11" name="Rectangle 10"/>
          <p:cNvSpPr/>
          <p:nvPr/>
        </p:nvSpPr>
        <p:spPr>
          <a:xfrm>
            <a:off x="521208" y="2523744"/>
            <a:ext cx="2523744" cy="87782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spcBef>
                <a:spcPts val="0"/>
              </a:spcBef>
              <a:spcAft>
                <a:spcPts val="0"/>
              </a:spcAft>
            </a:pPr>
            <a:r>
              <a:rPr sz="950" b="0" i="0">
                <a:solidFill>
                  <a:srgbClr val="1E293B"/>
                </a:solidFill>
                <a:latin typeface="Calibri"/>
              </a:rPr>
              <a:t>20 backend modules, 95 REST endpoints,
17 screens, ~18,650 lines of code</a:t>
            </a:r>
          </a:p>
        </p:txBody>
      </p:sp>
      <p:sp>
        <p:nvSpPr>
          <p:cNvPr id="12" name="Rounded Rectangle 11"/>
          <p:cNvSpPr/>
          <p:nvPr/>
        </p:nvSpPr>
        <p:spPr>
          <a:xfrm>
            <a:off x="3310128" y="2084831"/>
            <a:ext cx="2743200" cy="1371600"/>
          </a:xfrm>
          <a:prstGeom prst="roundRect">
            <a:avLst/>
          </a:prstGeom>
          <a:solidFill>
            <a:srgbClr val="FFFFFF"/>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3310128" y="2084831"/>
            <a:ext cx="2743200" cy="384048"/>
          </a:xfrm>
          <a:prstGeom prst="round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401568" y="2103120"/>
            <a:ext cx="2560320" cy="34747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spcBef>
                <a:spcPts val="0"/>
              </a:spcBef>
              <a:spcAft>
                <a:spcPts val="0"/>
              </a:spcAft>
            </a:pPr>
            <a:r>
              <a:rPr sz="1100" b="1" i="0">
                <a:solidFill>
                  <a:srgbClr val="FFFFFF"/>
                </a:solidFill>
                <a:latin typeface="Calibri"/>
              </a:rPr>
              <a:t>WORKING</a:t>
            </a:r>
          </a:p>
        </p:txBody>
      </p:sp>
      <p:sp>
        <p:nvSpPr>
          <p:cNvPr id="15" name="Rectangle 14"/>
          <p:cNvSpPr/>
          <p:nvPr/>
        </p:nvSpPr>
        <p:spPr>
          <a:xfrm>
            <a:off x="3419856" y="2523744"/>
            <a:ext cx="2523744" cy="87782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spcBef>
                <a:spcPts val="0"/>
              </a:spcBef>
              <a:spcAft>
                <a:spcPts val="0"/>
              </a:spcAft>
            </a:pPr>
            <a:r>
              <a:rPr sz="950" b="0" i="0">
                <a:solidFill>
                  <a:srgbClr val="1E293B"/>
                </a:solidFill>
                <a:latin typeface="Calibri"/>
              </a:rPr>
              <a:t>End-to-end flow runs: register → join dept →
assign task → approve → report</a:t>
            </a:r>
          </a:p>
        </p:txBody>
      </p:sp>
      <p:sp>
        <p:nvSpPr>
          <p:cNvPr id="16" name="Rounded Rectangle 15"/>
          <p:cNvSpPr/>
          <p:nvPr/>
        </p:nvSpPr>
        <p:spPr>
          <a:xfrm>
            <a:off x="6208776" y="2084831"/>
            <a:ext cx="2743200" cy="1371600"/>
          </a:xfrm>
          <a:prstGeom prst="roundRect">
            <a:avLst/>
          </a:prstGeom>
          <a:solidFill>
            <a:srgbClr val="FFFFFF"/>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6208776" y="2084831"/>
            <a:ext cx="2743200" cy="384048"/>
          </a:xfrm>
          <a:prstGeom prst="round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300216" y="2103120"/>
            <a:ext cx="2560320" cy="34747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spcBef>
                <a:spcPts val="0"/>
              </a:spcBef>
              <a:spcAft>
                <a:spcPts val="0"/>
              </a:spcAft>
            </a:pPr>
            <a:r>
              <a:rPr sz="1100" b="1" i="0">
                <a:solidFill>
                  <a:srgbClr val="FFFFFF"/>
                </a:solidFill>
                <a:latin typeface="Calibri"/>
              </a:rPr>
              <a:t>INTELLIGENT</a:t>
            </a:r>
          </a:p>
        </p:txBody>
      </p:sp>
      <p:sp>
        <p:nvSpPr>
          <p:cNvPr id="19" name="Rectangle 18"/>
          <p:cNvSpPr/>
          <p:nvPr/>
        </p:nvSpPr>
        <p:spPr>
          <a:xfrm>
            <a:off x="6318504" y="2523744"/>
            <a:ext cx="2523744" cy="87782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spcBef>
                <a:spcPts val="0"/>
              </a:spcBef>
              <a:spcAft>
                <a:spcPts val="0"/>
              </a:spcAft>
            </a:pPr>
            <a:r>
              <a:rPr sz="950" b="0" i="0">
                <a:solidFill>
                  <a:srgbClr val="1E293B"/>
                </a:solidFill>
                <a:latin typeface="Calibri"/>
              </a:rPr>
              <a:t>Gemini assistant, deadline-risk engine and
AI academic-calendar parsing</a:t>
            </a:r>
          </a:p>
        </p:txBody>
      </p:sp>
      <p:sp>
        <p:nvSpPr>
          <p:cNvPr id="20" name="Rounded Rectangle 19"/>
          <p:cNvSpPr/>
          <p:nvPr/>
        </p:nvSpPr>
        <p:spPr>
          <a:xfrm>
            <a:off x="9107424" y="2084831"/>
            <a:ext cx="2743200" cy="1371600"/>
          </a:xfrm>
          <a:prstGeom prst="roundRect">
            <a:avLst/>
          </a:prstGeom>
          <a:solidFill>
            <a:srgbClr val="FFFFFF"/>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9107424" y="2084831"/>
            <a:ext cx="2743200" cy="384048"/>
          </a:xfrm>
          <a:prstGeom prst="round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9198864" y="2103120"/>
            <a:ext cx="2560320" cy="34747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spcBef>
                <a:spcPts val="0"/>
              </a:spcBef>
              <a:spcAft>
                <a:spcPts val="0"/>
              </a:spcAft>
            </a:pPr>
            <a:r>
              <a:rPr sz="1100" b="1" i="0">
                <a:solidFill>
                  <a:srgbClr val="FFFFFF"/>
                </a:solidFill>
                <a:latin typeface="Calibri"/>
              </a:rPr>
              <a:t>PRACTICAL</a:t>
            </a:r>
          </a:p>
        </p:txBody>
      </p:sp>
      <p:sp>
        <p:nvSpPr>
          <p:cNvPr id="23" name="Rectangle 22"/>
          <p:cNvSpPr/>
          <p:nvPr/>
        </p:nvSpPr>
        <p:spPr>
          <a:xfrm>
            <a:off x="9217152" y="2523744"/>
            <a:ext cx="2523744" cy="87782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spcBef>
                <a:spcPts val="0"/>
              </a:spcBef>
              <a:spcAft>
                <a:spcPts val="0"/>
              </a:spcAft>
            </a:pPr>
            <a:r>
              <a:rPr sz="950" b="0" i="0">
                <a:solidFill>
                  <a:srgbClr val="1E293B"/>
                </a:solidFill>
                <a:latin typeface="Calibri"/>
              </a:rPr>
              <a:t>Free stack, browser-based, mobile friendly,
role-based and deployment ready</a:t>
            </a:r>
          </a:p>
        </p:txBody>
      </p:sp>
      <p:sp>
        <p:nvSpPr>
          <p:cNvPr id="24" name="Rounded Rectangle 23"/>
          <p:cNvSpPr/>
          <p:nvPr/>
        </p:nvSpPr>
        <p:spPr>
          <a:xfrm>
            <a:off x="411480" y="3611880"/>
            <a:ext cx="5806440" cy="2084831"/>
          </a:xfrm>
          <a:prstGeom prst="roundRect">
            <a:avLst/>
          </a:prstGeom>
          <a:solidFill>
            <a:srgbClr val="FFFFFF"/>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411480" y="3611880"/>
            <a:ext cx="77724" cy="2084831"/>
          </a:xfrm>
          <a:prstGeom prst="round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12648" y="3703320"/>
            <a:ext cx="5422392" cy="32918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27432" bIns="27432"/>
          <a:lstStyle/>
          <a:p>
            <a:pPr algn="l">
              <a:spcBef>
                <a:spcPts val="0"/>
              </a:spcBef>
              <a:spcAft>
                <a:spcPts val="0"/>
              </a:spcAft>
            </a:pPr>
            <a:r>
              <a:rPr sz="1300" b="1" i="0">
                <a:solidFill>
                  <a:srgbClr val="0B1E3B"/>
                </a:solidFill>
                <a:latin typeface="Calibri"/>
              </a:rPr>
              <a:t>Future Scope</a:t>
            </a:r>
          </a:p>
        </p:txBody>
      </p:sp>
      <p:sp>
        <p:nvSpPr>
          <p:cNvPr id="27" name="Rectangle 26"/>
          <p:cNvSpPr/>
          <p:nvPr/>
        </p:nvSpPr>
        <p:spPr>
          <a:xfrm>
            <a:off x="612648" y="4069080"/>
            <a:ext cx="5404103" cy="1517903"/>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27432" bIns="27432"/>
          <a:lstStyle/>
          <a:p>
            <a:pPr algn="l">
              <a:spcAft>
                <a:spcPts val="400"/>
              </a:spcAft>
            </a:pPr>
            <a:r>
              <a:rPr sz="1050" b="1">
                <a:solidFill>
                  <a:srgbClr val="F59E0B"/>
                </a:solidFill>
                <a:latin typeface="Calibri"/>
              </a:rPr>
              <a:t>▪  </a:t>
            </a:r>
            <a:r>
              <a:rPr sz="1050" b="0">
                <a:solidFill>
                  <a:srgbClr val="1E293B"/>
                </a:solidFill>
                <a:latin typeface="Calibri"/>
              </a:rPr>
              <a:t>Android / iOS mobile app with push notifications</a:t>
            </a:r>
          </a:p>
          <a:p>
            <a:pPr algn="l">
              <a:spcAft>
                <a:spcPts val="400"/>
              </a:spcAft>
            </a:pPr>
            <a:r>
              <a:rPr sz="1050" b="1">
                <a:solidFill>
                  <a:srgbClr val="F59E0B"/>
                </a:solidFill>
                <a:latin typeface="Calibri"/>
              </a:rPr>
              <a:t>▪  </a:t>
            </a:r>
            <a:r>
              <a:rPr sz="1050" b="0">
                <a:solidFill>
                  <a:srgbClr val="1E293B"/>
                </a:solidFill>
                <a:latin typeface="Calibri"/>
              </a:rPr>
              <a:t>Direct export into NAAC &amp; NBA report templates</a:t>
            </a:r>
          </a:p>
          <a:p>
            <a:pPr algn="l">
              <a:spcAft>
                <a:spcPts val="400"/>
              </a:spcAft>
            </a:pPr>
            <a:r>
              <a:rPr sz="1050" b="1">
                <a:solidFill>
                  <a:srgbClr val="F59E0B"/>
                </a:solidFill>
                <a:latin typeface="Calibri"/>
              </a:rPr>
              <a:t>▪  </a:t>
            </a:r>
            <a:r>
              <a:rPr sz="1050" b="0">
                <a:solidFill>
                  <a:srgbClr val="1E293B"/>
                </a:solidFill>
                <a:latin typeface="Calibri"/>
              </a:rPr>
              <a:t>Timetable and attendance system integration</a:t>
            </a:r>
          </a:p>
          <a:p>
            <a:pPr algn="l">
              <a:spcAft>
                <a:spcPts val="400"/>
              </a:spcAft>
            </a:pPr>
            <a:r>
              <a:rPr sz="1050" b="1">
                <a:solidFill>
                  <a:srgbClr val="F59E0B"/>
                </a:solidFill>
                <a:latin typeface="Calibri"/>
              </a:rPr>
              <a:t>▪  </a:t>
            </a:r>
            <a:r>
              <a:rPr sz="1050" b="0">
                <a:solidFill>
                  <a:srgbClr val="1E293B"/>
                </a:solidFill>
                <a:latin typeface="Calibri"/>
              </a:rPr>
              <a:t>Multi-department and multi-college rollout</a:t>
            </a:r>
          </a:p>
          <a:p>
            <a:pPr algn="l">
              <a:spcAft>
                <a:spcPts val="400"/>
              </a:spcAft>
            </a:pPr>
            <a:r>
              <a:rPr sz="1050" b="1">
                <a:solidFill>
                  <a:srgbClr val="F59E0B"/>
                </a:solidFill>
                <a:latin typeface="Calibri"/>
              </a:rPr>
              <a:t>▪  </a:t>
            </a:r>
            <a:r>
              <a:rPr sz="1050" b="0">
                <a:solidFill>
                  <a:srgbClr val="1E293B"/>
                </a:solidFill>
                <a:latin typeface="Calibri"/>
              </a:rPr>
              <a:t>Formal unit testing, load testing and security audit</a:t>
            </a:r>
          </a:p>
          <a:p>
            <a:pPr algn="l">
              <a:spcAft>
                <a:spcPts val="400"/>
              </a:spcAft>
            </a:pPr>
            <a:r>
              <a:rPr sz="1050" b="1">
                <a:solidFill>
                  <a:srgbClr val="F59E0B"/>
                </a:solidFill>
                <a:latin typeface="Calibri"/>
              </a:rPr>
              <a:t>▪  </a:t>
            </a:r>
            <a:r>
              <a:rPr sz="1050" b="0">
                <a:solidFill>
                  <a:srgbClr val="1E293B"/>
                </a:solidFill>
                <a:latin typeface="Calibri"/>
              </a:rPr>
              <a:t>Offline mode with automatic sync when back online</a:t>
            </a:r>
          </a:p>
        </p:txBody>
      </p:sp>
      <p:sp>
        <p:nvSpPr>
          <p:cNvPr id="28" name="Rounded Rectangle 27"/>
          <p:cNvSpPr/>
          <p:nvPr/>
        </p:nvSpPr>
        <p:spPr>
          <a:xfrm>
            <a:off x="6428232" y="3611880"/>
            <a:ext cx="5349240" cy="2084831"/>
          </a:xfrm>
          <a:prstGeom prst="roundRect">
            <a:avLst/>
          </a:prstGeom>
          <a:solidFill>
            <a:srgbClr val="FFFFFF"/>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ounded Rectangle 28"/>
          <p:cNvSpPr/>
          <p:nvPr/>
        </p:nvSpPr>
        <p:spPr>
          <a:xfrm>
            <a:off x="6428232" y="3611880"/>
            <a:ext cx="77724" cy="2084831"/>
          </a:xfrm>
          <a:prstGeom prst="roundRect">
            <a:avLst/>
          </a:prstGeom>
          <a:solidFill>
            <a:srgbClr val="4F46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6629400" y="3703320"/>
            <a:ext cx="4965192" cy="32918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27432" bIns="27432"/>
          <a:lstStyle/>
          <a:p>
            <a:pPr algn="l">
              <a:spcBef>
                <a:spcPts val="0"/>
              </a:spcBef>
              <a:spcAft>
                <a:spcPts val="0"/>
              </a:spcAft>
            </a:pPr>
            <a:r>
              <a:rPr sz="1300" b="1" i="0">
                <a:solidFill>
                  <a:srgbClr val="0B1E3B"/>
                </a:solidFill>
                <a:latin typeface="Calibri"/>
              </a:rPr>
              <a:t>What we learned</a:t>
            </a:r>
          </a:p>
        </p:txBody>
      </p:sp>
      <p:sp>
        <p:nvSpPr>
          <p:cNvPr id="31" name="Rectangle 30"/>
          <p:cNvSpPr/>
          <p:nvPr/>
        </p:nvSpPr>
        <p:spPr>
          <a:xfrm>
            <a:off x="6629400" y="4069080"/>
            <a:ext cx="4946903" cy="1517903"/>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27432" bIns="27432"/>
          <a:lstStyle/>
          <a:p>
            <a:pPr algn="l">
              <a:spcAft>
                <a:spcPts val="600"/>
              </a:spcAft>
            </a:pPr>
            <a:r>
              <a:rPr sz="1050" b="1">
                <a:solidFill>
                  <a:srgbClr val="4F46E5"/>
                </a:solidFill>
                <a:latin typeface="Calibri"/>
              </a:rPr>
              <a:t>▪  </a:t>
            </a:r>
            <a:r>
              <a:rPr sz="1050" b="0">
                <a:solidFill>
                  <a:srgbClr val="1E293B"/>
                </a:solidFill>
                <a:latin typeface="Calibri"/>
              </a:rPr>
              <a:t>Designing a real REST API with role-based security</a:t>
            </a:r>
          </a:p>
          <a:p>
            <a:pPr algn="l">
              <a:spcAft>
                <a:spcPts val="600"/>
              </a:spcAft>
            </a:pPr>
            <a:r>
              <a:rPr sz="1050" b="1">
                <a:solidFill>
                  <a:srgbClr val="4F46E5"/>
                </a:solidFill>
                <a:latin typeface="Calibri"/>
              </a:rPr>
              <a:t>▪  </a:t>
            </a:r>
            <a:r>
              <a:rPr sz="1050" b="0">
                <a:solidFill>
                  <a:srgbClr val="1E293B"/>
                </a:solidFill>
                <a:latin typeface="Calibri"/>
              </a:rPr>
              <a:t>Working with a NoSQL database and cloud services</a:t>
            </a:r>
          </a:p>
          <a:p>
            <a:pPr algn="l">
              <a:spcAft>
                <a:spcPts val="600"/>
              </a:spcAft>
            </a:pPr>
            <a:r>
              <a:rPr sz="1050" b="1">
                <a:solidFill>
                  <a:srgbClr val="4F46E5"/>
                </a:solidFill>
                <a:latin typeface="Calibri"/>
              </a:rPr>
              <a:t>▪  </a:t>
            </a:r>
            <a:r>
              <a:rPr sz="1050" b="0">
                <a:solidFill>
                  <a:srgbClr val="1E293B"/>
                </a:solidFill>
                <a:latin typeface="Calibri"/>
              </a:rPr>
              <a:t>Integrating a live LLM with safe fallback handling</a:t>
            </a:r>
          </a:p>
          <a:p>
            <a:pPr algn="l">
              <a:spcAft>
                <a:spcPts val="600"/>
              </a:spcAft>
            </a:pPr>
            <a:r>
              <a:rPr sz="1050" b="1">
                <a:solidFill>
                  <a:srgbClr val="4F46E5"/>
                </a:solidFill>
                <a:latin typeface="Calibri"/>
              </a:rPr>
              <a:t>▪  </a:t>
            </a:r>
            <a:r>
              <a:rPr sz="1050" b="0">
                <a:solidFill>
                  <a:srgbClr val="1E293B"/>
                </a:solidFill>
                <a:latin typeface="Calibri"/>
              </a:rPr>
              <a:t>Building a responsive React + TypeScript front end</a:t>
            </a:r>
          </a:p>
          <a:p>
            <a:pPr algn="l">
              <a:spcAft>
                <a:spcPts val="600"/>
              </a:spcAft>
            </a:pPr>
            <a:r>
              <a:rPr sz="1050" b="1">
                <a:solidFill>
                  <a:srgbClr val="4F46E5"/>
                </a:solidFill>
                <a:latin typeface="Calibri"/>
              </a:rPr>
              <a:t>▪  </a:t>
            </a:r>
            <a:r>
              <a:rPr sz="1050" b="0">
                <a:solidFill>
                  <a:srgbClr val="1E293B"/>
                </a:solidFill>
                <a:latin typeface="Calibri"/>
              </a:rPr>
              <a:t>Turning a real institutional problem into software</a:t>
            </a:r>
          </a:p>
        </p:txBody>
      </p:sp>
      <p:sp>
        <p:nvSpPr>
          <p:cNvPr id="32" name="Rounded Rectangle 31"/>
          <p:cNvSpPr/>
          <p:nvPr/>
        </p:nvSpPr>
        <p:spPr>
          <a:xfrm>
            <a:off x="411480" y="5806440"/>
            <a:ext cx="11365992" cy="548640"/>
          </a:xfrm>
          <a:prstGeom prst="roundRect">
            <a:avLst/>
          </a:prstGeom>
          <a:solidFill>
            <a:srgbClr val="0B1E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548640" y="5824728"/>
            <a:ext cx="11091672" cy="5120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spcAft>
                <a:spcPts val="0"/>
              </a:spcAft>
            </a:pPr>
            <a:r>
              <a:rPr sz="1500" b="1">
                <a:solidFill>
                  <a:srgbClr val="F59E0B"/>
                </a:solidFill>
                <a:latin typeface="Calibri"/>
              </a:rPr>
              <a:t>Thank You</a:t>
            </a:r>
            <a:r>
              <a:rPr sz="1200" b="0">
                <a:solidFill>
                  <a:srgbClr val="FFFFFF"/>
                </a:solidFill>
                <a:latin typeface="Calibri"/>
              </a:rPr>
              <a:t>        Questions are welcome.        </a:t>
            </a:r>
            <a:r>
              <a:rPr sz="1100" b="0">
                <a:solidFill>
                  <a:srgbClr val="06B6D4"/>
                </a:solidFill>
                <a:latin typeface="Calibri"/>
              </a:rPr>
              <a:t>github.com/Atulgupta07/Hiera_Sync</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