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reviewers. I present HieraSync AI, our major project: a smart academic workflow and event management system built for our department. This Review Seminar-I covers our progress so far — the problem, design, technology and the modules already implemented and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will walk through ten sections, from the problem to design, technology, working modules, advantages, references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HieraSync is a role-aware web platform for our department. It brings tasks, approvals, events and analytics together, with AI assistance for prioritization and risk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Departments still run on paper and chat apps. That causes lost approvals, invisible workloads and painful manual reporting. HieraSync digitizes the hierarchy itself. Recent 2025-26 studies back this: AI agents cut admin workload by up to sixty percent in pilots.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formal problem statement: departments lack a unified role-aware system for academic work. Four concrete pains follow from this — fragmentation, no audit trail, slow approvals and zero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measurable objectives guide the build — workspace, approvals, automation, AI and analytics. Scope is department-level for Review-I, with institute scale-up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surveyed five categories. Each solves part of the problem, but none combines academic hierarchy, approvals, analytics and AI in one low-cost system. That is our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Recent 2025-26 research supports our direction: ERPs help but are costly; AI pilots cut admin workload up to sixty percent; but full automation without support can overload staff — so our novelty is faculty workflows plus human-in-the-loop approvals plus zero-cost AI risk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followed agile vertical slices. The design is a secure three-tier system with a router-per-module API and heuristic AI that needs no expensive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tiers: a React single-page app, a FastAPI REST layer with seventeen routers and JWT role checks, and Firebase for data, auth and storage. A scheduler fires daily reminders.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context diagram shows HieraSync as one process with four external entities: faculty, HOD, principal-admin, and cloud services exchanging tasks, approvals and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one decomposes the system into five processes and four data stores. Authentication feeds task tracking, which feeds approvals, notifications, and finally AI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actors interact with twelve use cases. Admin manages users, faculty executes tasks, HOD assigns and reviews, and the principal gives final approvals and views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Firestore holds eight collections. Departments own users, users own tasks, tasks carry comments and attachments, and approvals chain requester to HOD to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request passes a two-stage state machine: pending, HOD-approved, then principal-approved — or rejected with a recorded reason. Each transition notifies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stack is modern and pragmatic: React with TypeScript, FastAPI for a documented REST API, and Firebase as a serverless backend — minimizing ops cost while staying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modules are implemented. Six are essentially complete; AI, notifications and analytics are at eighty-plus percent and under active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Tasks support Kanban, subtasks and attachments. On top sits our heuristic risk engine scoring every task zero to one hundred with explainable factors — no costly LLM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Approvals, analytics and notifications close the loop: decisions are tracked, performance is measured, and nobody misses an update thanks to scheduled reminders.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payoff: one accountable workspace, far faster approvals, proactive alerts, leadership dashboards — at serverless cost with strong access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our department, the system fits any academic unit and accreditation workflows. Planned extensions include mobile support, ML prediction and multi-college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of today, about ninety percent of core scope is implemented and visible in our repository. Hardening and deployment lead to Review Two, then final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references combine three peer-reviewed works on college ERP systems with official documentation of our stack and our own public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HieraSync delivers every objective: unified workspace, auditable approvals, automation, AI foresight and analytics — all running live for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panel, offer a live demo: login as HOD, create a task, approve a request, show AI risk and analytics.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slide. The sequence shows a request flowing from the faculty browser to FastAPI to Firestore, then HOD and principal approvals, each persisting stage changes and fanning out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slide. Tasks move through four states with an overdue branch. The risk formula is exactly as implemented: deadline pressure plus progress gap plus priority plus workload, clamped and banded into three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slide. Nine functional test cases cover login, role guards, tasks, approvals, risk scoring, scheduler and export. Run each live before the seminar and keep this table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slide. Use this when asked what is novel: no alternative covers academic hierarchy, two-stage approvals, free AI risk alerts and department analytics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slide. The Gantt shows design to final demo across July to December, with Review One marked today, plus the target cloud deployment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43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3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85800"/>
            <a:ext cx="6035040" cy="457200"/>
          </a:xfrm>
          <a:prstGeom prst="roundRect">
            <a:avLst/>
          </a:prstGeom>
          <a:noFill/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REVIEW SEMINAR – I  •  VII SEMESTER  •  MAJOR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7498079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HieraSync AI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F59E0B"/>
                </a:solidFill>
                <a:latin typeface="Calibri"/>
              </a:rPr>
              <a:t>Smart Academic Workflow &amp; Event Management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D2FE"/>
                </a:solidFill>
                <a:latin typeface="Calibri"/>
              </a:rPr>
              <a:t>One role-aware workspace for tasks, approvals, events, notifications, analytics and AI assistance.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77639"/>
            <a:ext cx="73152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Department of Computer Science &amp; Engineering (Artificial Intelligence &amp; Machine Learning)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S. B. Jain Institute of Technology, Management &amp; Research, Nagpur  •  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29200"/>
            <a:ext cx="7223760" cy="475488"/>
          </a:xfrm>
          <a:prstGeom prst="roundRect">
            <a:avLst/>
          </a:prstGeom>
          <a:solidFill>
            <a:srgbClr val="143363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065776"/>
            <a:ext cx="685800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6B6D4"/>
                </a:solidFill>
                <a:latin typeface="Calibri"/>
              </a:rPr>
              <a:t>PRESENTED BY   </a:t>
            </a:r>
            <a:r>
              <a:rPr sz="1150" b="0">
                <a:solidFill>
                  <a:srgbClr val="FFFFFF"/>
                </a:solidFill>
                <a:latin typeface="Calibri"/>
              </a:rPr>
              <a:t>[Your Name]  •  Roll No: [__]  •  VII Sem, CSE (AI &amp; ML)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596128"/>
            <a:ext cx="7223760" cy="475488"/>
          </a:xfrm>
          <a:prstGeom prst="roundRect">
            <a:avLst/>
          </a:prstGeom>
          <a:solidFill>
            <a:srgbClr val="143363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5632704"/>
            <a:ext cx="685800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6B6D4"/>
                </a:solidFill>
                <a:latin typeface="Calibri"/>
              </a:rPr>
              <a:t>GUIDED BY   </a:t>
            </a:r>
            <a:r>
              <a:rPr sz="1150" b="0">
                <a:solidFill>
                  <a:srgbClr val="FFFFFF"/>
                </a:solidFill>
                <a:latin typeface="Calibri"/>
              </a:rPr>
              <a:t>[Guide Name], [Designation], Dept. of CSE (AI &amp; ML)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63056"/>
            <a:ext cx="7223760" cy="475488"/>
          </a:xfrm>
          <a:prstGeom prst="roundRect">
            <a:avLst/>
          </a:prstGeom>
          <a:solidFill>
            <a:srgbClr val="143363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6199632"/>
            <a:ext cx="685800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6B6D4"/>
                </a:solidFill>
                <a:latin typeface="Calibri"/>
              </a:rPr>
              <a:t>PROJECT REPOSITORY   </a:t>
            </a:r>
            <a:r>
              <a:rPr sz="1150" b="0">
                <a:solidFill>
                  <a:srgbClr val="FFFFFF"/>
                </a:solidFill>
                <a:latin typeface="Calibri"/>
              </a:rPr>
              <a:t>github.com / Parthwadekar40 / Hiera_Sync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371600"/>
            <a:ext cx="31546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36576" b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AT A GLANCE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B1E3B"/>
                </a:solidFill>
                <a:latin typeface="Calibri"/>
              </a:rPr>
              <a:t>17+  </a:t>
            </a:r>
            <a:r>
              <a:rPr sz="1100" b="0">
                <a:solidFill>
                  <a:srgbClr val="64748B"/>
                </a:solidFill>
                <a:latin typeface="Calibri"/>
              </a:rPr>
              <a:t>REST API modules (FastAPI)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B1E3B"/>
                </a:solidFill>
                <a:latin typeface="Calibri"/>
              </a:rPr>
              <a:t>13+  </a:t>
            </a:r>
            <a:r>
              <a:rPr sz="1100" b="0">
                <a:solidFill>
                  <a:srgbClr val="64748B"/>
                </a:solidFill>
                <a:latin typeface="Calibri"/>
              </a:rPr>
              <a:t>Web pages (React + TS)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B1E3B"/>
                </a:solidFill>
                <a:latin typeface="Calibri"/>
              </a:rPr>
              <a:t>10  </a:t>
            </a:r>
            <a:r>
              <a:rPr sz="1100" b="0">
                <a:solidFill>
                  <a:srgbClr val="64748B"/>
                </a:solidFill>
                <a:latin typeface="Calibri"/>
              </a:rPr>
              <a:t>Role-based user roles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B1E3B"/>
                </a:solidFill>
                <a:latin typeface="Calibri"/>
              </a:rPr>
              <a:t>2-stage  </a:t>
            </a:r>
            <a:r>
              <a:rPr sz="1100" b="0">
                <a:solidFill>
                  <a:srgbClr val="64748B"/>
                </a:solidFill>
                <a:latin typeface="Calibri"/>
              </a:rPr>
              <a:t>HOD → Principal approvals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0B1E3B"/>
                </a:solidFill>
                <a:latin typeface="Calibri"/>
              </a:rPr>
              <a:t>AI  </a:t>
            </a:r>
            <a:r>
              <a:rPr sz="1100" b="0">
                <a:solidFill>
                  <a:srgbClr val="64748B"/>
                </a:solidFill>
                <a:latin typeface="Calibri"/>
              </a:rPr>
              <a:t>Risk engine + chat +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FLOW OF PRESENTATION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Presentation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8132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Title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81328"/>
            <a:ext cx="212140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61488" y="148132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481328"/>
            <a:ext cx="2121408" cy="566928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1496" y="148132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Problem &amp;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1481328"/>
            <a:ext cx="212140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61503" y="148132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Literature Survey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3" y="1481328"/>
            <a:ext cx="2121408" cy="566928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11511" y="148132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System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1511" y="1481328"/>
            <a:ext cx="212140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363016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Technology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30168"/>
            <a:ext cx="2121408" cy="566928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61488" y="363016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Developed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61488" y="3630168"/>
            <a:ext cx="212140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11496" y="363016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Advantages &amp; Uses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11496" y="3630168"/>
            <a:ext cx="2121408" cy="566928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61503" y="363016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References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3" y="3630168"/>
            <a:ext cx="212140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11511" y="3630168"/>
            <a:ext cx="212140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B"/>
                </a:solidFill>
                <a:latin typeface="Calibri"/>
              </a:rPr>
              <a:t>Conclusion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11511" y="3630168"/>
            <a:ext cx="2121408" cy="566928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" y="5870448"/>
            <a:ext cx="11365992" cy="4572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B"/>
                </a:solidFill>
                <a:latin typeface="Calibri"/>
              </a:rPr>
              <a:t>Review Seminar – I reflects ACTUAL implementation progress — every module shown today is designed, coded and running in our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1 · INTRODUCTION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Introduction — What is HieraSync?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A full-stack web platform </a:t>
            </a:r>
            <a:r>
              <a:rPr sz="1300" b="0">
                <a:solidFill>
                  <a:srgbClr val="1E293B"/>
                </a:solidFill>
                <a:latin typeface="Calibri"/>
              </a:rPr>
              <a:t>that centralizes departmental work — tasks, events, approvals, notifications, goals and reports — in one place.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Role-aware by design: </a:t>
            </a:r>
            <a:r>
              <a:rPr sz="1300" b="0">
                <a:solidFill>
                  <a:srgbClr val="1E293B"/>
                </a:solidFill>
                <a:latin typeface="Calibri"/>
              </a:rPr>
              <a:t>Principal → HOD → Faculty → Staff/Students, with 10 distinct roles and access rules.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Built for CSE (AI &amp; ML), SBJIT Nagpur, </a:t>
            </a:r>
            <a:r>
              <a:rPr sz="1300" b="0">
                <a:solidFill>
                  <a:srgbClr val="1E293B"/>
                </a:solidFill>
                <a:latin typeface="Calibri"/>
              </a:rPr>
              <a:t>and generalizable to any department or institute.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Real engineering scale: </a:t>
            </a:r>
            <a:r>
              <a:rPr sz="1300" b="0">
                <a:solidFill>
                  <a:srgbClr val="1E293B"/>
                </a:solidFill>
                <a:latin typeface="Calibri"/>
              </a:rPr>
              <a:t>17 REST API modules, 13+ UI pages, JWT security, scheduled reminders and an AI assistant.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One-line value: </a:t>
            </a:r>
            <a:r>
              <a:rPr sz="1300" b="0">
                <a:solidFill>
                  <a:srgbClr val="1E293B"/>
                </a:solidFill>
                <a:latin typeface="Calibri"/>
              </a:rPr>
              <a:t>it replaces registers, scattered WhatsApp threads and Excel sheets with a single accountable workspace.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173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Domain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Web-based Academic Workflow Automation + Applied AI (heuristic risk scoring, summarization, report generation).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82296" cy="13716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297180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Users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Principal, HOD, Faculty, TAs, Lab Assistants, Staff, Students &amp; Student Representatives.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971800"/>
            <a:ext cx="82296" cy="13716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452628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Cloud-ready: React SPA + FastAPI services + Firebase (Firestore, Auth, Storage).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26280"/>
            <a:ext cx="82296" cy="1371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1 · INTRODUCTION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268833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Approvals get lost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Paper forms and chat messages have no trail — requests stall for days with no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82296" cy="20116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28416" y="1463040"/>
            <a:ext cx="268833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No workload 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HODs cannot see who is overloaded; work distribution is guesswork.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463040"/>
            <a:ext cx="82296" cy="2011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268833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Manual reporting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Monthly/NAAC reports are assembled by hand from Excel sheets — slow and error-prone.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63040"/>
            <a:ext cx="82296" cy="20116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62288" y="1463040"/>
            <a:ext cx="268833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Missed deadlines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No reminders, no risk signals — tasks slip until it is too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1463040"/>
            <a:ext cx="82296" cy="20116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129284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Motivation: </a:t>
            </a:r>
            <a:r>
              <a:rPr sz="1200" b="0">
                <a:solidFill>
                  <a:srgbClr val="1E293B"/>
                </a:solidFill>
                <a:latin typeface="Calibri"/>
              </a:rPr>
              <a:t>digitize the hierarchy itself — every request flows through the correct authority with timestamps, comments and status.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Opportunity: </a:t>
            </a:r>
            <a:r>
              <a:rPr sz="1200" b="0">
                <a:solidFill>
                  <a:srgbClr val="1E293B"/>
                </a:solidFill>
                <a:latin typeface="Calibri"/>
              </a:rPr>
              <a:t>cloud + AI can automate prioritization, reminders and delay-risk alerts at near-zero operational cost.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Outcome: </a:t>
            </a:r>
            <a:r>
              <a:rPr sz="1200" b="0">
                <a:solidFill>
                  <a:srgbClr val="1E293B"/>
                </a:solidFill>
                <a:latin typeface="Calibri"/>
              </a:rPr>
              <a:t>faster decisions, fair workload distribution and accreditation-ready digital records (NAAC/NBA documentation).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32120"/>
            <a:ext cx="11365992" cy="54864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B"/>
                </a:solidFill>
                <a:latin typeface="Calibri"/>
              </a:rPr>
              <a:t>2025–26 evidence: a UNSW pilot cut admin workload 60% with AI agents  •  2026 surveys: Asana AI leads risk detection but paywalls AI at $10.99+/user/mo — academic teams need a low-cost alternative.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2 · PROBLEM STATEMENT &amp; OBJECTIVES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11365992" cy="137160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FFFFFF"/>
                </a:solidFill>
                <a:latin typeface="Calibri"/>
              </a:rPr>
              <a:t>“ Academic departments lack a unified, role-aware digital system to assign, track, approve and analyse teaching and administrative work — causing delays, opacity and overload. 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108960"/>
            <a:ext cx="268833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E3B"/>
                </a:solidFill>
                <a:latin typeface="Calibri"/>
              </a:rPr>
              <a:t>Fragmented
communication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Tasks live across WhatsApp, mail and memory — nothing is searchable or tracked.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08960"/>
            <a:ext cx="82296" cy="2651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28416" y="3108960"/>
            <a:ext cx="268833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E3B"/>
                </a:solidFill>
                <a:latin typeface="Calibri"/>
              </a:rPr>
              <a:t>No accountability trail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Who approved what, and when? Paper leaves no audit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3108960"/>
            <a:ext cx="82296" cy="2651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5352" y="3108960"/>
            <a:ext cx="268833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E3B"/>
                </a:solidFill>
                <a:latin typeface="Calibri"/>
              </a:rPr>
              <a:t>Approval bottleneck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Single-channel, manual HOD → Principal routing takes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108960"/>
            <a:ext cx="82296" cy="2651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62288" y="3108960"/>
            <a:ext cx="2688336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B1E3B"/>
                </a:solidFill>
                <a:latin typeface="Calibri"/>
              </a:rPr>
              <a:t>Zero data insight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No analytics on load, delays or performance for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3108960"/>
            <a:ext cx="82296" cy="2651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2 · PROBLEM STATEMENT &amp; OBJECTIVES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527048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27048"/>
            <a:ext cx="47548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417320"/>
            <a:ext cx="69494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E3B"/>
                </a:solidFill>
                <a:latin typeface="Calibri"/>
              </a:rPr>
              <a:t>O1 — Centralized role-based workspace  </a:t>
            </a:r>
            <a:r>
              <a:rPr sz="1200" b="0">
                <a:solidFill>
                  <a:srgbClr val="1E293B"/>
                </a:solidFill>
                <a:latin typeface="Calibri"/>
              </a:rPr>
              <a:t>Tasks, events, approvals, documents, goals and notifications in one secure portal.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423160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47548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313432"/>
            <a:ext cx="69494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E3B"/>
                </a:solidFill>
                <a:latin typeface="Calibri"/>
              </a:rPr>
              <a:t>O2 — Two-stage digital approvals  </a:t>
            </a:r>
            <a:r>
              <a:rPr sz="1200" b="0">
                <a:solidFill>
                  <a:srgbClr val="1E293B"/>
                </a:solidFill>
                <a:latin typeface="Calibri"/>
              </a:rPr>
              <a:t>Structured HOD → Principal workflow with comments, history and status tracking.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319272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19272"/>
            <a:ext cx="47548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209544"/>
            <a:ext cx="69494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E3B"/>
                </a:solidFill>
                <a:latin typeface="Calibri"/>
              </a:rPr>
              <a:t>O3 — Automation of follow-ups  </a:t>
            </a:r>
            <a:r>
              <a:rPr sz="1200" b="0">
                <a:solidFill>
                  <a:srgbClr val="1E293B"/>
                </a:solidFill>
                <a:latin typeface="Calibri"/>
              </a:rPr>
              <a:t>Notification center, scheduled daily reminders and deadline alerts — no manual chasing.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215384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15384"/>
            <a:ext cx="47548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4105656"/>
            <a:ext cx="69494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E3B"/>
                </a:solidFill>
                <a:latin typeface="Calibri"/>
              </a:rPr>
              <a:t>O4 — AI assistance  </a:t>
            </a:r>
            <a:r>
              <a:rPr sz="1200" b="0">
                <a:solidFill>
                  <a:srgbClr val="1E293B"/>
                </a:solidFill>
                <a:latin typeface="Calibri"/>
              </a:rPr>
              <a:t>Deadline-risk prediction, priority scoring, conversational assistant and auto-generated reports.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511149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111496"/>
            <a:ext cx="475488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5001768"/>
            <a:ext cx="69494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B1E3B"/>
                </a:solidFill>
                <a:latin typeface="Calibri"/>
              </a:rPr>
              <a:t>O5 — Analytics &amp; one-click reports  </a:t>
            </a:r>
            <a:r>
              <a:rPr sz="1200" b="0">
                <a:solidFill>
                  <a:srgbClr val="1E293B"/>
                </a:solidFill>
                <a:latin typeface="Calibri"/>
              </a:rPr>
              <a:t>Dashboards, faculty performance views and exportable department summaries.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417320"/>
            <a:ext cx="3246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Scope (Review-I)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Department-level web deployment: CSE (AI &amp; ML). Web-first responsive UI; Firebase cloud backend; heuristic AI (no GPU servers).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417320"/>
            <a:ext cx="82296" cy="2286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886200"/>
            <a:ext cx="3246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Success criteria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All 5 objectives demonstrable live: login as each role → assign → approve → notify → analyse.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886200"/>
            <a:ext cx="82296" cy="2011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3 · LITERATURE SURVEY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Existing Systems — Comparative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417320"/>
          <a:ext cx="1136599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023360"/>
                <a:gridCol w="4599432"/>
              </a:tblGrid>
              <a:tr h="7010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 / Category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Limitations found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Manual registers,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Excel, WhatsApp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Zero cost; familiar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No tracking or audit trail; data loss; zero analytics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Traditional college ERPs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Cover fees / attendance / records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Costly, rigid, weak faculty task-workflows; poor UX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AI PM suites 2026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(Asana, Monday,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ClickUp, Notion AI)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Risk detection, summaries,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workflow automation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AI paywalled $7–20/user/mo;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corporate-generic: no academic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hierarchy or dept. analytics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Google Workspace</a:t>
                      </a:r>
                    </a:p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(Mail, Calendar, Drive)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Good collaboration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Scattered tools; no RBAC workflows or approval audit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Moodle / LMS platforms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Strong learning content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Student-centric; no faculty admin / approval workflows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760720"/>
            <a:ext cx="11365992" cy="5029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Inference (incl. 2026 app surveys): nothing combines academic hierarchy + workflows + approvals + analytics + AI in one low-cost stack — the gap HieraSync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3 · LITERATURE SURVEY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Research Papers &amp; Identified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132320" cy="3657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1E3B"/>
                </a:solidFill>
                <a:latin typeface="Calibri"/>
              </a:rPr>
              <a:t>[1]  IEEE Xplore — “A Detailed Analysis of College ERP Software Systems.” </a:t>
            </a:r>
            <a:r>
              <a:rPr sz="1050" b="0">
                <a:solidFill>
                  <a:srgbClr val="1E293B"/>
                </a:solidFill>
                <a:latin typeface="Calibri"/>
              </a:rPr>
              <a:t>ERPs raise efficiency, but cost/complexity block adoption. → Our low-cost modular cloud stack.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B1E3B"/>
                </a:solidFill>
                <a:latin typeface="Calibri"/>
              </a:rPr>
              <a:t>[2]  IJERT (2026) — Swain et al., modular web-based college ERP. </a:t>
            </a:r>
            <a:r>
              <a:rPr sz="1050" b="0">
                <a:solidFill>
                  <a:srgbClr val="1E293B"/>
                </a:solidFill>
                <a:latin typeface="Calibri"/>
              </a:rPr>
              <a:t>Cuts admin labor; flexible expansion. → Our router-per-module design.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B1E3B"/>
                </a:solidFill>
                <a:latin typeface="Calibri"/>
              </a:rPr>
              <a:t>[3]  Frontiers Educ. (2025) — Khairullah et al., AI in HEI academic + admin processes. </a:t>
            </a:r>
            <a:r>
              <a:rPr sz="1050" b="0">
                <a:solidFill>
                  <a:srgbClr val="1E293B"/>
                </a:solidFill>
                <a:latin typeface="Calibri"/>
              </a:rPr>
              <a:t>AI scheduling, resource mgmt, decision support (Univ. of Murcia case). → Our risk engine + analytics.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B1E3B"/>
                </a:solidFill>
                <a:latin typeface="Calibri"/>
              </a:rPr>
              <a:t>[4]  Frontiers Educ. (2025) — Buele et al., faculty perceptions of AI. </a:t>
            </a:r>
            <a:r>
              <a:rPr sz="1050" b="0">
                <a:solidFill>
                  <a:srgbClr val="1E293B"/>
                </a:solidFill>
                <a:latin typeface="Calibri"/>
              </a:rPr>
              <a:t>AI without support strategies overloads staff. → Human-in-the-loop approvals: AI suggests, humans decide.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4748B"/>
                </a:solidFill>
                <a:latin typeface="Calibri"/>
              </a:rPr>
              <a:t>Also reviewed: AI-agents-in-HE study (60% admin cut, UNSW pilot) · IJARSCT Django ERP (RBAC design) · 2026 AI-PM app surveys (Asana / Monday / ClickUp / Notion).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4290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4F46E5"/>
                </a:solidFill>
                <a:latin typeface="Calibri"/>
              </a:rPr>
              <a:t>GAPS  →  OUR ANSWER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✔ </a:t>
            </a:r>
            <a:r>
              <a:rPr sz="1100" b="0">
                <a:solidFill>
                  <a:srgbClr val="1E293B"/>
                </a:solidFill>
                <a:latin typeface="Calibri"/>
              </a:rPr>
              <a:t>Prior work = student records &amp; fees → we target faculty workflows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✔ </a:t>
            </a:r>
            <a:r>
              <a:rPr sz="1100" b="0">
                <a:solidFill>
                  <a:srgbClr val="1E293B"/>
                </a:solidFill>
                <a:latin typeface="Calibri"/>
              </a:rPr>
              <a:t>AI paywalled $7–20/user/mo → our zero-cost heuristic engine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✔ </a:t>
            </a:r>
            <a:r>
              <a:rPr sz="1100" b="0">
                <a:solidFill>
                  <a:srgbClr val="1E293B"/>
                </a:solidFill>
                <a:latin typeface="Calibri"/>
              </a:rPr>
              <a:t>Full automation risks overload → human-in-the-loop approvals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0B981"/>
                </a:solidFill>
                <a:latin typeface="Calibri"/>
              </a:rPr>
              <a:t>✔ </a:t>
            </a:r>
            <a:r>
              <a:rPr sz="1100" b="0">
                <a:solidFill>
                  <a:srgbClr val="1E293B"/>
                </a:solidFill>
                <a:latin typeface="Calibri"/>
              </a:rPr>
              <a:t>Heavy on-premise ERPs → serverless Firebase, web-only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212080"/>
            <a:ext cx="11365992" cy="50292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Full citations with links are listed in the References section (slide 23).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4 · SYSTEM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Design Approach &amp;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6928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HOW WE BUILT IT</a:t>
            </a: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Agile, module-wise slices: </a:t>
            </a:r>
            <a:r>
              <a:rPr sz="1200" b="0">
                <a:solidFill>
                  <a:srgbClr val="1E293B"/>
                </a:solidFill>
                <a:latin typeface="Calibri"/>
              </a:rPr>
              <a:t>each module = API router + UI page + Firestore model, demoed incrementally.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3-tier architecture: </a:t>
            </a:r>
            <a:r>
              <a:rPr sz="1200" b="0">
                <a:solidFill>
                  <a:srgbClr val="1E293B"/>
                </a:solidFill>
                <a:latin typeface="Calibri"/>
              </a:rPr>
              <a:t>React SPA → FastAPI REST → Firebase backend-as-a-service.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Security-first: </a:t>
            </a:r>
            <a:r>
              <a:rPr sz="1200" b="0">
                <a:solidFill>
                  <a:srgbClr val="1E293B"/>
                </a:solidFill>
                <a:latin typeface="Calibri"/>
              </a:rPr>
              <a:t>Firebase Auth + JWT; role check dependency on every protected endpoint.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Automation layer: </a:t>
            </a:r>
            <a:r>
              <a:rPr sz="1200" b="0">
                <a:solidFill>
                  <a:srgbClr val="1E293B"/>
                </a:solidFill>
                <a:latin typeface="Calibri"/>
              </a:rPr>
              <a:t>APScheduler cron (daily 8 AM reminders) + notification engine.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39496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KEY DESIGN DECISIONS</a:t>
            </a: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Firestore NoSQL </a:t>
            </a:r>
            <a:r>
              <a:rPr sz="1200" b="0">
                <a:solidFill>
                  <a:srgbClr val="1E293B"/>
                </a:solidFill>
                <a:latin typeface="Calibri"/>
              </a:rPr>
              <a:t>— flexible workflow documents, serverless scaling, no DB ops.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Router-per-module API </a:t>
            </a:r>
            <a:r>
              <a:rPr sz="1200" b="0">
                <a:solidFill>
                  <a:srgbClr val="1E293B"/>
                </a:solidFill>
                <a:latin typeface="Calibri"/>
              </a:rPr>
              <a:t>— 17 independent routers; easy to extend without breakage.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Heuristic AI first </a:t>
            </a:r>
            <a:r>
              <a:rPr sz="1200" b="0">
                <a:solidFill>
                  <a:srgbClr val="1E293B"/>
                </a:solidFill>
                <a:latin typeface="Calibri"/>
              </a:rPr>
              <a:t>— deadline-risk scoring without GPU/LLM cost; LLM-ready chat hook.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Audit-friendly </a:t>
            </a:r>
            <a:r>
              <a:rPr sz="1200" b="0">
                <a:solidFill>
                  <a:srgbClr val="1E293B"/>
                </a:solidFill>
                <a:latin typeface="Calibri"/>
              </a:rPr>
              <a:t>— timestamps, comments and stage history on every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4 · SYSTEM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System Architecture (3-Tier + Cloud)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017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TIER 1 — CLIENT  (React 19 + TS + Vite)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• Dashboard, Tasks (Kanban), Calendar
• Approvals, Goals, Reports
• AI Chat + Notification Center
• AuthContext • Protected routes
• Tailwind + Framer Motion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82296" cy="41148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1417320"/>
            <a:ext cx="48920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TIER 2 — APPLICATION  (FastAPI REST · /api/v1)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Routers: auth · users · departments · tasks
task-requests · approvals · events · goals
comments · attachments · notifications
analytics · reports · ai · files · search
settings · join
— JWT + RBAC middleware · CORS —
— APScheduler: daily 8 AM reminders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417320"/>
            <a:ext cx="82296" cy="4114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1417320"/>
            <a:ext cx="2926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TIER 3 — CLOUD DATA  (Firebase)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• Cloud Firestore
  (users, tasks, approvals…)
• Firebase Authentication
• Firebase Storage
  (attachments)
• Email hooks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417320"/>
            <a:ext cx="82296" cy="41148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429000" y="3108960"/>
            <a:ext cx="274320" cy="0"/>
          </a:xfrm>
          <a:prstGeom prst="line">
            <a:avLst/>
          </a:prstGeom>
          <a:ln w="3175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9232" y="2697480"/>
            <a:ext cx="114300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HTTPS ·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0" y="3108960"/>
            <a:ext cx="274320" cy="0"/>
          </a:xfrm>
          <a:prstGeom prst="line">
            <a:avLst/>
          </a:prstGeom>
          <a:ln w="3175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2697480"/>
            <a:ext cx="137160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Admin SDK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595360" y="4206240"/>
            <a:ext cx="2743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" y="5669280"/>
            <a:ext cx="11365992" cy="4572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B"/>
                </a:solidFill>
                <a:latin typeface="Calibri"/>
              </a:rPr>
              <a:t>Stateless REST  •  JWT in Authorization header  •  Role check on every request  •  Auto OpenAPI docs at /docs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4 · SYSTEM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Data Flow Diagram — Level 0 (Context)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834640"/>
            <a:ext cx="2148840" cy="21488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3337560"/>
            <a:ext cx="214884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HieraSync AI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7D2FE"/>
                </a:solidFill>
                <a:latin typeface="Calibri"/>
              </a:rPr>
              <a:t>System (0)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☐  FACULTY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Task updates,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55448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☐  HOD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Assigns, reviews,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☐  PRINCIPAL / ADMIN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Final approval,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466344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☐  CLOUD SERVICES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Store · Auth · Notify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1920240"/>
            <a:ext cx="2011680" cy="109728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46120" y="2011680"/>
            <a:ext cx="15544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F46E5"/>
                </a:solidFill>
                <a:latin typeface="Calibri"/>
              </a:rPr>
              <a:t>updates / requests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3017520" y="2377440"/>
            <a:ext cx="2011680" cy="1188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178040" y="1920240"/>
            <a:ext cx="2011680" cy="109728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011680"/>
            <a:ext cx="15544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F46E5"/>
                </a:solidFill>
                <a:latin typeface="Calibri"/>
              </a:rPr>
              <a:t>tasks / approvals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78040" y="2377440"/>
            <a:ext cx="2011680" cy="1188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17520" y="4480560"/>
            <a:ext cx="2011680" cy="73152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46120" y="5257800"/>
            <a:ext cx="15544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F46E5"/>
                </a:solidFill>
                <a:latin typeface="Calibri"/>
              </a:rPr>
              <a:t>decisions / config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78040" y="4480560"/>
            <a:ext cx="2011680" cy="73152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0" y="5257800"/>
            <a:ext cx="155448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F46E5"/>
                </a:solidFill>
                <a:latin typeface="Calibri"/>
              </a:rPr>
              <a:t>persist /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4 · SYSTEM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Data Flow Diagram — Level 1 (Detail)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P1
Users &amp; Roles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login, RBAC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82296" cy="13716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514600" y="2148840"/>
            <a:ext cx="228600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146304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P2
Tasks &amp; Events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assign, track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63040"/>
            <a:ext cx="82296" cy="13716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846320" y="2148840"/>
            <a:ext cx="228600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146304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P3
Approvals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HOD→Principal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463040"/>
            <a:ext cx="82296" cy="1371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178040" y="2148840"/>
            <a:ext cx="228600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146304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P4
Notify &amp; Remind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alerts, cron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463040"/>
            <a:ext cx="82296" cy="1371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509759" y="2148840"/>
            <a:ext cx="228600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38359" y="146304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P5
AI &amp; Reports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risk,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59" y="1463040"/>
            <a:ext cx="82296" cy="137160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3749039"/>
            <a:ext cx="2011680" cy="8229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D1 ·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3749039"/>
            <a:ext cx="2011680" cy="8229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D2 · Tasks/Events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749039"/>
            <a:ext cx="2011680" cy="8229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D3 · Approvals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3749039"/>
            <a:ext cx="2011680" cy="82296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D4 · Notify Log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63040" y="2834640"/>
            <a:ext cx="640080" cy="914399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94760" y="2834640"/>
            <a:ext cx="960119" cy="914399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26479" y="2834640"/>
            <a:ext cx="1280161" cy="914399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58200" y="2834640"/>
            <a:ext cx="1600200" cy="914399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561320" y="2148840"/>
            <a:ext cx="868680" cy="2011680"/>
          </a:xfrm>
          <a:prstGeom prst="line">
            <a:avLst/>
          </a:prstGeom>
          <a:ln w="1905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66960" y="4709160"/>
            <a:ext cx="1828800" cy="5029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P5 reads D1–D4
→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120640"/>
            <a:ext cx="9052560" cy="50292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1E3B"/>
                </a:solidFill>
                <a:latin typeface="Calibri"/>
              </a:rPr>
              <a:t>Flow: Users authenticate (P1) → work is assigned &amp; tracked (P2) → approvals move hierarchically (P3) → stakeholders are alerted (P4) → AI + analytics summarize (P5).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4 · SYSTEM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Use Case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1737360" cy="77724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173736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◉ 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78608"/>
            <a:ext cx="1737360" cy="77724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578608"/>
            <a:ext cx="173736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◉  PRINCIPAL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94176"/>
            <a:ext cx="1737360" cy="77724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694176"/>
            <a:ext cx="173736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◉  HOD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809744"/>
            <a:ext cx="1737360" cy="77724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4809744"/>
            <a:ext cx="173736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◉  FACULTY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417320"/>
            <a:ext cx="930859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06040" y="1481328"/>
            <a:ext cx="23774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46E5"/>
                </a:solidFill>
                <a:latin typeface="Calibri"/>
              </a:rPr>
              <a:t>—  HieraSync System Boundary  —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0" y="196596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Login &amp;
RBAC</a:t>
            </a:r>
          </a:p>
        </p:txBody>
      </p:sp>
      <p:sp>
        <p:nvSpPr>
          <p:cNvPr id="18" name="Oval 17"/>
          <p:cNvSpPr/>
          <p:nvPr/>
        </p:nvSpPr>
        <p:spPr>
          <a:xfrm>
            <a:off x="4983480" y="196596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Manage
Employees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196596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Create / Assign
Tasks</a:t>
            </a:r>
          </a:p>
        </p:txBody>
      </p:sp>
      <p:sp>
        <p:nvSpPr>
          <p:cNvPr id="20" name="Oval 19"/>
          <p:cNvSpPr/>
          <p:nvPr/>
        </p:nvSpPr>
        <p:spPr>
          <a:xfrm>
            <a:off x="9464040" y="196596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Update
Progress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0" y="3291839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Request
Task</a:t>
            </a:r>
          </a:p>
        </p:txBody>
      </p:sp>
      <p:sp>
        <p:nvSpPr>
          <p:cNvPr id="22" name="Oval 21"/>
          <p:cNvSpPr/>
          <p:nvPr/>
        </p:nvSpPr>
        <p:spPr>
          <a:xfrm>
            <a:off x="4983480" y="3291839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Approve
(HOD)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0" y="3291839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Approve
(Principal)</a:t>
            </a:r>
          </a:p>
        </p:txBody>
      </p:sp>
      <p:sp>
        <p:nvSpPr>
          <p:cNvPr id="24" name="Oval 23"/>
          <p:cNvSpPr/>
          <p:nvPr/>
        </p:nvSpPr>
        <p:spPr>
          <a:xfrm>
            <a:off x="9464040" y="3291839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Manage
Events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461772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View
Analytics</a:t>
            </a:r>
          </a:p>
        </p:txBody>
      </p:sp>
      <p:sp>
        <p:nvSpPr>
          <p:cNvPr id="26" name="Oval 25"/>
          <p:cNvSpPr/>
          <p:nvPr/>
        </p:nvSpPr>
        <p:spPr>
          <a:xfrm>
            <a:off x="4983480" y="461772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AI Chat &amp;
Reports</a:t>
            </a:r>
          </a:p>
        </p:txBody>
      </p:sp>
      <p:sp>
        <p:nvSpPr>
          <p:cNvPr id="27" name="Oval 26"/>
          <p:cNvSpPr/>
          <p:nvPr/>
        </p:nvSpPr>
        <p:spPr>
          <a:xfrm>
            <a:off x="7223760" y="461772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Receive
Alerts</a:t>
            </a:r>
          </a:p>
        </p:txBody>
      </p:sp>
      <p:sp>
        <p:nvSpPr>
          <p:cNvPr id="28" name="Oval 27"/>
          <p:cNvSpPr/>
          <p:nvPr/>
        </p:nvSpPr>
        <p:spPr>
          <a:xfrm>
            <a:off x="9464040" y="4617720"/>
            <a:ext cx="1920240" cy="1005840"/>
          </a:xfrm>
          <a:prstGeom prst="ellipse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E3B"/>
                </a:solidFill>
                <a:latin typeface="Calibri"/>
              </a:rPr>
              <a:t>Goals &amp;
Milestones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148840" y="1847088"/>
            <a:ext cx="594360" cy="62179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48840" y="1847088"/>
            <a:ext cx="594360" cy="62179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48840" y="1847088"/>
            <a:ext cx="594360" cy="327355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48840" y="2962656"/>
            <a:ext cx="594360" cy="832103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48840" y="2962656"/>
            <a:ext cx="594360" cy="2157984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48840" y="2962656"/>
            <a:ext cx="594360" cy="2157984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148840" y="2468880"/>
            <a:ext cx="594360" cy="1609344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148840" y="3794759"/>
            <a:ext cx="594360" cy="283465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48840" y="4078224"/>
            <a:ext cx="594360" cy="1042416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48840" y="4078224"/>
            <a:ext cx="594360" cy="1042416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48840" y="2468880"/>
            <a:ext cx="594360" cy="272491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48840" y="2468880"/>
            <a:ext cx="594360" cy="272491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148840" y="3794759"/>
            <a:ext cx="594360" cy="1399033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148840" y="3794759"/>
            <a:ext cx="594360" cy="1399033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148840" y="5120640"/>
            <a:ext cx="594360" cy="73152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4 · SYSTEM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Database Design — Firestore Collections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users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id · name · email
role (10 roles)
department_id
designation,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82296" cy="1920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28416" y="146304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departments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id · name · code
hod_id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463040"/>
            <a:ext cx="82296" cy="19202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tasks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id · title · assignee
priority · status
progress · deadline
risk_score · goal_id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63040"/>
            <a:ext cx="82296" cy="1920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62288" y="146304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approvals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id · title · requester
stage, hod_comment
principal_comment
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1463040"/>
            <a:ext cx="82296" cy="1920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361188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events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id · title · date
type · person
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11880"/>
            <a:ext cx="82296" cy="1920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28416" y="361188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notifications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id · user_id · title
type · is_read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8416" y="3611880"/>
            <a:ext cx="82296" cy="19202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5352" y="361188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goals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id · title · category
target_date
+ milestones[]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611880"/>
            <a:ext cx="82296" cy="19202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2288" y="3611880"/>
            <a:ext cx="268833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▦  comments /
attachments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subcollections
of tasks:
mentions, 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3611880"/>
            <a:ext cx="82296" cy="1920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5779008"/>
            <a:ext cx="11365992" cy="50292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B"/>
                </a:solidFill>
                <a:latin typeface="Calibri"/>
              </a:rPr>
              <a:t>Relations: departments 1—N users  •  users 1—N tasks  •  tasks 1—N comments / attachments  •  goals 1—N milestones  •  approvals link requester → HOD → Principal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4 · SYSTEM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Core Workflow — Approval Flowchart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Oval 6"/>
          <p:cNvSpPr/>
          <p:nvPr/>
        </p:nvSpPr>
        <p:spPr>
          <a:xfrm>
            <a:off x="4892040" y="1371600"/>
            <a:ext cx="2377440" cy="548640"/>
          </a:xfrm>
          <a:prstGeom prst="ellipse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START: Request raised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057400"/>
            <a:ext cx="237744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B"/>
                </a:solidFill>
                <a:latin typeface="Calibri"/>
              </a:rPr>
              <a:t>HOD reviews request</a:t>
            </a:r>
          </a:p>
        </p:txBody>
      </p:sp>
      <p:sp>
        <p:nvSpPr>
          <p:cNvPr id="9" name="Diamond 8"/>
          <p:cNvSpPr/>
          <p:nvPr/>
        </p:nvSpPr>
        <p:spPr>
          <a:xfrm>
            <a:off x="5303520" y="2788920"/>
            <a:ext cx="1554480" cy="914400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B"/>
                </a:solidFill>
                <a:latin typeface="Calibri"/>
              </a:rPr>
              <a:t>HOD
approves?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3703320"/>
            <a:ext cx="2377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B"/>
                </a:solidFill>
                <a:latin typeface="Calibri"/>
              </a:rPr>
              <a:t>Forward to Principal</a:t>
            </a:r>
          </a:p>
        </p:txBody>
      </p:sp>
      <p:sp>
        <p:nvSpPr>
          <p:cNvPr id="11" name="Diamond 10"/>
          <p:cNvSpPr/>
          <p:nvPr/>
        </p:nvSpPr>
        <p:spPr>
          <a:xfrm>
            <a:off x="5303520" y="4343400"/>
            <a:ext cx="1554480" cy="914400"/>
          </a:xfrm>
          <a:prstGeom prst="diamond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B"/>
                </a:solidFill>
                <a:latin typeface="Calibri"/>
              </a:rPr>
              <a:t>Principal
approves?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59" y="1920240"/>
            <a:ext cx="0" cy="13716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59" y="2624328"/>
            <a:ext cx="0" cy="164592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91840" y="3246120"/>
            <a:ext cx="2011680" cy="0"/>
          </a:xfrm>
          <a:prstGeom prst="line">
            <a:avLst/>
          </a:prstGeom>
          <a:ln w="25400">
            <a:solidFill>
              <a:srgbClr val="EF44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0440" y="2999232"/>
            <a:ext cx="914400" cy="3200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Calibri"/>
              </a:rP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29000"/>
            <a:ext cx="640080" cy="3200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59" y="3703320"/>
            <a:ext cx="0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59" y="4206240"/>
            <a:ext cx="0" cy="13716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800600"/>
            <a:ext cx="1371600" cy="0"/>
          </a:xfrm>
          <a:prstGeom prst="line">
            <a:avLst/>
          </a:prstGeom>
          <a:ln w="25400">
            <a:solidFill>
              <a:srgbClr val="EF44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4553712"/>
            <a:ext cx="914400" cy="3200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F4444"/>
                </a:solidFill>
                <a:latin typeface="Calibri"/>
              </a:rP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59" y="5257800"/>
            <a:ext cx="0" cy="22860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17920" y="5212080"/>
            <a:ext cx="640080" cy="3200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5486400"/>
            <a:ext cx="2377440" cy="5669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APPROVED ✓  •  notify all  •  log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926080"/>
            <a:ext cx="2377440" cy="6858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REJECTED ✕ + reason → notify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4480560"/>
            <a:ext cx="2377440" cy="6858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REJECTED ✕ + reason → notify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417320"/>
            <a:ext cx="306324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Stage machine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PENDING → APPROVED_HOD →
APPROVED_PRINCIPAL
(or REJECTED at any stage)
• Comments at each stage
• Timestamps + history
• Task-requests auto-create
  tasks on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417320"/>
            <a:ext cx="82296" cy="26517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3977639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B1E3B"/>
                </a:solidFill>
                <a:latin typeface="Calibri"/>
              </a:rPr>
              <a:t>Actors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Faculty / Staff raise →
HOD reviews →
Principal decides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77639"/>
            <a:ext cx="82296" cy="18288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5 · TECHNOLOGY USED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Technology Stack &amp;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417320"/>
          <a:ext cx="11365992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4480560"/>
                <a:gridCol w="4416552"/>
              </a:tblGrid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this choice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React 19 + TypeScript + Vite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Actions/Suspense, type safety, instant HMR builds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Styling / UX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Tailwind CSS v4, Framer Motion, lucide-react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Responsive, animated, consistent design system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Calendar / Charts / DnD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FullCalendar, Recharts, dnd-kit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Production-grade calendar, analytics &amp; Kanban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Backend API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FastAPI (Python), Pydantic v2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Async, validated, auto OpenAPI docs at /docs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Firebase Auth + JWT (python-jose)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Secure, stateless, role-checked sessions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Cloud Firestore (NoSQL)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Serverless scale, flexible docs, zero DB ops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Storage / Scheduler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Firebase Storage, APScheduler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File attachments; daily 8 AM reminder cron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943600"/>
            <a:ext cx="11365992" cy="4114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Tooling: Git + GitHub  •  npm + pip  •  VS Code  •  Postman / OpenAPI for API testing  •  Vercel / Cloud Run-ready deploy targets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6 · DEVELOPED MODULES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Modules Developed — Status at Review-I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417320"/>
          <a:ext cx="11365992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286000"/>
                <a:gridCol w="6035040"/>
                <a:gridCol w="2496312"/>
              </a:tblGrid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capability delivered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Auth &amp; RBAC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Login/register, JWT, 10 roles, protected routes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✔ Done 100%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Employee Mgmt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Faculty CRUD, profiles, department mapping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✔ Done 95%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Task Management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Kanban, subtasks, priorities, progress, risk badges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✔ Done 95%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Events &amp; Calendar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FullCalendar views, types, reminders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✔ Done 90%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Approval Workflow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HOD→Principal stages, comments, history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✔ Done 90%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Notifications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Center, unread counts, scheduler + email hooks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◐ 85%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AI Assistant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Chat, dashboard summary, report-gen, risk engine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◐ 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M8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Analytics &amp; Reports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Stats, activity log, faculty performance, export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◐ 85%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Goals / Requests / Social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Milestones, task-requests, comments, attachments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✔ Done 90%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6 · DEVELOPED MODULES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Deep-Dive A — Tasks + AI Risk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4297680" cy="4663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TASK MANAGEMENT</a:t>
            </a: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0">
                <a:solidFill>
                  <a:srgbClr val="1E293B"/>
                </a:solidFill>
                <a:latin typeface="Calibri"/>
              </a:rPr>
              <a:t>Kanban board with drag-and-drop (dnd-kit).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0">
                <a:solidFill>
                  <a:srgbClr val="1E293B"/>
                </a:solidFill>
                <a:latin typeface="Calibri"/>
              </a:rPr>
              <a:t>Priorities, deadlines, subtasks, progress %.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1">
                <a:solidFill>
                  <a:srgbClr val="1E293B"/>
                </a:solidFill>
                <a:latin typeface="Calibri"/>
              </a:rPr>
              <a:t>Goal linking + approval-required tasks.</a:t>
            </a:r>
            <a:r>
              <a:rPr sz="115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0">
                <a:solidFill>
                  <a:srgbClr val="1E293B"/>
                </a:solidFill>
                <a:latin typeface="Calibri"/>
              </a:rPr>
              <a:t>Comments with @mentions; file attachments.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0">
                <a:solidFill>
                  <a:srgbClr val="1E293B"/>
                </a:solidFill>
                <a:latin typeface="Calibri"/>
              </a:rPr>
              <a:t>HOD vs Faculty dashboards with distinct 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417320"/>
            <a:ext cx="3977639" cy="4663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AI RISK ENGINE (HEURISTIC)</a:t>
            </a: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1">
                <a:solidFill>
                  <a:srgbClr val="1E293B"/>
                </a:solidFill>
                <a:latin typeface="Calibri"/>
              </a:rPr>
              <a:t>Risk score 0–100 </a:t>
            </a:r>
            <a:r>
              <a:rPr sz="1150" b="0">
                <a:solidFill>
                  <a:srgbClr val="1E293B"/>
                </a:solidFill>
                <a:latin typeface="Calibri"/>
              </a:rPr>
              <a:t>from deadline gap, progress lag, workload.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1">
                <a:solidFill>
                  <a:srgbClr val="1E293B"/>
                </a:solidFill>
                <a:latin typeface="Calibri"/>
              </a:rPr>
              <a:t>Levels LOW / MEDIUM / HIGH </a:t>
            </a:r>
            <a:r>
              <a:rPr sz="1150" b="0">
                <a:solidFill>
                  <a:srgbClr val="1E293B"/>
                </a:solidFill>
                <a:latin typeface="Calibri"/>
              </a:rPr>
              <a:t>+ human-readable risk factors.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0">
                <a:solidFill>
                  <a:srgbClr val="1E293B"/>
                </a:solidFill>
                <a:latin typeface="Calibri"/>
              </a:rPr>
              <a:t>Endpoints: /dashboard-summary, /chat, /generate-report.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0">
                <a:solidFill>
                  <a:srgbClr val="1E293B"/>
                </a:solidFill>
                <a:latin typeface="Calibri"/>
              </a:rPr>
              <a:t>HOD action items: who needs help, what is late.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▪  </a:t>
            </a:r>
            <a:r>
              <a:rPr sz="1150" b="0">
                <a:solidFill>
                  <a:srgbClr val="1E293B"/>
                </a:solidFill>
                <a:latin typeface="Calibri"/>
              </a:rPr>
              <a:t>No GPU/LLM cost — deterministic &amp; explainable.</a:t>
            </a:r>
          </a:p>
        </p:txBody>
      </p:sp>
      <p:pic>
        <p:nvPicPr>
          <p:cNvPr id="9" name="Picture 8" descr="risk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554480"/>
            <a:ext cx="2743200" cy="2103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0" y="3794760"/>
            <a:ext cx="2743200" cy="11887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1E3B"/>
                </a:solidFill>
                <a:latin typeface="Calibri"/>
              </a:rPr>
              <a:t>Sample output: 62% tasks on track,
25% need attention, 13% at risk
→ HOD sees this before delay happens.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6 · DEVELOPED MODULES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Deep-Dive B — Approvals, Analytics,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5661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✓  Approvals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• HOD → Principal stages
• Comments &amp; decision history
• Pending / approved / rejected views
• Task-requests convert to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82296" cy="2834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417320"/>
            <a:ext cx="35661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◐  Analytics &amp; Reports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• Dashboard stats + activity log
• Faculty performance table
• Completion &amp; on-time metrics
• One-click report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82296" cy="2834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56616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◐  Notifications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• In-app center + unread badge
• Task / approval / event alerts
• Daily 8 AM scheduler cron
• Email hook 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82296" cy="2834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odule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343400"/>
            <a:ext cx="92354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7 · ADVANTAGES &amp; APPLICATIONS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760720" cy="4663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Single source of truth: </a:t>
            </a:r>
            <a:r>
              <a:rPr sz="1200" b="0">
                <a:solidFill>
                  <a:srgbClr val="1E293B"/>
                </a:solidFill>
                <a:latin typeface="Calibri"/>
              </a:rPr>
              <a:t>one workspace replaces registers, chats and sheets.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Faster decisions: </a:t>
            </a:r>
            <a:r>
              <a:rPr sz="1200" b="0">
                <a:solidFill>
                  <a:srgbClr val="1E293B"/>
                </a:solidFill>
                <a:latin typeface="Calibri"/>
              </a:rPr>
              <a:t>approval cycles shrink from days to hours (est.).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Full accountability: </a:t>
            </a:r>
            <a:r>
              <a:rPr sz="1200" b="0">
                <a:solidFill>
                  <a:srgbClr val="1E293B"/>
                </a:solidFill>
                <a:latin typeface="Calibri"/>
              </a:rPr>
              <a:t>who did/approved what, with timestamps.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Proactive, not reactive: </a:t>
            </a:r>
            <a:r>
              <a:rPr sz="1200" b="0">
                <a:solidFill>
                  <a:srgbClr val="1E293B"/>
                </a:solidFill>
                <a:latin typeface="Calibri"/>
              </a:rPr>
              <a:t>reminders + AI delay-risk alerts.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Data-driven leadership: </a:t>
            </a:r>
            <a:r>
              <a:rPr sz="1200" b="0">
                <a:solidFill>
                  <a:srgbClr val="1E293B"/>
                </a:solidFill>
                <a:latin typeface="Calibri"/>
              </a:rPr>
              <a:t>workload balance + NAAC-ready reports.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1">
                <a:solidFill>
                  <a:srgbClr val="1E293B"/>
                </a:solidFill>
                <a:latin typeface="Calibri"/>
              </a:rPr>
              <a:t>Low cost &amp; secure: </a:t>
            </a:r>
            <a:r>
              <a:rPr sz="1200" b="0">
                <a:solidFill>
                  <a:srgbClr val="1E293B"/>
                </a:solidFill>
                <a:latin typeface="Calibri"/>
              </a:rPr>
              <a:t>serverless Firebase, zero per-seat AI fees (vs $7–20/user/mo suites); JWT + per-request role checks.</a:t>
            </a:r>
          </a:p>
        </p:txBody>
      </p:sp>
      <p:pic>
        <p:nvPicPr>
          <p:cNvPr id="8" name="Picture 7" descr="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212080" cy="2971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4526280"/>
            <a:ext cx="5212080" cy="6858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E3B"/>
                </a:solidFill>
                <a:latin typeface="Calibri"/>
              </a:rPr>
              <a:t>Estimated admin effort per cycle drops ~80–90% across approvals, tracking and reporting.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7 · ADVANTAGES &amp; APPLICATIONS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Applications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69280" cy="4663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WHERE IT APPLIES</a:t>
            </a: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Department task &amp; event governance (any branch).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Leave, purchase &amp; resource approvals.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Accreditation (NAAC/NBA) documentation.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Faculty appraisal &amp; workload inputs.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Student clubs, labs &amp; multi-department roll-out.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394960" cy="4663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4F46E5"/>
                </a:solidFill>
                <a:latin typeface="Calibri"/>
              </a:rPr>
              <a:t>FUTURE SCOPE</a:t>
            </a: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Mobile app / PWA + push notifications.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ML-based delay prediction on history.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Timetable &amp; attendance integration.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Email/SMS gateway; offline mode.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▪  </a:t>
            </a:r>
            <a:r>
              <a:rPr sz="1200" b="0">
                <a:solidFill>
                  <a:srgbClr val="1E293B"/>
                </a:solidFill>
                <a:latin typeface="Calibri"/>
              </a:rPr>
              <a:t>Multi-college SaaS + institute console.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REVIEW SEMINAR – 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Progress Status &amp; Plan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2651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0B981"/>
                </a:solidFill>
                <a:latin typeface="Calibri"/>
              </a:rPr>
              <a:t>✔  COMPLETED (IN REPO TODAY)</a:t>
            </a:r>
            <a:r>
              <a:rPr sz="1150" b="1">
                <a:solidFill>
                  <a:srgbClr val="4F46E5"/>
                </a:solidFill>
                <a:latin typeface="Calibri"/>
              </a:rPr>
              <a:t>✔  </a:t>
            </a:r>
            <a:r>
              <a:rPr sz="1150" b="0">
                <a:solidFill>
                  <a:srgbClr val="1E293B"/>
                </a:solidFill>
                <a:latin typeface="Calibri"/>
              </a:rPr>
              <a:t>Full-stack scaffold: React SPA + FastAPI + Firebase wired.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✔  </a:t>
            </a:r>
            <a:r>
              <a:rPr sz="1150" b="0">
                <a:solidFill>
                  <a:srgbClr val="1E293B"/>
                </a:solidFill>
                <a:latin typeface="Calibri"/>
              </a:rPr>
              <a:t>17 API routers live; 13+ pages with RBAC guards.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✔  </a:t>
            </a:r>
            <a:r>
              <a:rPr sz="1150" b="0">
                <a:solidFill>
                  <a:srgbClr val="1E293B"/>
                </a:solidFill>
                <a:latin typeface="Calibri"/>
              </a:rPr>
              <a:t>Approvals, tasks, events, scheduler, AI heuristics.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394960" cy="2651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B45309"/>
                </a:solidFill>
                <a:latin typeface="Calibri"/>
              </a:rPr>
              <a:t>◐  IN PROGRESS</a:t>
            </a:r>
            <a:r>
              <a:rPr sz="1150" b="1">
                <a:solidFill>
                  <a:srgbClr val="4F46E5"/>
                </a:solidFill>
                <a:latin typeface="Calibri"/>
              </a:rPr>
              <a:t>◐  </a:t>
            </a:r>
            <a:r>
              <a:rPr sz="1150" b="0">
                <a:solidFill>
                  <a:srgbClr val="1E293B"/>
                </a:solidFill>
                <a:latin typeface="Calibri"/>
              </a:rPr>
              <a:t>AI chat polish + richer report formats.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◐  </a:t>
            </a:r>
            <a:r>
              <a:rPr sz="1150" b="0">
                <a:solidFill>
                  <a:srgbClr val="1E293B"/>
                </a:solidFill>
                <a:latin typeface="Calibri"/>
              </a:rPr>
              <a:t>UI polish, validations &amp; test coverage.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F46E5"/>
                </a:solidFill>
                <a:latin typeface="Calibri"/>
              </a:rPr>
              <a:t>◐  </a:t>
            </a:r>
            <a:r>
              <a:rPr sz="1150" b="0">
                <a:solidFill>
                  <a:srgbClr val="1E293B"/>
                </a:solidFill>
                <a:latin typeface="Calibri"/>
              </a:rPr>
              <a:t>Cloud deployment + user acceptance testing.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4206240"/>
          <a:ext cx="1136599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5486400"/>
                <a:gridCol w="1828800"/>
                <a:gridCol w="2039112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Review – 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Core platform + 9 modules demonstrable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Sept 2026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~90% done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Hardening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Testing, AI tuning, deployment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Oct 2026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◐ Planned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Review – II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Deployed pilot + docs + feedback fixes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Nov 2026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○ Next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Final demo, report &amp; publication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Dec 2026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○ Next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8 · REFERENCES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201400" cy="4846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[1]  “A Detailed Analysis of College ERP Software Systems,” IEEE Xplore, doc. 10743425. https://ieeexplore.ieee.org/document/10743425/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[2]  S. Swain et al., “College ERP Management System,” IJERT, vol. 15, no. 04, Apr. 2026, DOI: 10.5281/zenodo.19731754.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[3]  S. Tripathi et al., “College ERP System,” IJCRT, paper IJCRT1812344. https://www.ijcrt.org/papers/IJCRT1812344.pdf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[4]  R. Salunke et al., “ERP Management System” (Django, RBAC), IJARSCT. https://www.ijarsct.co.in/Paper25814.pdf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[5]  S. A. Khairullah et al., “Implementing AI in academic and administrative processes…,” Front. Educ., 2025. https://www.frontiersin.org/journals/education/articles/10.3389/feduc.2025.1548104/full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[6]  “The Future of AI Agents in Higher Education,” ResearchGate, 2025. https://www.researchgate.net/publication/394249334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[7]  “Automating Higher Education Administrative Processes with AI-Powered Workflows,” ResearchGate. https://www.researchgate.net/publication/399184231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[8]  J. Buele et al., “Transformations in academic work and faculty perceptions of AI,” Front. Educ., 2025. https://www.frontiersin.org/journals/education/articles/10.3389/feduc.2025.1603763/full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[9]  “8 Best AI for Project Management in 2026 (Compared by a PM),” Dupple, 2026. https://dupple.com/learn/best-ai-for-project-management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Calibri"/>
              </a:rPr>
              <a:t>[10]  FastAPI, Firebase, React &amp; Vite official docs; Project repo: https://github.com/Parthwadekar40/Hiera_Sync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9 · 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949440" cy="4754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We built a unified, role-aware platform </a:t>
            </a:r>
            <a:r>
              <a:rPr sz="1300" b="0">
                <a:solidFill>
                  <a:srgbClr val="1E293B"/>
                </a:solidFill>
                <a:latin typeface="Calibri"/>
              </a:rPr>
              <a:t>covering the department's real workflows end-to-end.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Approvals are digitized &amp; auditable; </a:t>
            </a:r>
            <a:r>
              <a:rPr sz="1300" b="0">
                <a:solidFill>
                  <a:srgbClr val="1E293B"/>
                </a:solidFill>
                <a:latin typeface="Calibri"/>
              </a:rPr>
              <a:t>follow-ups are automated; nothing falls through cracks.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AI adds foresight: </a:t>
            </a:r>
            <a:r>
              <a:rPr sz="1300" b="0">
                <a:solidFill>
                  <a:srgbClr val="1E293B"/>
                </a:solidFill>
                <a:latin typeface="Calibri"/>
              </a:rPr>
              <a:t>risk scores and summaries help HODs act before delays.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▪  </a:t>
            </a:r>
            <a:r>
              <a:rPr sz="1300" b="1">
                <a:solidFill>
                  <a:srgbClr val="1E293B"/>
                </a:solidFill>
                <a:latin typeface="Calibri"/>
              </a:rPr>
              <a:t>All 5 objectives are demonstrable live </a:t>
            </a:r>
            <a:r>
              <a:rPr sz="1300" b="0">
                <a:solidFill>
                  <a:srgbClr val="1E293B"/>
                </a:solidFill>
                <a:latin typeface="Calibri"/>
              </a:rPr>
              <a:t>— the system runs from our repository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310896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59E0B"/>
                </a:solidFill>
                <a:latin typeface="Calibri"/>
              </a:rPr>
              <a:t>“ HieraSync turns departmental chaos into a calm, transparent workflow. 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43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33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0152" cy="420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You!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F59E0B"/>
                </a:solidFill>
                <a:latin typeface="Calibri"/>
              </a:rPr>
              <a:t>Open for Live Demonstration &amp; Questions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7D2FE"/>
                </a:solidFill>
                <a:latin typeface="Calibri"/>
              </a:rPr>
              <a:t>HieraSync AI  •  Smart Academic Workflow &amp; Event Management System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06B6D4"/>
                </a:solidFill>
                <a:latin typeface="Calibri"/>
              </a:rPr>
              <a:t>github.com / Parthwadekar40 / Hiera_Sync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[Your Name]  •  Guided by [Guide Name]  •  CSE (AI &amp; ML), SBJIT Nagpur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Backup slides 26–30 follow for Q&amp;A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APPENDIX · BACKUP FOR 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Appendix A — Sequence Diagram (Approval 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468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Faculty
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82296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783080" y="2103120"/>
            <a:ext cx="0" cy="3474720"/>
          </a:xfrm>
          <a:prstGeom prst="line">
            <a:avLst/>
          </a:prstGeom>
          <a:ln w="1587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417320"/>
            <a:ext cx="24688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FastAPI
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82296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09160" y="2103120"/>
            <a:ext cx="0" cy="3474720"/>
          </a:xfrm>
          <a:prstGeom prst="line">
            <a:avLst/>
          </a:prstGeom>
          <a:ln w="1587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1417320"/>
            <a:ext cx="2194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Firestore
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17320"/>
            <a:ext cx="82296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498079" y="2103120"/>
            <a:ext cx="0" cy="3474720"/>
          </a:xfrm>
          <a:prstGeom prst="line">
            <a:avLst/>
          </a:prstGeom>
          <a:ln w="1587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52560" y="1417320"/>
            <a:ext cx="2194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HOD / Principal
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417320"/>
            <a:ext cx="82296" cy="685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149840" y="2103120"/>
            <a:ext cx="0" cy="3474720"/>
          </a:xfrm>
          <a:prstGeom prst="line">
            <a:avLst/>
          </a:prstGeom>
          <a:ln w="15875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37944" y="2395728"/>
            <a:ext cx="2816352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20240" y="2130552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1   POST /approvals {title, …}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697480"/>
            <a:ext cx="2679191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77740" y="2432304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2   save: status = PENDING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764024" y="2971800"/>
            <a:ext cx="2679191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777740" y="2706624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Calibri"/>
              </a:rPr>
              <a:t>3   ack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837944" y="3246120"/>
            <a:ext cx="2816352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20240" y="2980944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B981"/>
                </a:solidFill>
                <a:latin typeface="Calibri"/>
              </a:rPr>
              <a:t>4   201 Created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764024" y="3547872"/>
            <a:ext cx="5330952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03620" y="3282696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5   PUT /{id}/approve  (HOD)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64024" y="3840480"/>
            <a:ext cx="2679191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77740" y="3575304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6   stage = APPROVED_HOD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64024" y="4133087"/>
            <a:ext cx="5330952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03620" y="3867911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B981"/>
                </a:solidFill>
                <a:latin typeface="Calibri"/>
              </a:rPr>
              <a:t>7   notify: HOD ✓, faculty ✓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764024" y="4425696"/>
            <a:ext cx="5330952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03620" y="4160520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8   PUT /{id}/approve  (Principal)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64024" y="4700016"/>
            <a:ext cx="2679191" cy="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777740" y="4434840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F46E5"/>
                </a:solidFill>
                <a:latin typeface="Calibri"/>
              </a:rPr>
              <a:t>9   status = APPROVED_PRINCIPAL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837944" y="4992624"/>
            <a:ext cx="2816352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920240" y="4727448"/>
            <a:ext cx="2651760" cy="24688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0B981"/>
                </a:solidFill>
                <a:latin typeface="Calibri"/>
              </a:rPr>
              <a:t>10   notify all + activity 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5760720"/>
            <a:ext cx="11365992" cy="4114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B"/>
                </a:solidFill>
                <a:latin typeface="Calibri"/>
              </a:rPr>
              <a:t>Synchronous REST/JSON  •  every mutating call carries JWT + role check  •  failures return 4xx with no state change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APPENDIX · BACKUP FOR 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Appendix B — Task Lifecycle &amp; Risk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3774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TODO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2103120"/>
            <a:ext cx="0" cy="36576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468880"/>
            <a:ext cx="23774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IN_PROGRESS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3108960"/>
            <a:ext cx="0" cy="36576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474720"/>
            <a:ext cx="23774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IN_REVIEW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4114800"/>
            <a:ext cx="0" cy="365760"/>
          </a:xfrm>
          <a:prstGeom prst="line">
            <a:avLst/>
          </a:prstGeom>
          <a:ln w="25400">
            <a:solidFill>
              <a:srgbClr val="4F46E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4480560"/>
            <a:ext cx="23774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743200"/>
            <a:ext cx="2194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B1E3B"/>
                </a:solidFill>
                <a:latin typeface="Calibri"/>
              </a:rPr>
              <a:t>OVERDUE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Calibri"/>
              </a:rPr>
              <a:t>auto-flagged when
deadline passes;
returns to flow on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743200"/>
            <a:ext cx="82296" cy="13258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788920"/>
            <a:ext cx="457200" cy="411480"/>
          </a:xfrm>
          <a:prstGeom prst="line">
            <a:avLst/>
          </a:prstGeom>
          <a:ln w="25400">
            <a:solidFill>
              <a:srgbClr val="EF444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40280" y="2487168"/>
            <a:ext cx="1554480" cy="29260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F4444"/>
                </a:solidFill>
                <a:latin typeface="Calibri"/>
              </a:rPr>
              <a:t>deadline passes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463040"/>
            <a:ext cx="5715000" cy="457200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6B6D4"/>
                </a:solidFill>
                <a:latin typeface="Calibri"/>
              </a:rPr>
              <a:t>RISK FORMULA  ·  calculate_task_risk()  ·  tasks.py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Completed / Awaiting Approval  →  R = 0  (LOW)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Otherwise:  R = clamp(D + G + P + W, 5, 95)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  =  90 overdue  ·  50 if ≤2d  ·  30 if ≤5d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G  =  25 if progress &lt; 50% and ≤3 days left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  =  15 if priority High  ·  W = 20 if load &gt;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6B6D4"/>
                </a:solidFill>
                <a:latin typeface="Calibri"/>
              </a:rPr>
              <a:t>HIGH if R &gt; 70  ·  MEDIUM if R &gt; 40  ·  LOW else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FE"/>
                </a:solidFill>
                <a:latin typeface="Calibri"/>
              </a:rPr>
              <a:t>e.g. 2d left · 30% done · High · load 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→ 50+25+15+20 = 110 → capped 95 → HIGH 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APPENDIX · BACKUP FOR 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Appendix C — Testing &amp; Results (Review-I)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417320"/>
          <a:ext cx="11365992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3840480"/>
                <a:gridCol w="4572000"/>
                <a:gridCol w="2313432"/>
              </a:tblGrid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scenario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Valid HOD login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JWT issued, dashboard loads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Invalid password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401 error, stays on login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Faculty opens HOD-only page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Blocked / redirected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HOD assigns task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Appears in faculty Kanban + alert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Faculty updates progress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% saved, activity logged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T6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HOD → Principal approval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Stage advances, comments stored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Overdue task scored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HIGH badge + factor strings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T8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Daily 8 AM scheduler run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Deadline reminders created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✔ Pass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T9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Report export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Department summary downloads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◐ Partial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943600"/>
            <a:ext cx="11365992" cy="41148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Method: manual functional testing via auto OpenAPI docs (/docs) + per-role UI walkthroughs  •  Automated suite + UAT in hardening phase (Oct)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APPENDIX · BACKUP FOR 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Appendix D — Feature Matrix vs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417320"/>
          <a:ext cx="11365992" cy="4251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1783080"/>
                <a:gridCol w="1783080"/>
                <a:gridCol w="1783080"/>
                <a:gridCol w="1901952"/>
              </a:tblGrid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Manual /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College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ERP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Asana-class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HieraSync</a:t>
                      </a:r>
                    </a:p>
                  </a:txBody>
                  <a:tcPr anchor="ctr" marL="73152" marR="73152" marT="27432" marB="27432">
                    <a:solidFill>
                      <a:srgbClr val="0B1E3B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Academic role hierarchy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HOD → Principal e-approvals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AI delay-risk alerts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◐ paid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 free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Department analytics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◐ generic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 academic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Zero per-seat AI cost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Tasks + events unified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Full audit trail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Open &amp; customizable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✖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anchor="ctr" marL="73152" marR="73152" marT="27432" marB="27432">
                    <a:solidFill>
                      <a:srgbClr val="EEF2FF"/>
                    </a:solidFill>
                    <a:lnL w="12700">
                      <a:solidFill>
                        <a:srgbClr val="CBD5E1"/>
                      </a:solidFill>
                    </a:lnL>
                    <a:lnR w="12700">
                      <a:solidFill>
                        <a:srgbClr val="CBD5E1"/>
                      </a:solidFill>
                    </a:lnR>
                    <a:lnT w="12700">
                      <a:solidFill>
                        <a:srgbClr val="CBD5E1"/>
                      </a:solidFill>
                    </a:lnT>
                    <a:lnB w="12700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806440"/>
            <a:ext cx="11365992" cy="4572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B"/>
                </a:solidFill>
                <a:latin typeface="Calibri"/>
              </a:rPr>
              <a:t>✔ full   •   ◐ partial   •   ✖ missing        →   Only HieraSync combines hierarchy + approvals + free AI risk + academic analytics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"/>
            <a:ext cx="100584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06B6D4"/>
                </a:solidFill>
                <a:latin typeface="Calibri"/>
              </a:rPr>
              <a:t>APPENDIX · BACKUP FOR Q&amp;A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Appendix E — Project Timeline (Gantt)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18520" y="292608"/>
            <a:ext cx="777240" cy="502920"/>
          </a:xfrm>
          <a:prstGeom prst="roundRect">
            <a:avLst/>
          </a:prstGeom>
          <a:solidFill>
            <a:srgbClr val="143363"/>
          </a:solidFill>
          <a:ln w="15875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455664"/>
            <a:ext cx="1136599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HieraSync AI  •  Review Seminar – I      </a:t>
            </a:r>
            <a:r>
              <a:rPr sz="850" b="0">
                <a:solidFill>
                  <a:srgbClr val="64748B"/>
                </a:solidFill>
                <a:latin typeface="Calibri"/>
              </a:rPr>
              <a:t>CSE (AI &amp; ML), SBJIT Nagpur</a:t>
            </a:r>
          </a:p>
        </p:txBody>
      </p:sp>
      <p:pic>
        <p:nvPicPr>
          <p:cNvPr id="7" name="Picture 6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11365992" cy="37549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32120"/>
            <a:ext cx="11365992" cy="548640"/>
          </a:xfrm>
          <a:prstGeom prst="roundRect">
            <a:avLst/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TARGET DEPLOYMENT:   Browser → Vercel / Firebase Hosting (SPA) → Cloud Run (FastAPI) → Firestore + Auth + Storage   •   env-based config   •   HTTPS everywhere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